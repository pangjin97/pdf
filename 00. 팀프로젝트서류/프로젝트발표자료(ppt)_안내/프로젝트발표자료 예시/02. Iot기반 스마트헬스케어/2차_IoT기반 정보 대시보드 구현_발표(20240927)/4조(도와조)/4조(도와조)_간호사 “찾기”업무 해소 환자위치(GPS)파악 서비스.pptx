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305" r:id="rId2"/>
    <p:sldId id="308" r:id="rId3"/>
    <p:sldId id="310" r:id="rId4"/>
    <p:sldId id="286" r:id="rId5"/>
    <p:sldId id="309" r:id="rId6"/>
    <p:sldId id="282" r:id="rId7"/>
    <p:sldId id="319" r:id="rId8"/>
    <p:sldId id="324" r:id="rId9"/>
    <p:sldId id="292" r:id="rId10"/>
    <p:sldId id="293" r:id="rId11"/>
    <p:sldId id="280" r:id="rId12"/>
  </p:sldIdLst>
  <p:sldSz cx="12192000" cy="6858000"/>
  <p:notesSz cx="6858000" cy="9144000"/>
  <p:embeddedFontLst>
    <p:embeddedFont>
      <p:font typeface="GmarketSansLight" panose="02000000000000000000" pitchFamily="50" charset="-127"/>
      <p:regular r:id="rId14"/>
    </p:embeddedFont>
    <p:embeddedFont>
      <p:font typeface="GmarketSansMedium" panose="02000000000000000000" pitchFamily="50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S" initials="G" lastIdx="5" clrIdx="0">
    <p:extLst>
      <p:ext uri="{19B8F6BF-5375-455C-9EA6-DF929625EA0E}">
        <p15:presenceInfo xmlns:p15="http://schemas.microsoft.com/office/powerpoint/2012/main" userId="GR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9390"/>
    <a:srgbClr val="E2E2E2"/>
    <a:srgbClr val="92A3A3"/>
    <a:srgbClr val="46504E"/>
    <a:srgbClr val="C1C9C9"/>
    <a:srgbClr val="E2E6E6"/>
    <a:srgbClr val="E7E6E6"/>
    <a:srgbClr val="719757"/>
    <a:srgbClr val="667471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1604" autoAdjust="0"/>
  </p:normalViewPr>
  <p:slideViewPr>
    <p:cSldViewPr snapToGrid="0">
      <p:cViewPr varScale="1">
        <p:scale>
          <a:sx n="78" d="100"/>
          <a:sy n="78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2.07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2.54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2.87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3.32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5.05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5.48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 1,'-8'0,"-2"0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5.85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6.16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06.53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13.46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1,'8'0,"1"0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16.60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16.9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49:17.70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3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39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39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10 1,'-4'0,"-1"0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1,'3'0,"3"0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7:57:19.40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EBE2F-C155-44F5-BABF-6BF295179669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EF1B1-4CB3-4902-9972-1B0A3DCD2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55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안녕하세용</a:t>
            </a:r>
            <a:r>
              <a:rPr lang="en-US" altLang="ko-KR" dirty="0"/>
              <a:t>~</a:t>
            </a:r>
            <a:r>
              <a:rPr lang="ko-KR" altLang="en-US" dirty="0" err="1"/>
              <a:t>도와조</a:t>
            </a:r>
            <a:r>
              <a:rPr lang="ko-KR" altLang="en-US" dirty="0"/>
              <a:t> 팀원 </a:t>
            </a:r>
            <a:r>
              <a:rPr lang="ko-KR" altLang="en-US" dirty="0" err="1"/>
              <a:t>이동히입니다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</a:t>
            </a:r>
            <a:r>
              <a:rPr lang="en-US" altLang="ko-KR" dirty="0"/>
              <a:t> 2</a:t>
            </a:r>
            <a:r>
              <a:rPr lang="ko-KR" altLang="en-US" dirty="0"/>
              <a:t>차 프로젝트로</a:t>
            </a:r>
            <a:endParaRPr lang="en-US" altLang="ko-KR" dirty="0"/>
          </a:p>
          <a:p>
            <a:r>
              <a:rPr lang="ko-KR" altLang="en-US" dirty="0"/>
              <a:t>간호사의 </a:t>
            </a:r>
            <a:r>
              <a:rPr lang="en-US" altLang="ko-KR" dirty="0"/>
              <a:t>＂</a:t>
            </a:r>
            <a:r>
              <a:rPr lang="ko-KR" altLang="en-US" dirty="0"/>
              <a:t>환자 찾기</a:t>
            </a:r>
            <a:r>
              <a:rPr lang="en-US" altLang="ko-KR" dirty="0"/>
              <a:t>“ </a:t>
            </a:r>
            <a:r>
              <a:rPr lang="ko-KR" altLang="en-US" dirty="0"/>
              <a:t>업무를 도와줄</a:t>
            </a:r>
            <a:endParaRPr lang="en-US" altLang="ko-KR" dirty="0"/>
          </a:p>
          <a:p>
            <a:r>
              <a:rPr lang="ko-KR" altLang="en-US" dirty="0"/>
              <a:t>환자 위치 파악 서비스 기능을 구현했습니다</a:t>
            </a:r>
            <a:endParaRPr lang="en-US" altLang="ko-KR" dirty="0"/>
          </a:p>
          <a:p>
            <a:r>
              <a:rPr lang="ko-KR" altLang="en-US" dirty="0"/>
              <a:t>발표 </a:t>
            </a:r>
            <a:r>
              <a:rPr lang="ko-KR" altLang="en-US" dirty="0" err="1"/>
              <a:t>시작하겟뚜움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1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발표 순서는 </a:t>
            </a:r>
            <a:r>
              <a:rPr lang="ko-KR" altLang="en-US" dirty="0" err="1"/>
              <a:t>이럴거거든</a:t>
            </a:r>
            <a:r>
              <a:rPr lang="en-US" altLang="ko-KR" dirty="0"/>
              <a:t>?</a:t>
            </a:r>
          </a:p>
          <a:p>
            <a:r>
              <a:rPr lang="ko-KR" altLang="en-US" dirty="0" err="1"/>
              <a:t>우리조가</a:t>
            </a:r>
            <a:r>
              <a:rPr lang="ko-KR" altLang="en-US" dirty="0"/>
              <a:t> 수행한 프로젝트의 타임라인 </a:t>
            </a:r>
            <a:r>
              <a:rPr lang="ko-KR" altLang="en-US" dirty="0" err="1"/>
              <a:t>보여줄거고</a:t>
            </a:r>
            <a:endParaRPr lang="en-US" altLang="ko-KR" dirty="0"/>
          </a:p>
          <a:p>
            <a:r>
              <a:rPr lang="ko-KR" altLang="en-US" dirty="0" err="1"/>
              <a:t>우리팀</a:t>
            </a:r>
            <a:r>
              <a:rPr lang="ko-KR" altLang="en-US" dirty="0"/>
              <a:t> </a:t>
            </a:r>
            <a:r>
              <a:rPr lang="ko-KR" altLang="en-US" dirty="0" err="1"/>
              <a:t>소개해줄게ㅎ</a:t>
            </a:r>
            <a:endParaRPr lang="en-US" altLang="ko-KR" dirty="0"/>
          </a:p>
          <a:p>
            <a:r>
              <a:rPr lang="ko-KR" altLang="en-US" dirty="0"/>
              <a:t>간단히 어떤 프로젝트인지 알려주고</a:t>
            </a:r>
            <a:endParaRPr lang="en-US" altLang="ko-KR" dirty="0"/>
          </a:p>
          <a:p>
            <a:r>
              <a:rPr lang="ko-KR" altLang="en-US" dirty="0"/>
              <a:t>만든 기능에 대해 </a:t>
            </a:r>
            <a:r>
              <a:rPr lang="ko-KR" altLang="en-US" dirty="0" err="1"/>
              <a:t>소개해줄거얌</a:t>
            </a:r>
            <a:endParaRPr lang="en-US" altLang="ko-KR" dirty="0"/>
          </a:p>
          <a:p>
            <a:r>
              <a:rPr lang="ko-KR" altLang="en-US" dirty="0"/>
              <a:t>프로젝트에 대한 피드백 남기며 </a:t>
            </a:r>
            <a:r>
              <a:rPr lang="ko-KR" altLang="en-US" dirty="0" err="1"/>
              <a:t>마무리할게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450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9</a:t>
            </a:r>
            <a:r>
              <a:rPr lang="ko-KR" altLang="en-US" dirty="0"/>
              <a:t>일 </a:t>
            </a:r>
            <a:r>
              <a:rPr lang="en-US" altLang="ko-KR" dirty="0"/>
              <a:t>2</a:t>
            </a:r>
            <a:r>
              <a:rPr lang="ko-KR" altLang="en-US" dirty="0"/>
              <a:t>차 프로젝트를 </a:t>
            </a:r>
            <a:r>
              <a:rPr lang="ko-KR" altLang="en-US" dirty="0" err="1"/>
              <a:t>시작했어</a:t>
            </a:r>
            <a:endParaRPr lang="en-US" altLang="ko-KR" dirty="0"/>
          </a:p>
          <a:p>
            <a:r>
              <a:rPr lang="ko-KR" altLang="en-US" dirty="0"/>
              <a:t>처음엔 자료 수집 및 기타 회의를 통해 구체적인 계획을 세웠어</a:t>
            </a:r>
            <a:endParaRPr lang="en-US" altLang="ko-KR" dirty="0"/>
          </a:p>
          <a:p>
            <a:r>
              <a:rPr lang="ko-KR" altLang="en-US" dirty="0"/>
              <a:t>그걸 바탕으로 </a:t>
            </a:r>
            <a:r>
              <a:rPr lang="en-US" altLang="ko-KR" dirty="0"/>
              <a:t>DB</a:t>
            </a:r>
            <a:r>
              <a:rPr lang="ko-KR" altLang="en-US" dirty="0"/>
              <a:t>설계하고 레이아웃 구성을 </a:t>
            </a:r>
            <a:r>
              <a:rPr lang="ko-KR" altLang="en-US" dirty="0" err="1"/>
              <a:t>했징</a:t>
            </a:r>
            <a:endParaRPr lang="en-US" altLang="ko-KR" dirty="0"/>
          </a:p>
          <a:p>
            <a:r>
              <a:rPr lang="ko-KR" altLang="en-US" dirty="0"/>
              <a:t>각자 맡은 기능을 </a:t>
            </a:r>
            <a:r>
              <a:rPr lang="ko-KR" altLang="en-US" dirty="0" err="1"/>
              <a:t>구현했어</a:t>
            </a:r>
            <a:r>
              <a:rPr lang="ko-KR" altLang="en-US" dirty="0"/>
              <a:t> 그런데 에러가 많이 나더라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끝까지 오류 수정만 하다가 시간이 다 </a:t>
            </a:r>
            <a:r>
              <a:rPr lang="ko-KR" altLang="en-US" dirty="0" err="1"/>
              <a:t>되서</a:t>
            </a:r>
            <a:r>
              <a:rPr lang="ko-KR" altLang="en-US" dirty="0"/>
              <a:t> 여기까지 </a:t>
            </a:r>
            <a:r>
              <a:rPr lang="ko-KR" altLang="en-US" dirty="0" err="1"/>
              <a:t>와버렸쪄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22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 팀은 </a:t>
            </a:r>
            <a:r>
              <a:rPr lang="en-US" altLang="ko-KR" dirty="0"/>
              <a:t>4</a:t>
            </a:r>
            <a:r>
              <a:rPr lang="ko-KR" altLang="en-US" dirty="0"/>
              <a:t>명으로 구성되어 있지만</a:t>
            </a:r>
            <a:endParaRPr lang="en-US" altLang="ko-KR" dirty="0"/>
          </a:p>
          <a:p>
            <a:r>
              <a:rPr lang="ko-KR" altLang="en-US" dirty="0"/>
              <a:t>기능은 둘이서 한 건 비밀</a:t>
            </a:r>
            <a:r>
              <a:rPr lang="en-US" altLang="ko-KR" dirty="0"/>
              <a:t>~</a:t>
            </a:r>
            <a:r>
              <a:rPr lang="ko-KR" altLang="en-US" dirty="0"/>
              <a:t>😏</a:t>
            </a:r>
            <a:r>
              <a:rPr lang="ko-KR" altLang="en-US" dirty="0" err="1"/>
              <a:t>풉</a:t>
            </a:r>
            <a:endParaRPr lang="en-US" altLang="ko-KR" dirty="0"/>
          </a:p>
          <a:p>
            <a:r>
              <a:rPr lang="ko-KR" altLang="en-US" dirty="0" err="1"/>
              <a:t>이르케</a:t>
            </a:r>
            <a:r>
              <a:rPr lang="ko-KR" altLang="en-US" dirty="0"/>
              <a:t> </a:t>
            </a:r>
            <a:r>
              <a:rPr lang="ko-KR" altLang="en-US" dirty="0" err="1"/>
              <a:t>저르케</a:t>
            </a:r>
            <a:r>
              <a:rPr lang="ko-KR" altLang="en-US" dirty="0"/>
              <a:t> </a:t>
            </a:r>
            <a:r>
              <a:rPr lang="ko-KR" altLang="en-US" dirty="0" err="1"/>
              <a:t>어케</a:t>
            </a:r>
            <a:r>
              <a:rPr lang="ko-KR" altLang="en-US" dirty="0"/>
              <a:t> 담당해서 프로젝트를 </a:t>
            </a:r>
            <a:r>
              <a:rPr lang="ko-KR" altLang="en-US" dirty="0" err="1"/>
              <a:t>진행했어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32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9</a:t>
            </a:r>
            <a:r>
              <a:rPr lang="ko-KR" altLang="en-US" dirty="0"/>
              <a:t>일 </a:t>
            </a:r>
            <a:r>
              <a:rPr lang="en-US" altLang="ko-KR" dirty="0"/>
              <a:t>2</a:t>
            </a:r>
            <a:r>
              <a:rPr lang="ko-KR" altLang="en-US" dirty="0"/>
              <a:t>차 프로젝트를 </a:t>
            </a:r>
            <a:r>
              <a:rPr lang="ko-KR" altLang="en-US" dirty="0" err="1"/>
              <a:t>시작했어</a:t>
            </a:r>
            <a:endParaRPr lang="en-US" altLang="ko-KR" dirty="0"/>
          </a:p>
          <a:p>
            <a:r>
              <a:rPr lang="ko-KR" altLang="en-US" dirty="0"/>
              <a:t>처음엔 자료 수집 및 기타 회의를 통해 구체적인 계획을 세웠어</a:t>
            </a:r>
            <a:endParaRPr lang="en-US" altLang="ko-KR" dirty="0"/>
          </a:p>
          <a:p>
            <a:r>
              <a:rPr lang="ko-KR" altLang="en-US" dirty="0"/>
              <a:t>그걸 바탕으로 </a:t>
            </a:r>
            <a:r>
              <a:rPr lang="en-US" altLang="ko-KR" dirty="0"/>
              <a:t>DB</a:t>
            </a:r>
            <a:r>
              <a:rPr lang="ko-KR" altLang="en-US" dirty="0"/>
              <a:t>설계하고 레이아웃 구성을 </a:t>
            </a:r>
            <a:r>
              <a:rPr lang="ko-KR" altLang="en-US" dirty="0" err="1"/>
              <a:t>했징</a:t>
            </a:r>
            <a:endParaRPr lang="en-US" altLang="ko-KR" dirty="0"/>
          </a:p>
          <a:p>
            <a:r>
              <a:rPr lang="ko-KR" altLang="en-US" dirty="0"/>
              <a:t>각자 맡은 기능을 </a:t>
            </a:r>
            <a:r>
              <a:rPr lang="ko-KR" altLang="en-US" dirty="0" err="1"/>
              <a:t>구현했어</a:t>
            </a:r>
            <a:r>
              <a:rPr lang="ko-KR" altLang="en-US" dirty="0"/>
              <a:t> 그런데 에러가 많이 나더라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끝까지 오류 수정만 하다가 시간이 다 </a:t>
            </a:r>
            <a:r>
              <a:rPr lang="ko-KR" altLang="en-US" dirty="0" err="1"/>
              <a:t>되서</a:t>
            </a:r>
            <a:r>
              <a:rPr lang="ko-KR" altLang="en-US" dirty="0"/>
              <a:t> 여기까지 </a:t>
            </a:r>
            <a:r>
              <a:rPr lang="ko-KR" altLang="en-US" dirty="0" err="1"/>
              <a:t>와버렸쪄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49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75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62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EF1B1-4CB3-4902-9972-1B0A3DCD25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08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19997-0154-4D91-BF2B-CAEE2A239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0AB915-CD97-432A-A10B-6C10D5345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7AC88-CD73-41A1-A5F0-0D8E9627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0F4A05-132B-4CC2-A927-74FD3F1A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ADBF8B-C95E-4E35-AE2C-F9D9A379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65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790C1-9A82-4B9F-9736-499B3744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DB37A3-01DF-463E-A569-0AA9C9A5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8054E-A607-4DE1-9D6B-DF54CC7E6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9EFE7-1E50-4D7E-897B-6EC99B69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BA8C9-F184-4764-8685-B04C1F57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9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999DD-6099-4BB8-B605-5FCA126E7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C1F102-45B6-4CB4-A2C4-17C6D530F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4BCA9-EE55-4E08-BA22-F6F0488D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C5647D-10E4-447B-AF78-1E1D93C1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D3E-8120-48F4-9BE4-90F1D25D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5E735-3DD8-427D-87C6-E1370671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DD37C-7098-4482-8922-1EC4B09AD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D9A001-B04A-49EC-A408-0781C04AF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70B66-AA45-4A1C-BD35-EFB79B0B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F42BF-6BF0-4461-92BA-370DF790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5439A8-7176-4A88-B4CC-E7D02E0F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6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D2459-71BF-4941-B996-68A93ACE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A66FC-2C2E-4615-A8E6-21485478B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0C0227-06A1-41BA-B5FB-3D4D588AC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1DB91D-107D-4D64-B740-3AA804D8E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46C809-5234-4287-BA1B-6C3B97306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F4747C-00B5-4CDA-9EF4-5D706682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9919CF-2F67-44FB-9226-84A7F7E0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2657CD-4B77-4513-B3AA-8CB4483C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09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5426-7FCA-4B2A-B22C-4712FC0D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5985DE-5EFF-444F-937C-731CBAF0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0437B3-784A-4742-A5D5-40B17F65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7EC579-2D94-4274-85B2-A8EA65F6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96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61E2BB-0E28-43CC-8CFE-2D4375760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2BA3F1-E16F-46EB-8ED7-C4BDF4DE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28644-F777-47C6-AC20-FE672FD5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3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C4809-305A-4C09-9BA9-DAEEFB67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76C54-4911-4B3D-99C3-5222F0F1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59E076-BF4B-48ED-8593-3374689D9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38E9FF-C218-4323-9CBC-96B22EDA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C77F62-FEDB-45E8-BB38-44DF7ED4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345D42-1AF5-4F31-9161-BCB9566E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6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776E9-9317-4A7D-B2C4-0E529562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8DB1E4-062B-4BAB-82F9-2C3F7D24D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52883B-3EFC-4E46-A1BF-0240C0417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8152DB-2A36-44B6-93BA-03949C250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EEB63-4979-43F5-9188-294F6DD2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6D3577-781A-4C52-8626-5687802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54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D2E68-BC07-4B39-8022-21B64ACC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CB4902-95FF-495F-8512-207FDC2A9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9745F-17DF-430F-8B64-F8AA2DBF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3A24C-65C4-4914-8F44-41E69D83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357B58-1BF1-46EB-B2EC-06536188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55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B3D058-38AC-45CD-A3F1-77B531699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7B97D2-3C38-45D6-B5CF-5E85D1703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D57932-3077-44C9-8BA6-3C4A06E3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8522E-AC43-4ECE-B6F8-0847976F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A737B1-4BFB-4654-8C1F-5E609A35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72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F4D6F14-E339-4DC6-B146-469493514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7C9915-1263-4966-96F0-3862F7467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830A8-5644-48D3-AA14-872942425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D9394-8A34-4BE7-8605-2416CEB18828}" type="datetimeFigureOut">
              <a:rPr lang="ko-KR" altLang="en-US" smtClean="0"/>
              <a:t>2024-09-27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A6CFE7-774C-4570-B3F5-13EE67877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4F5A8F-0D6E-4399-B478-736967C37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7FB59-977B-4ACA-BE3A-43C64ED15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9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microsoft.com/office/2007/relationships/hdphoto" Target="../media/hdphoto1.wdp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5" Type="http://schemas.openxmlformats.org/officeDocument/2006/relationships/image" Target="../media/image16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9.pn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49.png"/><Relationship Id="rId21" Type="http://schemas.openxmlformats.org/officeDocument/2006/relationships/image" Target="../media/image40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53.png"/><Relationship Id="rId50" Type="http://schemas.openxmlformats.org/officeDocument/2006/relationships/customXml" Target="../ink/ink25.xml"/><Relationship Id="rId7" Type="http://schemas.openxmlformats.org/officeDocument/2006/relationships/image" Target="../media/image33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440.png"/><Relationship Id="rId11" Type="http://schemas.openxmlformats.org/officeDocument/2006/relationships/image" Target="../media/image35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480.png"/><Relationship Id="rId40" Type="http://schemas.openxmlformats.org/officeDocument/2006/relationships/customXml" Target="../ink/ink20.xml"/><Relationship Id="rId45" Type="http://schemas.openxmlformats.org/officeDocument/2006/relationships/image" Target="../media/image52.png"/><Relationship Id="rId53" Type="http://schemas.openxmlformats.org/officeDocument/2006/relationships/image" Target="../media/image56.png"/><Relationship Id="rId5" Type="http://schemas.openxmlformats.org/officeDocument/2006/relationships/image" Target="../media/image320.png"/><Relationship Id="rId10" Type="http://schemas.openxmlformats.org/officeDocument/2006/relationships/customXml" Target="../ink/ink5.xml"/><Relationship Id="rId19" Type="http://schemas.openxmlformats.org/officeDocument/2006/relationships/image" Target="../media/image390.png"/><Relationship Id="rId31" Type="http://schemas.openxmlformats.org/officeDocument/2006/relationships/image" Target="../media/image450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34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430.png"/><Relationship Id="rId30" Type="http://schemas.openxmlformats.org/officeDocument/2006/relationships/customXml" Target="../ink/ink15.xml"/><Relationship Id="rId35" Type="http://schemas.openxmlformats.org/officeDocument/2006/relationships/image" Target="../media/image470.png"/><Relationship Id="rId43" Type="http://schemas.openxmlformats.org/officeDocument/2006/relationships/image" Target="../media/image5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55.png"/><Relationship Id="rId3" Type="http://schemas.openxmlformats.org/officeDocument/2006/relationships/image" Target="../media/image310.png"/><Relationship Id="rId12" Type="http://schemas.openxmlformats.org/officeDocument/2006/relationships/customXml" Target="../ink/ink6.xml"/><Relationship Id="rId17" Type="http://schemas.openxmlformats.org/officeDocument/2006/relationships/image" Target="../media/image380.png"/><Relationship Id="rId25" Type="http://schemas.openxmlformats.org/officeDocument/2006/relationships/image" Target="../media/image420.png"/><Relationship Id="rId33" Type="http://schemas.openxmlformats.org/officeDocument/2006/relationships/image" Target="../media/image460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370.png"/><Relationship Id="rId23" Type="http://schemas.openxmlformats.org/officeDocument/2006/relationships/image" Target="../media/image410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437A216-41E1-4824-84F6-BB2313368C58}"/>
              </a:ext>
            </a:extLst>
          </p:cNvPr>
          <p:cNvSpPr/>
          <p:nvPr/>
        </p:nvSpPr>
        <p:spPr>
          <a:xfrm>
            <a:off x="1" y="0"/>
            <a:ext cx="12192000" cy="4559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3D11A-2504-48E8-A379-ADFB53847BBD}"/>
              </a:ext>
            </a:extLst>
          </p:cNvPr>
          <p:cNvSpPr txBox="1"/>
          <p:nvPr/>
        </p:nvSpPr>
        <p:spPr>
          <a:xfrm>
            <a:off x="4426037" y="2388301"/>
            <a:ext cx="63335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>
                    <a:lumMod val="6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간호사의 </a:t>
            </a:r>
            <a:r>
              <a:rPr lang="en-US" altLang="ko-KR" sz="3600" dirty="0">
                <a:solidFill>
                  <a:schemeClr val="bg1">
                    <a:lumMod val="6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“</a:t>
            </a:r>
            <a:r>
              <a:rPr lang="ko-KR" altLang="en-US" sz="3600" dirty="0">
                <a:solidFill>
                  <a:schemeClr val="bg1">
                    <a:lumMod val="6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환자 찾기</a:t>
            </a:r>
            <a:r>
              <a:rPr lang="en-US" altLang="ko-KR" sz="3600" dirty="0">
                <a:solidFill>
                  <a:schemeClr val="bg1">
                    <a:lumMod val="6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”</a:t>
            </a:r>
          </a:p>
          <a:p>
            <a:r>
              <a:rPr lang="ko-KR" altLang="en-US" sz="3600" dirty="0">
                <a:solidFill>
                  <a:schemeClr val="bg1">
                    <a:lumMod val="6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업무 도움을 위한</a:t>
            </a:r>
            <a:endParaRPr lang="en-US" altLang="ko-KR" sz="3600" dirty="0">
              <a:solidFill>
                <a:schemeClr val="bg1">
                  <a:lumMod val="6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sz="36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환자 위치</a:t>
            </a:r>
            <a:r>
              <a:rPr lang="en-US" altLang="ko-KR" sz="36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(GPS)</a:t>
            </a:r>
            <a:r>
              <a:rPr lang="ko-KR" altLang="en-US" sz="36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파악 </a:t>
            </a:r>
            <a:r>
              <a:rPr lang="ko-KR" altLang="en-US" sz="3600" dirty="0">
                <a:solidFill>
                  <a:schemeClr val="bg1">
                    <a:lumMod val="6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서비스</a:t>
            </a:r>
            <a:endParaRPr lang="ko-KR" altLang="en-US" sz="3300" dirty="0">
              <a:solidFill>
                <a:schemeClr val="bg1">
                  <a:lumMod val="6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BD09D-3830-4F2F-B39B-DC60977BFA4A}"/>
              </a:ext>
            </a:extLst>
          </p:cNvPr>
          <p:cNvSpPr txBox="1"/>
          <p:nvPr/>
        </p:nvSpPr>
        <p:spPr>
          <a:xfrm>
            <a:off x="5077361" y="5692135"/>
            <a:ext cx="633350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300" dirty="0" err="1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팀명</a:t>
            </a:r>
            <a:r>
              <a:rPr lang="ko-KR" altLang="en-US" sz="23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</a:t>
            </a:r>
            <a:r>
              <a:rPr lang="en-US" altLang="ko-KR" sz="23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: </a:t>
            </a:r>
            <a:r>
              <a:rPr lang="ko-KR" altLang="en-US" sz="2300" dirty="0" err="1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도와조</a:t>
            </a:r>
            <a:endParaRPr lang="ko-KR" altLang="en-US" sz="2300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56A96F1B-628C-4DE1-8109-66F32922CFD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60217319"/>
                  </p:ext>
                </p:extLst>
              </p:nvPr>
            </p:nvGraphicFramePr>
            <p:xfrm>
              <a:off x="1654879" y="1241794"/>
              <a:ext cx="2064504" cy="437441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64504" cy="4374412"/>
                    </a:xfrm>
                    <a:prstGeom prst="rect">
                      <a:avLst/>
                    </a:prstGeom>
                  </am3d:spPr>
                  <am3d:camera>
                    <am3d:pos x="0" y="0" z="524030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862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0039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56A96F1B-628C-4DE1-8109-66F32922CF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4879" y="1241794"/>
                <a:ext cx="2064504" cy="43744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026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437A216-41E1-4824-84F6-BB2313368C58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7E6E6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FB53F1C-8058-4A53-9B42-D18432948283}"/>
              </a:ext>
            </a:extLst>
          </p:cNvPr>
          <p:cNvGrpSpPr/>
          <p:nvPr/>
        </p:nvGrpSpPr>
        <p:grpSpPr>
          <a:xfrm>
            <a:off x="531584" y="1781435"/>
            <a:ext cx="11393716" cy="136265"/>
            <a:chOff x="531584" y="1717935"/>
            <a:chExt cx="11393716" cy="136265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86302D5C-387B-4CB9-BCFD-3A6D3FCC1566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8EA2A0E-1AC8-4040-AC4E-B7F5339817D5}"/>
                </a:ext>
              </a:extLst>
            </p:cNvPr>
            <p:cNvSpPr/>
            <p:nvPr/>
          </p:nvSpPr>
          <p:spPr>
            <a:xfrm>
              <a:off x="531584" y="1717935"/>
              <a:ext cx="1856016" cy="136265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F8AFE2A-E7CC-4400-8610-5D313F38BA33}"/>
              </a:ext>
            </a:extLst>
          </p:cNvPr>
          <p:cNvSpPr txBox="1"/>
          <p:nvPr/>
        </p:nvSpPr>
        <p:spPr>
          <a:xfrm>
            <a:off x="421907" y="314266"/>
            <a:ext cx="63335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solidFill>
                  <a:srgbClr val="92A3A3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CONTENTS</a:t>
            </a:r>
            <a:endParaRPr lang="ko-KR" altLang="en-US" sz="2200" dirty="0">
              <a:solidFill>
                <a:srgbClr val="92A3A3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557D7-378A-4ABE-B012-F12BEA6177F7}"/>
              </a:ext>
            </a:extLst>
          </p:cNvPr>
          <p:cNvSpPr txBox="1"/>
          <p:nvPr/>
        </p:nvSpPr>
        <p:spPr>
          <a:xfrm>
            <a:off x="449814" y="1122404"/>
            <a:ext cx="6333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환자 위치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(GPS)</a:t>
            </a:r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파악 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APP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BA15C28-8205-4F41-84E1-D37DF80973C9}"/>
              </a:ext>
            </a:extLst>
          </p:cNvPr>
          <p:cNvGrpSpPr/>
          <p:nvPr/>
        </p:nvGrpSpPr>
        <p:grpSpPr>
          <a:xfrm>
            <a:off x="1021704" y="2093687"/>
            <a:ext cx="4780843" cy="3936196"/>
            <a:chOff x="1239015" y="2001221"/>
            <a:chExt cx="4346221" cy="393619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D98B06-B152-494E-A16E-267C5D690E72}"/>
                </a:ext>
              </a:extLst>
            </p:cNvPr>
            <p:cNvSpPr txBox="1"/>
            <p:nvPr/>
          </p:nvSpPr>
          <p:spPr>
            <a:xfrm>
              <a:off x="1239015" y="2001724"/>
              <a:ext cx="3609975" cy="393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3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01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3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02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3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03 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3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04 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3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05  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  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1155A1-3128-4F80-A6DE-22254D04B6D1}"/>
                </a:ext>
              </a:extLst>
            </p:cNvPr>
            <p:cNvSpPr txBox="1"/>
            <p:nvPr/>
          </p:nvSpPr>
          <p:spPr>
            <a:xfrm>
              <a:off x="1975261" y="2001221"/>
              <a:ext cx="3609975" cy="3450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ko-KR" altLang="en-US" dirty="0">
                  <a:solidFill>
                    <a:srgbClr val="66747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프로젝트 수행 절차 및 방법</a:t>
              </a:r>
              <a:endParaRPr lang="en-US" altLang="ko-KR" dirty="0">
                <a:solidFill>
                  <a:srgbClr val="66747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250000"/>
                </a:lnSpc>
              </a:pPr>
              <a:r>
                <a:rPr lang="ko-KR" altLang="en-US" dirty="0">
                  <a:solidFill>
                    <a:srgbClr val="66747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팀 소개</a:t>
              </a:r>
              <a:endParaRPr lang="en-US" altLang="ko-KR" dirty="0">
                <a:solidFill>
                  <a:srgbClr val="66747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250000"/>
                </a:lnSpc>
              </a:pPr>
              <a:r>
                <a:rPr lang="ko-KR" altLang="en-US" dirty="0">
                  <a:solidFill>
                    <a:srgbClr val="66747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프로젝트 개요 및 소개</a:t>
              </a:r>
              <a:endParaRPr lang="en-US" altLang="ko-KR" dirty="0">
                <a:solidFill>
                  <a:srgbClr val="66747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250000"/>
                </a:lnSpc>
              </a:pPr>
              <a:r>
                <a:rPr lang="ko-KR" altLang="en-US" dirty="0">
                  <a:solidFill>
                    <a:srgbClr val="66747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자체평가</a:t>
              </a:r>
              <a:endParaRPr lang="en-US" altLang="ko-KR" dirty="0">
                <a:solidFill>
                  <a:srgbClr val="66747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  <a:p>
              <a:pPr>
                <a:lnSpc>
                  <a:spcPct val="250000"/>
                </a:lnSpc>
              </a:pPr>
              <a:r>
                <a:rPr lang="en-US" altLang="ko-KR" dirty="0">
                  <a:solidFill>
                    <a:srgbClr val="66747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Q&amp;A</a:t>
              </a:r>
              <a:endParaRPr lang="ko-KR" altLang="en-US" dirty="0">
                <a:solidFill>
                  <a:srgbClr val="66747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모델 14">
                <a:extLst>
                  <a:ext uri="{FF2B5EF4-FFF2-40B4-BE49-F238E27FC236}">
                    <a16:creationId xmlns:a16="http://schemas.microsoft.com/office/drawing/2014/main" id="{5265A25F-8147-4F0D-8248-71DA89BB95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8581007"/>
                  </p:ext>
                </p:extLst>
              </p:nvPr>
            </p:nvGraphicFramePr>
            <p:xfrm>
              <a:off x="7880483" y="1447561"/>
              <a:ext cx="2233582" cy="456831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233582" cy="4568319"/>
                    </a:xfrm>
                    <a:prstGeom prst="rect">
                      <a:avLst/>
                    </a:prstGeom>
                  </am3d:spPr>
                  <am3d:camera>
                    <am3d:pos x="0" y="0" z="524030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862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639968" ay="54424" az="1079746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3214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모델 14">
                <a:extLst>
                  <a:ext uri="{FF2B5EF4-FFF2-40B4-BE49-F238E27FC236}">
                    <a16:creationId xmlns:a16="http://schemas.microsoft.com/office/drawing/2014/main" id="{5265A25F-8147-4F0D-8248-71DA89BB95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80483" y="1447561"/>
                <a:ext cx="2233582" cy="4568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모델 13">
                <a:extLst>
                  <a:ext uri="{FF2B5EF4-FFF2-40B4-BE49-F238E27FC236}">
                    <a16:creationId xmlns:a16="http://schemas.microsoft.com/office/drawing/2014/main" id="{D0186202-A06E-4E9A-A330-A1778DFACE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4697225"/>
                  </p:ext>
                </p:extLst>
              </p:nvPr>
            </p:nvGraphicFramePr>
            <p:xfrm>
              <a:off x="9168714" y="693836"/>
              <a:ext cx="2381773" cy="515726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381773" cy="5157268"/>
                    </a:xfrm>
                    <a:prstGeom prst="rect">
                      <a:avLst/>
                    </a:prstGeom>
                  </am3d:spPr>
                  <am3d:camera>
                    <am3d:pos x="0" y="0" z="524030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862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15824" ay="-1563524" az="-18338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62805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모델 13">
                <a:extLst>
                  <a:ext uri="{FF2B5EF4-FFF2-40B4-BE49-F238E27FC236}">
                    <a16:creationId xmlns:a16="http://schemas.microsoft.com/office/drawing/2014/main" id="{D0186202-A06E-4E9A-A330-A1778DFACE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8714" y="693836"/>
                <a:ext cx="2381773" cy="51572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2886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7325FB-90E7-4FDA-B6E9-3463B3962CD7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FC0C170-108F-4918-BF5B-57DA84EF5A6F}"/>
              </a:ext>
            </a:extLst>
          </p:cNvPr>
          <p:cNvGrpSpPr/>
          <p:nvPr/>
        </p:nvGrpSpPr>
        <p:grpSpPr>
          <a:xfrm>
            <a:off x="544284" y="1162180"/>
            <a:ext cx="11381016" cy="133090"/>
            <a:chOff x="544284" y="1708280"/>
            <a:chExt cx="11381016" cy="13309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355142-B3F7-4FBF-809B-CBA92AC93ADA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CA5B1C-6EE7-4997-9008-559297B19025}"/>
                </a:ext>
              </a:extLst>
            </p:cNvPr>
            <p:cNvSpPr/>
            <p:nvPr/>
          </p:nvSpPr>
          <p:spPr>
            <a:xfrm>
              <a:off x="46146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7CBD186-E620-4338-85F2-F4D5BD5F4A60}"/>
              </a:ext>
            </a:extLst>
          </p:cNvPr>
          <p:cNvSpPr txBox="1"/>
          <p:nvPr/>
        </p:nvSpPr>
        <p:spPr>
          <a:xfrm>
            <a:off x="449814" y="604244"/>
            <a:ext cx="114754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chemeClr val="bg2">
                    <a:lumMod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프로젝트 선정 이유 및 목표</a:t>
            </a:r>
            <a:endParaRPr lang="en-US" altLang="ko-KR" sz="2200" dirty="0">
              <a:solidFill>
                <a:schemeClr val="bg2">
                  <a:lumMod val="2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17BD1-90E2-4203-AE5C-7CB871C99A53}"/>
              </a:ext>
            </a:extLst>
          </p:cNvPr>
          <p:cNvSpPr txBox="1"/>
          <p:nvPr/>
        </p:nvSpPr>
        <p:spPr>
          <a:xfrm>
            <a:off x="1380522" y="3617371"/>
            <a:ext cx="4399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앱 개발을 통해 사용해보지 않았던 </a:t>
            </a:r>
            <a:r>
              <a:rPr lang="ko-KR" altLang="en-US" dirty="0" err="1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리액트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네이티브를 활용함으로 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스펙트럼과 카카오 맵 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API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에 대한 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이해도를 넓혀가고 싶었음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83FA24-D709-498C-ADF1-948A116FE791}"/>
              </a:ext>
            </a:extLst>
          </p:cNvPr>
          <p:cNvSpPr txBox="1"/>
          <p:nvPr/>
        </p:nvSpPr>
        <p:spPr>
          <a:xfrm>
            <a:off x="7835900" y="3617371"/>
            <a:ext cx="3898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카카오 맵 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API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를 활용해 위치 확인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및 거리 계산을 통해서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간호사가 담당 환자들의 위치를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쉽게 파악할 수 있도록 구현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BBA8CB-0BA3-4388-A091-EF76855CAE48}"/>
              </a:ext>
            </a:extLst>
          </p:cNvPr>
          <p:cNvSpPr txBox="1"/>
          <p:nvPr/>
        </p:nvSpPr>
        <p:spPr>
          <a:xfrm>
            <a:off x="770922" y="2422773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주제 선정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r"/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이유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8A4716-9742-43B1-9376-50D2D1DFC0B0}"/>
              </a:ext>
            </a:extLst>
          </p:cNvPr>
          <p:cNvSpPr txBox="1"/>
          <p:nvPr/>
        </p:nvSpPr>
        <p:spPr>
          <a:xfrm>
            <a:off x="7124700" y="2422773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프로젝트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r"/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목표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F28A1E6-FE9F-4348-A638-F703E9E17073}"/>
              </a:ext>
            </a:extLst>
          </p:cNvPr>
          <p:cNvCxnSpPr/>
          <p:nvPr/>
        </p:nvCxnSpPr>
        <p:spPr>
          <a:xfrm>
            <a:off x="2037747" y="2464431"/>
            <a:ext cx="0" cy="57331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7D45792-C862-4DF5-89E4-D6417C95D38E}"/>
              </a:ext>
            </a:extLst>
          </p:cNvPr>
          <p:cNvCxnSpPr/>
          <p:nvPr/>
        </p:nvCxnSpPr>
        <p:spPr>
          <a:xfrm>
            <a:off x="8401050" y="2464431"/>
            <a:ext cx="0" cy="57331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3D 모델 34">
                <a:extLst>
                  <a:ext uri="{FF2B5EF4-FFF2-40B4-BE49-F238E27FC236}">
                    <a16:creationId xmlns:a16="http://schemas.microsoft.com/office/drawing/2014/main" id="{8268C706-8B8E-4423-915F-D1A9D4FB24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154953"/>
                  </p:ext>
                </p:extLst>
              </p:nvPr>
            </p:nvGraphicFramePr>
            <p:xfrm>
              <a:off x="6270544" y="1561607"/>
              <a:ext cx="253311" cy="405672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3311" cy="4056725"/>
                    </a:xfrm>
                    <a:prstGeom prst="rect">
                      <a:avLst/>
                    </a:prstGeom>
                  </am3d:spPr>
                  <am3d:camera>
                    <am3d:pos x="0" y="0" z="524030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862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788850" ay="-5338644" az="-678904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22843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3D 모델 34">
                <a:extLst>
                  <a:ext uri="{FF2B5EF4-FFF2-40B4-BE49-F238E27FC236}">
                    <a16:creationId xmlns:a16="http://schemas.microsoft.com/office/drawing/2014/main" id="{8268C706-8B8E-4423-915F-D1A9D4FB24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0544" y="1561607"/>
                <a:ext cx="253311" cy="4056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3785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5">
            <a:extLst>
              <a:ext uri="{FF2B5EF4-FFF2-40B4-BE49-F238E27FC236}">
                <a16:creationId xmlns:a16="http://schemas.microsoft.com/office/drawing/2014/main" id="{0EA58DBD-39A4-498E-A63A-CAFFC7F4A832}"/>
              </a:ext>
            </a:extLst>
          </p:cNvPr>
          <p:cNvSpPr txBox="1"/>
          <p:nvPr/>
        </p:nvSpPr>
        <p:spPr>
          <a:xfrm>
            <a:off x="0" y="314266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팀 소개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5959B6F-023C-44E5-AA20-F648C867D614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6768D208-D03C-4D60-AB55-608E1E683789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A6128D0B-0E83-4366-96D7-5BD76FE9C204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5A091A5-E8D7-428A-BD75-45D328535092}"/>
              </a:ext>
            </a:extLst>
          </p:cNvPr>
          <p:cNvSpPr txBox="1"/>
          <p:nvPr/>
        </p:nvSpPr>
        <p:spPr>
          <a:xfrm>
            <a:off x="4936646" y="3774672"/>
            <a:ext cx="1111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GmarketSansMedium" panose="02000000000000000000" pitchFamily="50" charset="-127"/>
                <a:ea typeface="GmarketSansMedium" panose="02000000000000000000" pitchFamily="50" charset="-127"/>
              </a:rPr>
              <a:t>팀원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D85CFF9-B4E5-4C09-956E-2ECC91A71579}"/>
              </a:ext>
            </a:extLst>
          </p:cNvPr>
          <p:cNvSpPr txBox="1"/>
          <p:nvPr/>
        </p:nvSpPr>
        <p:spPr>
          <a:xfrm>
            <a:off x="4175153" y="4557433"/>
            <a:ext cx="1924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GmarketSansLight" panose="02000000000000000000" pitchFamily="50" charset="-127"/>
                <a:ea typeface="GmarketSansLight" panose="02000000000000000000" pitchFamily="50" charset="-127"/>
              </a:rPr>
              <a:t>인포</a:t>
            </a:r>
            <a:r>
              <a:rPr lang="ko-KR" altLang="en-US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 윈도우 구현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E133FBE-62C9-43C4-A3D4-1F6FE57DC03D}"/>
              </a:ext>
            </a:extLst>
          </p:cNvPr>
          <p:cNvSpPr txBox="1"/>
          <p:nvPr/>
        </p:nvSpPr>
        <p:spPr>
          <a:xfrm>
            <a:off x="4175153" y="5001933"/>
            <a:ext cx="1924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화면 디자인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4739CF4-96CA-4F07-BA5E-4FF8C8DB6247}"/>
              </a:ext>
            </a:extLst>
          </p:cNvPr>
          <p:cNvSpPr txBox="1"/>
          <p:nvPr/>
        </p:nvSpPr>
        <p:spPr>
          <a:xfrm>
            <a:off x="4175153" y="5484533"/>
            <a:ext cx="1924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2</a:t>
            </a:r>
            <a:r>
              <a:rPr lang="ko-KR" altLang="en-US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차 프로젝트 발표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DFB94E2-E06E-49CE-AD04-5AC767343AD4}"/>
              </a:ext>
            </a:extLst>
          </p:cNvPr>
          <p:cNvGrpSpPr/>
          <p:nvPr/>
        </p:nvGrpSpPr>
        <p:grpSpPr>
          <a:xfrm>
            <a:off x="807450" y="1244824"/>
            <a:ext cx="2633759" cy="5069391"/>
            <a:chOff x="807450" y="1244824"/>
            <a:chExt cx="2633759" cy="506939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7EEB419-D7E6-45D2-82C3-7C915D170D2D}"/>
                </a:ext>
              </a:extLst>
            </p:cNvPr>
            <p:cNvSpPr/>
            <p:nvPr/>
          </p:nvSpPr>
          <p:spPr>
            <a:xfrm>
              <a:off x="929640" y="1556880"/>
              <a:ext cx="2225040" cy="176784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51463D0-FCA5-4363-B7DF-15758B7F11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1456914" y="2121329"/>
              <a:ext cx="1181437" cy="1461831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6F983B8-DBF9-4A59-8608-6934D9BFD6F3}"/>
                </a:ext>
              </a:extLst>
            </p:cNvPr>
            <p:cNvSpPr txBox="1"/>
            <p:nvPr/>
          </p:nvSpPr>
          <p:spPr>
            <a:xfrm>
              <a:off x="1540734" y="3698100"/>
              <a:ext cx="935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dirty="0" err="1"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황찬진</a:t>
              </a:r>
              <a:endParaRPr lang="ko-KR" altLang="en-US" dirty="0"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C29E25-872C-43B7-9F08-A77C5A2FD11B}"/>
                </a:ext>
              </a:extLst>
            </p:cNvPr>
            <p:cNvSpPr txBox="1"/>
            <p:nvPr/>
          </p:nvSpPr>
          <p:spPr>
            <a:xfrm>
              <a:off x="2329596" y="3774672"/>
              <a:ext cx="111161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팀장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2E2DFCA-25C0-4ED0-8AF4-6CFFC32831BF}"/>
                </a:ext>
              </a:extLst>
            </p:cNvPr>
            <p:cNvGrpSpPr/>
            <p:nvPr/>
          </p:nvGrpSpPr>
          <p:grpSpPr>
            <a:xfrm>
              <a:off x="1280160" y="4067432"/>
              <a:ext cx="1607820" cy="215444"/>
              <a:chOff x="1287780" y="4034552"/>
              <a:chExt cx="1607820" cy="215444"/>
            </a:xfrm>
          </p:grpSpPr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7F40FA5E-06D4-47F6-9D31-4AC42E12D08B}"/>
                  </a:ext>
                </a:extLst>
              </p:cNvPr>
              <p:cNvSpPr/>
              <p:nvPr/>
            </p:nvSpPr>
            <p:spPr>
              <a:xfrm>
                <a:off x="1287780" y="4034552"/>
                <a:ext cx="1607820" cy="191512"/>
              </a:xfrm>
              <a:prstGeom prst="roundRect">
                <a:avLst>
                  <a:gd name="adj" fmla="val 32582"/>
                </a:avLst>
              </a:prstGeom>
              <a:solidFill>
                <a:srgbClr val="92A3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4AD847-6B61-4EDD-84F1-78528D5A3722}"/>
                  </a:ext>
                </a:extLst>
              </p:cNvPr>
              <p:cNvSpPr txBox="1"/>
              <p:nvPr/>
            </p:nvSpPr>
            <p:spPr>
              <a:xfrm>
                <a:off x="1287780" y="4034552"/>
                <a:ext cx="160782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4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_</a:t>
                </a:r>
                <a:r>
                  <a:rPr lang="ko-KR" altLang="en-US" sz="800" dirty="0" err="1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도와조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(HELP)</a:t>
                </a:r>
                <a:endParaRPr lang="ko-KR" altLang="en-US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endParaRPr>
              </a:p>
            </p:txBody>
          </p:sp>
        </p:grp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C30D389-5966-4EAB-9CFD-6C512F489A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12" t="50189" r="60492" b="38806"/>
            <a:stretch/>
          </p:blipFill>
          <p:spPr>
            <a:xfrm>
              <a:off x="1328788" y="5382327"/>
              <a:ext cx="307775" cy="320085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698343D-ACD7-4DB0-BA53-EFC2D305FE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801" t="52411" r="5092" b="39124"/>
            <a:stretch/>
          </p:blipFill>
          <p:spPr>
            <a:xfrm>
              <a:off x="1310412" y="4555315"/>
              <a:ext cx="244185" cy="20348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8B7372-8912-4308-A767-036AB941EE50}"/>
                </a:ext>
              </a:extLst>
            </p:cNvPr>
            <p:cNvSpPr txBox="1"/>
            <p:nvPr/>
          </p:nvSpPr>
          <p:spPr>
            <a:xfrm>
              <a:off x="1516305" y="4555160"/>
              <a:ext cx="1517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err="1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카카오맵</a:t>
              </a:r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 구현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BD8B888-E350-4099-A966-FD14702A5852}"/>
                </a:ext>
              </a:extLst>
            </p:cNvPr>
            <p:cNvSpPr txBox="1"/>
            <p:nvPr/>
          </p:nvSpPr>
          <p:spPr>
            <a:xfrm>
              <a:off x="1508685" y="4957750"/>
              <a:ext cx="1924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err="1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카카오맵</a:t>
              </a:r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 </a:t>
              </a:r>
              <a:r>
                <a:rPr lang="en-US" altLang="ko-KR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API</a:t>
              </a:r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를 사용한 </a:t>
              </a:r>
              <a:endParaRPr lang="en-US" altLang="ko-KR" sz="900" dirty="0">
                <a:latin typeface="GmarketSansLight" panose="02000000000000000000" pitchFamily="50" charset="-127"/>
                <a:ea typeface="GmarketSansLight" panose="02000000000000000000" pitchFamily="50" charset="-127"/>
              </a:endParaRPr>
            </a:p>
            <a:p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마커 구현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06D65D-1FDA-4926-A2F3-BD26D38AA1C1}"/>
                </a:ext>
              </a:extLst>
            </p:cNvPr>
            <p:cNvSpPr txBox="1"/>
            <p:nvPr/>
          </p:nvSpPr>
          <p:spPr>
            <a:xfrm>
              <a:off x="1516305" y="5482260"/>
              <a:ext cx="192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자료조사 및 영상 편집</a:t>
              </a:r>
            </a:p>
          </p:txBody>
        </p:sp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2CED9149-0A43-4471-88A9-DF50DD7B75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4" t="64331" r="81680" b="25933"/>
            <a:stretch/>
          </p:blipFill>
          <p:spPr>
            <a:xfrm>
              <a:off x="1317461" y="4968047"/>
              <a:ext cx="251814" cy="257412"/>
            </a:xfrm>
            <a:prstGeom prst="rect">
              <a:avLst/>
            </a:prstGeom>
          </p:spPr>
        </p:pic>
        <p:pic>
          <p:nvPicPr>
            <p:cNvPr id="78" name="Picture 4" descr="Samsung, Phone, Phone Transparent, Smartphone">
              <a:extLst>
                <a:ext uri="{FF2B5EF4-FFF2-40B4-BE49-F238E27FC236}">
                  <a16:creationId xmlns:a16="http://schemas.microsoft.com/office/drawing/2014/main" id="{8BFFEBEA-DDE4-4BFF-8113-2734ECF3A1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83" t="9754" r="40278" b="5555"/>
            <a:stretch/>
          </p:blipFill>
          <p:spPr bwMode="auto">
            <a:xfrm>
              <a:off x="807450" y="1244824"/>
              <a:ext cx="2409072" cy="5069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535067E-D1E1-49A1-BE61-7EA120B5E8CF}"/>
              </a:ext>
            </a:extLst>
          </p:cNvPr>
          <p:cNvGrpSpPr/>
          <p:nvPr/>
        </p:nvGrpSpPr>
        <p:grpSpPr>
          <a:xfrm>
            <a:off x="6045993" y="1244824"/>
            <a:ext cx="2624589" cy="5069391"/>
            <a:chOff x="6045993" y="1244824"/>
            <a:chExt cx="2624589" cy="506939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1EE9E48-239B-45C3-9D14-0EE1B890C5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366" t="13469" r="3821" b="74679"/>
            <a:stretch/>
          </p:blipFill>
          <p:spPr>
            <a:xfrm>
              <a:off x="6530110" y="4938700"/>
              <a:ext cx="239096" cy="284881"/>
            </a:xfrm>
            <a:prstGeom prst="rect">
              <a:avLst/>
            </a:prstGeom>
          </p:spPr>
        </p:pic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5D42EA30-5E68-447E-AB4F-17684E0226A7}"/>
                </a:ext>
              </a:extLst>
            </p:cNvPr>
            <p:cNvSpPr/>
            <p:nvPr/>
          </p:nvSpPr>
          <p:spPr>
            <a:xfrm>
              <a:off x="6143740" y="1556880"/>
              <a:ext cx="2225040" cy="176784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D26FFB5-FE8F-4279-88AD-69B8959C6A89}"/>
                </a:ext>
              </a:extLst>
            </p:cNvPr>
            <p:cNvSpPr txBox="1"/>
            <p:nvPr/>
          </p:nvSpPr>
          <p:spPr>
            <a:xfrm>
              <a:off x="6754834" y="3698100"/>
              <a:ext cx="935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dirty="0" err="1"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정보현</a:t>
              </a:r>
              <a:endParaRPr lang="ko-KR" altLang="en-US" dirty="0"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96D6AA6-BB3A-4178-9145-F38B899F7F3D}"/>
                </a:ext>
              </a:extLst>
            </p:cNvPr>
            <p:cNvSpPr txBox="1"/>
            <p:nvPr/>
          </p:nvSpPr>
          <p:spPr>
            <a:xfrm>
              <a:off x="7543696" y="3774672"/>
              <a:ext cx="111161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팀원</a:t>
              </a: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3708EC17-FAD4-497B-B3F4-916304FFEF5A}"/>
                </a:ext>
              </a:extLst>
            </p:cNvPr>
            <p:cNvGrpSpPr/>
            <p:nvPr/>
          </p:nvGrpSpPr>
          <p:grpSpPr>
            <a:xfrm>
              <a:off x="6494260" y="4067432"/>
              <a:ext cx="1607820" cy="215444"/>
              <a:chOff x="1287780" y="4034552"/>
              <a:chExt cx="1607820" cy="215444"/>
            </a:xfrm>
          </p:grpSpPr>
          <p:sp>
            <p:nvSpPr>
              <p:cNvPr id="105" name="사각형: 둥근 모서리 104">
                <a:extLst>
                  <a:ext uri="{FF2B5EF4-FFF2-40B4-BE49-F238E27FC236}">
                    <a16:creationId xmlns:a16="http://schemas.microsoft.com/office/drawing/2014/main" id="{229D9BED-3078-4452-B17E-B2A0181CADB5}"/>
                  </a:ext>
                </a:extLst>
              </p:cNvPr>
              <p:cNvSpPr/>
              <p:nvPr/>
            </p:nvSpPr>
            <p:spPr>
              <a:xfrm>
                <a:off x="1287780" y="4034552"/>
                <a:ext cx="1607820" cy="191512"/>
              </a:xfrm>
              <a:prstGeom prst="roundRect">
                <a:avLst>
                  <a:gd name="adj" fmla="val 32582"/>
                </a:avLst>
              </a:prstGeom>
              <a:solidFill>
                <a:srgbClr val="92A3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8A69142-D4FF-462F-8AF9-FB2EA7A4A11E}"/>
                  </a:ext>
                </a:extLst>
              </p:cNvPr>
              <p:cNvSpPr txBox="1"/>
              <p:nvPr/>
            </p:nvSpPr>
            <p:spPr>
              <a:xfrm>
                <a:off x="1287780" y="4034552"/>
                <a:ext cx="160782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4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_</a:t>
                </a:r>
                <a:r>
                  <a:rPr lang="ko-KR" altLang="en-US" sz="800" dirty="0" err="1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도와조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(HELP)</a:t>
                </a:r>
                <a:endParaRPr lang="ko-KR" altLang="en-US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endParaRPr>
              </a:p>
            </p:txBody>
          </p:sp>
        </p:grpSp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6B9D7487-DD4D-460E-B3A5-D4AFE6E64D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840" b="14080"/>
            <a:stretch>
              <a:fillRect/>
            </a:stretch>
          </p:blipFill>
          <p:spPr>
            <a:xfrm>
              <a:off x="6732375" y="2090653"/>
              <a:ext cx="1184400" cy="1542050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0200DCF-12C9-4046-A47C-2B73CA2E46B0}"/>
                </a:ext>
              </a:extLst>
            </p:cNvPr>
            <p:cNvSpPr txBox="1"/>
            <p:nvPr/>
          </p:nvSpPr>
          <p:spPr>
            <a:xfrm>
              <a:off x="6745678" y="4557435"/>
              <a:ext cx="192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로그인 페이지 구현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E67E2B-83CC-4E72-92E0-EBDAF0B899E5}"/>
                </a:ext>
              </a:extLst>
            </p:cNvPr>
            <p:cNvSpPr txBox="1"/>
            <p:nvPr/>
          </p:nvSpPr>
          <p:spPr>
            <a:xfrm>
              <a:off x="6745678" y="5001935"/>
              <a:ext cx="192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로그인 기능 구현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494B755-9E06-496D-AF88-E6A5D87CF9CB}"/>
                </a:ext>
              </a:extLst>
            </p:cNvPr>
            <p:cNvSpPr txBox="1"/>
            <p:nvPr/>
          </p:nvSpPr>
          <p:spPr>
            <a:xfrm>
              <a:off x="6745678" y="5484535"/>
              <a:ext cx="192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GmarketSansLight" panose="02000000000000000000" pitchFamily="50" charset="-127"/>
                  <a:ea typeface="GmarketSansLight" panose="02000000000000000000" pitchFamily="50" charset="-127"/>
                </a:rPr>
                <a:t>자료조사</a:t>
              </a:r>
            </a:p>
          </p:txBody>
        </p:sp>
        <p:pic>
          <p:nvPicPr>
            <p:cNvPr id="162" name="그림 161">
              <a:extLst>
                <a:ext uri="{FF2B5EF4-FFF2-40B4-BE49-F238E27FC236}">
                  <a16:creationId xmlns:a16="http://schemas.microsoft.com/office/drawing/2014/main" id="{7B8357A7-F406-452A-800C-26E82D602D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7" t="87718" r="82415" b="4445"/>
            <a:stretch/>
          </p:blipFill>
          <p:spPr>
            <a:xfrm>
              <a:off x="6515710" y="5443180"/>
              <a:ext cx="264685" cy="227955"/>
            </a:xfrm>
            <a:prstGeom prst="rect">
              <a:avLst/>
            </a:prstGeom>
          </p:spPr>
        </p:pic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C711F3D6-0B19-44C6-99F1-2F3D847CAA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02" t="77030" r="4021" b="13658"/>
            <a:stretch/>
          </p:blipFill>
          <p:spPr>
            <a:xfrm>
              <a:off x="6492105" y="4508227"/>
              <a:ext cx="351671" cy="327718"/>
            </a:xfrm>
            <a:prstGeom prst="rect">
              <a:avLst/>
            </a:prstGeom>
          </p:spPr>
        </p:pic>
        <p:pic>
          <p:nvPicPr>
            <p:cNvPr id="79" name="Picture 4" descr="Samsung, Phone, Phone Transparent, Smartphone">
              <a:extLst>
                <a:ext uri="{FF2B5EF4-FFF2-40B4-BE49-F238E27FC236}">
                  <a16:creationId xmlns:a16="http://schemas.microsoft.com/office/drawing/2014/main" id="{3DC0788C-C13D-4410-A891-8B84B1983A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83" t="9754" r="40278" b="5555"/>
            <a:stretch/>
          </p:blipFill>
          <p:spPr bwMode="auto">
            <a:xfrm>
              <a:off x="6045993" y="1244824"/>
              <a:ext cx="2409072" cy="5069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70D2C79-C10D-4C1A-AAC6-8DCF319FFFF5}"/>
              </a:ext>
            </a:extLst>
          </p:cNvPr>
          <p:cNvSpPr/>
          <p:nvPr/>
        </p:nvSpPr>
        <p:spPr>
          <a:xfrm>
            <a:off x="8750791" y="1556880"/>
            <a:ext cx="2225040" cy="1767840"/>
          </a:xfrm>
          <a:prstGeom prst="rect">
            <a:avLst/>
          </a:prstGeom>
          <a:solidFill>
            <a:srgbClr val="859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52271F9-8601-4D1A-A10B-8999E919595A}"/>
              </a:ext>
            </a:extLst>
          </p:cNvPr>
          <p:cNvSpPr txBox="1"/>
          <p:nvPr/>
        </p:nvSpPr>
        <p:spPr>
          <a:xfrm>
            <a:off x="9361885" y="3698100"/>
            <a:ext cx="93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dirty="0" err="1">
                <a:latin typeface="GmarketSansMedium" panose="02000000000000000000" pitchFamily="50" charset="-127"/>
                <a:ea typeface="GmarketSansMedium" panose="02000000000000000000" pitchFamily="50" charset="-127"/>
              </a:rPr>
              <a:t>전하빈</a:t>
            </a:r>
            <a:endParaRPr lang="ko-KR" altLang="en-US" dirty="0"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18ED240-23BC-43B8-A92A-4B8D89F36928}"/>
              </a:ext>
            </a:extLst>
          </p:cNvPr>
          <p:cNvSpPr txBox="1"/>
          <p:nvPr/>
        </p:nvSpPr>
        <p:spPr>
          <a:xfrm>
            <a:off x="10150747" y="3774672"/>
            <a:ext cx="1111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GmarketSansMedium" panose="02000000000000000000" pitchFamily="50" charset="-127"/>
                <a:ea typeface="GmarketSansMedium" panose="02000000000000000000" pitchFamily="50" charset="-127"/>
              </a:rPr>
              <a:t>팀원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22B1599-A061-4592-96A3-3A638E8F472D}"/>
              </a:ext>
            </a:extLst>
          </p:cNvPr>
          <p:cNvGrpSpPr/>
          <p:nvPr/>
        </p:nvGrpSpPr>
        <p:grpSpPr>
          <a:xfrm>
            <a:off x="9101311" y="4067432"/>
            <a:ext cx="1607820" cy="215444"/>
            <a:chOff x="1287780" y="4034552"/>
            <a:chExt cx="1607820" cy="215444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A7058E08-3652-4055-9FCA-7C83EADDDCEB}"/>
                </a:ext>
              </a:extLst>
            </p:cNvPr>
            <p:cNvSpPr/>
            <p:nvPr/>
          </p:nvSpPr>
          <p:spPr>
            <a:xfrm>
              <a:off x="1287780" y="4034552"/>
              <a:ext cx="1607820" cy="191512"/>
            </a:xfrm>
            <a:prstGeom prst="roundRect">
              <a:avLst>
                <a:gd name="adj" fmla="val 32582"/>
              </a:avLst>
            </a:prstGeom>
            <a:solidFill>
              <a:srgbClr val="92A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68EDC52-BD51-405E-94E4-43B781CAFECE}"/>
                </a:ext>
              </a:extLst>
            </p:cNvPr>
            <p:cNvSpPr txBox="1"/>
            <p:nvPr/>
          </p:nvSpPr>
          <p:spPr>
            <a:xfrm>
              <a:off x="1287780" y="4034552"/>
              <a:ext cx="16078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4</a:t>
              </a:r>
              <a:r>
                <a:rPr lang="ko-KR" altLang="en-US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조</a:t>
              </a:r>
              <a:r>
                <a:rPr lang="en-US" altLang="ko-KR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_</a:t>
              </a:r>
              <a:r>
                <a:rPr lang="ko-KR" altLang="en-US" sz="800" dirty="0" err="1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도와조</a:t>
              </a:r>
              <a:r>
                <a:rPr lang="en-US" altLang="ko-KR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(HELP)</a:t>
              </a:r>
              <a:endParaRPr lang="ko-KR" altLang="en-US" sz="8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F70AF1E5-A344-4911-9EF5-16DCCF72BBB6}"/>
              </a:ext>
            </a:extLst>
          </p:cNvPr>
          <p:cNvSpPr txBox="1"/>
          <p:nvPr/>
        </p:nvSpPr>
        <p:spPr>
          <a:xfrm>
            <a:off x="9341026" y="4559708"/>
            <a:ext cx="1924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회원가입 페이지 구현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35FF9F1-0FA0-4759-A97E-1209FCB6E755}"/>
              </a:ext>
            </a:extLst>
          </p:cNvPr>
          <p:cNvSpPr txBox="1"/>
          <p:nvPr/>
        </p:nvSpPr>
        <p:spPr>
          <a:xfrm>
            <a:off x="9341026" y="5004208"/>
            <a:ext cx="1924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유효성 검사 구현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BF833C7-4BF9-4F7D-AC23-E39549DCB56C}"/>
              </a:ext>
            </a:extLst>
          </p:cNvPr>
          <p:cNvSpPr txBox="1"/>
          <p:nvPr/>
        </p:nvSpPr>
        <p:spPr>
          <a:xfrm>
            <a:off x="9341026" y="5486808"/>
            <a:ext cx="1924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자료조사 및 </a:t>
            </a:r>
            <a:r>
              <a:rPr lang="en-US" altLang="ko-KR" sz="900" dirty="0">
                <a:latin typeface="GmarketSansLight" panose="02000000000000000000" pitchFamily="50" charset="-127"/>
                <a:ea typeface="GmarketSansLight" panose="02000000000000000000" pitchFamily="50" charset="-127"/>
              </a:rPr>
              <a:t>PPT</a:t>
            </a:r>
            <a:endParaRPr lang="ko-KR" altLang="en-US" sz="900" dirty="0">
              <a:latin typeface="GmarketSansLight" panose="02000000000000000000" pitchFamily="50" charset="-127"/>
              <a:ea typeface="GmarketSansLight" panose="02000000000000000000" pitchFamily="50" charset="-127"/>
            </a:endParaRPr>
          </a:p>
        </p:txBody>
      </p:sp>
      <p:pic>
        <p:nvPicPr>
          <p:cNvPr id="166" name="그림 165">
            <a:extLst>
              <a:ext uri="{FF2B5EF4-FFF2-40B4-BE49-F238E27FC236}">
                <a16:creationId xmlns:a16="http://schemas.microsoft.com/office/drawing/2014/main" id="{CB6AF837-8FDA-4048-8B05-2F88906537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25927" r="19487" b="63703"/>
          <a:stretch/>
        </p:blipFill>
        <p:spPr>
          <a:xfrm>
            <a:off x="9128301" y="4498626"/>
            <a:ext cx="301618" cy="301618"/>
          </a:xfrm>
          <a:prstGeom prst="rect">
            <a:avLst/>
          </a:prstGeom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957DC494-5B69-435C-97DB-35FE5600E10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16" t="26507" r="38444" b="63810"/>
          <a:stretch/>
        </p:blipFill>
        <p:spPr>
          <a:xfrm>
            <a:off x="9056270" y="5415108"/>
            <a:ext cx="363176" cy="281614"/>
          </a:xfrm>
          <a:prstGeom prst="rect">
            <a:avLst/>
          </a:prstGeom>
        </p:spPr>
      </p:pic>
      <p:pic>
        <p:nvPicPr>
          <p:cNvPr id="168" name="그림 167">
            <a:extLst>
              <a:ext uri="{FF2B5EF4-FFF2-40B4-BE49-F238E27FC236}">
                <a16:creationId xmlns:a16="http://schemas.microsoft.com/office/drawing/2014/main" id="{3B7E38BD-C026-488D-85C9-7BF856D35DA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26878" r="81278" b="63810"/>
          <a:stretch/>
        </p:blipFill>
        <p:spPr>
          <a:xfrm>
            <a:off x="9127658" y="4990851"/>
            <a:ext cx="272423" cy="270841"/>
          </a:xfrm>
          <a:prstGeom prst="rect">
            <a:avLst/>
          </a:prstGeom>
        </p:spPr>
      </p:pic>
      <p:grpSp>
        <p:nvGrpSpPr>
          <p:cNvPr id="84" name="그룹 83">
            <a:extLst>
              <a:ext uri="{FF2B5EF4-FFF2-40B4-BE49-F238E27FC236}">
                <a16:creationId xmlns:a16="http://schemas.microsoft.com/office/drawing/2014/main" id="{E8F96517-07EC-4887-A20F-651B65CC19A1}"/>
              </a:ext>
            </a:extLst>
          </p:cNvPr>
          <p:cNvGrpSpPr/>
          <p:nvPr/>
        </p:nvGrpSpPr>
        <p:grpSpPr>
          <a:xfrm>
            <a:off x="9363336" y="2083733"/>
            <a:ext cx="1111613" cy="1505098"/>
            <a:chOff x="6248400" y="2161309"/>
            <a:chExt cx="2937165" cy="3885052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B1CFD4D-93D7-45AC-AE22-C8F58CE66401}"/>
                </a:ext>
              </a:extLst>
            </p:cNvPr>
            <p:cNvSpPr/>
            <p:nvPr/>
          </p:nvSpPr>
          <p:spPr>
            <a:xfrm>
              <a:off x="6248400" y="2161309"/>
              <a:ext cx="2937164" cy="38850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7AE4D742-A46D-4209-B85B-F282B4F547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1857" b="98286" l="1067" r="97467">
                          <a14:foregroundMark x1="23133" y1="80476" x2="23133" y2="80476"/>
                          <a14:foregroundMark x1="33400" y1="70762" x2="10000" y2="80619"/>
                          <a14:foregroundMark x1="10000" y1="80619" x2="48800" y2="94952"/>
                          <a14:foregroundMark x1="48800" y1="94952" x2="65800" y2="90190"/>
                          <a14:foregroundMark x1="65800" y1="90190" x2="61533" y2="85857"/>
                          <a14:foregroundMark x1="10933" y1="72762" x2="46667" y2="90286"/>
                          <a14:foregroundMark x1="46667" y1="90286" x2="65800" y2="82381"/>
                          <a14:foregroundMark x1="65800" y1="82381" x2="65800" y2="82143"/>
                          <a14:foregroundMark x1="11867" y1="76143" x2="1933" y2="95429"/>
                          <a14:foregroundMark x1="1933" y1="95429" x2="29400" y2="96810"/>
                          <a14:foregroundMark x1="29400" y1="96810" x2="49733" y2="87857"/>
                          <a14:foregroundMark x1="49733" y1="87857" x2="1067" y2="76810"/>
                          <a14:foregroundMark x1="20733" y1="83476" x2="61333" y2="89667"/>
                          <a14:foregroundMark x1="61333" y1="89667" x2="74867" y2="82714"/>
                          <a14:foregroundMark x1="74867" y1="82714" x2="25467" y2="84857"/>
                          <a14:foregroundMark x1="64333" y1="59381" x2="83933" y2="67952"/>
                          <a14:foregroundMark x1="83933" y1="67952" x2="97533" y2="83429"/>
                          <a14:foregroundMark x1="97533" y1="83429" x2="95000" y2="97286"/>
                          <a14:foregroundMark x1="95000" y1="97286" x2="72067" y2="96095"/>
                          <a14:foregroundMark x1="72067" y1="96095" x2="58333" y2="78619"/>
                          <a14:foregroundMark x1="58333" y1="78619" x2="70200" y2="68762"/>
                          <a14:foregroundMark x1="70200" y1="68762" x2="64867" y2="64095"/>
                          <a14:foregroundMark x1="85933" y1="73810" x2="97467" y2="85619"/>
                          <a14:foregroundMark x1="97467" y1="85619" x2="82733" y2="94619"/>
                          <a14:foregroundMark x1="82733" y1="94619" x2="85467" y2="75143"/>
                          <a14:foregroundMark x1="67200" y1="90190" x2="45133" y2="92857"/>
                          <a14:foregroundMark x1="45133" y1="92857" x2="77667" y2="93333"/>
                          <a14:foregroundMark x1="77667" y1="93333" x2="45000" y2="90857"/>
                          <a14:foregroundMark x1="45000" y1="90857" x2="40933" y2="91524"/>
                          <a14:foregroundMark x1="91067" y1="99571" x2="55267" y2="86714"/>
                          <a14:foregroundMark x1="55267" y1="86714" x2="7600" y2="81810"/>
                          <a14:foregroundMark x1="7600" y1="81810" x2="19733" y2="91000"/>
                          <a14:foregroundMark x1="19733" y1="91000" x2="40067" y2="98857"/>
                          <a14:foregroundMark x1="40067" y1="98857" x2="85000" y2="94429"/>
                          <a14:foregroundMark x1="85000" y1="94429" x2="93933" y2="96571"/>
                          <a14:foregroundMark x1="34333" y1="92190" x2="15200" y2="92429"/>
                          <a14:foregroundMark x1="15200" y1="92429" x2="36400" y2="94238"/>
                          <a14:foregroundMark x1="36400" y1="94238" x2="32467" y2="93190"/>
                          <a14:foregroundMark x1="37667" y1="99238" x2="18400" y2="95762"/>
                          <a14:foregroundMark x1="18400" y1="95762" x2="533" y2="98286"/>
                          <a14:foregroundMark x1="533" y1="98286" x2="39600" y2="98333"/>
                          <a14:foregroundMark x1="39600" y1="98333" x2="39067" y2="97905"/>
                          <a14:foregroundMark x1="46067" y1="11857" x2="57800" y2="11857"/>
                        </a14:backgroundRemoval>
                      </a14:imgEffect>
                    </a14:imgLayer>
                  </a14:imgProps>
                </a:ext>
              </a:extLst>
            </a:blip>
            <a:srcRect t="3217" b="3636"/>
            <a:stretch/>
          </p:blipFill>
          <p:spPr>
            <a:xfrm>
              <a:off x="6252850" y="2192668"/>
              <a:ext cx="2932715" cy="3853693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0484A3-411B-465D-9A22-10EA662DF74A}"/>
              </a:ext>
            </a:extLst>
          </p:cNvPr>
          <p:cNvGrpSpPr/>
          <p:nvPr/>
        </p:nvGrpSpPr>
        <p:grpSpPr>
          <a:xfrm>
            <a:off x="3438943" y="1207753"/>
            <a:ext cx="2409072" cy="5069391"/>
            <a:chOff x="3438943" y="1207753"/>
            <a:chExt cx="2409072" cy="5069391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3EFF490-490B-4FED-AB72-24C95A74E2B1}"/>
                </a:ext>
              </a:extLst>
            </p:cNvPr>
            <p:cNvSpPr/>
            <p:nvPr/>
          </p:nvSpPr>
          <p:spPr>
            <a:xfrm>
              <a:off x="3536690" y="1396570"/>
              <a:ext cx="2225040" cy="1944624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A481A0-B0AA-436B-9826-2BA916CEDFA6}"/>
                </a:ext>
              </a:extLst>
            </p:cNvPr>
            <p:cNvSpPr txBox="1"/>
            <p:nvPr/>
          </p:nvSpPr>
          <p:spPr>
            <a:xfrm>
              <a:off x="4147784" y="3698100"/>
              <a:ext cx="935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dirty="0">
                  <a:latin typeface="GmarketSansMedium" panose="02000000000000000000" pitchFamily="50" charset="-127"/>
                  <a:ea typeface="GmarketSansMedium" panose="02000000000000000000" pitchFamily="50" charset="-127"/>
                </a:rPr>
                <a:t>이동희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CEF8D10-D1B0-473B-9DED-E053389C1F23}"/>
                </a:ext>
              </a:extLst>
            </p:cNvPr>
            <p:cNvGrpSpPr/>
            <p:nvPr/>
          </p:nvGrpSpPr>
          <p:grpSpPr>
            <a:xfrm>
              <a:off x="3887210" y="4067432"/>
              <a:ext cx="1607820" cy="215444"/>
              <a:chOff x="1287780" y="4034552"/>
              <a:chExt cx="1607820" cy="215444"/>
            </a:xfrm>
          </p:grpSpPr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B9F0FE66-A9D6-48E6-951A-E8FDCF58893F}"/>
                  </a:ext>
                </a:extLst>
              </p:cNvPr>
              <p:cNvSpPr/>
              <p:nvPr/>
            </p:nvSpPr>
            <p:spPr>
              <a:xfrm>
                <a:off x="1287780" y="4034552"/>
                <a:ext cx="1607820" cy="191512"/>
              </a:xfrm>
              <a:prstGeom prst="roundRect">
                <a:avLst>
                  <a:gd name="adj" fmla="val 32582"/>
                </a:avLst>
              </a:prstGeom>
              <a:solidFill>
                <a:srgbClr val="92A3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3C4B04-D381-4382-8661-004E14197462}"/>
                  </a:ext>
                </a:extLst>
              </p:cNvPr>
              <p:cNvSpPr txBox="1"/>
              <p:nvPr/>
            </p:nvSpPr>
            <p:spPr>
              <a:xfrm>
                <a:off x="1287780" y="4034552"/>
                <a:ext cx="160782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4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_</a:t>
                </a:r>
                <a:r>
                  <a:rPr lang="ko-KR" altLang="en-US" sz="800" dirty="0" err="1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도와조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GmarketSansMedium" panose="02000000000000000000" pitchFamily="50" charset="-127"/>
                    <a:ea typeface="GmarketSansMedium" panose="02000000000000000000" pitchFamily="50" charset="-127"/>
                  </a:rPr>
                  <a:t>(HELP)</a:t>
                </a:r>
                <a:endParaRPr lang="ko-KR" altLang="en-US" sz="800" dirty="0">
                  <a:solidFill>
                    <a:schemeClr val="bg1"/>
                  </a:solidFill>
                  <a:latin typeface="GmarketSansMedium" panose="02000000000000000000" pitchFamily="50" charset="-127"/>
                  <a:ea typeface="GmarketSansMedium" panose="02000000000000000000" pitchFamily="50" charset="-127"/>
                </a:endParaRPr>
              </a:p>
            </p:txBody>
          </p:sp>
        </p:grp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FFA7FE71-66E7-4699-91A1-A2BB5D9A74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1710" t="880" r="11830" b="34990"/>
            <a:stretch>
              <a:fillRect/>
            </a:stretch>
          </p:blipFill>
          <p:spPr>
            <a:xfrm>
              <a:off x="4085255" y="2114552"/>
              <a:ext cx="1183375" cy="1488625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  <p:pic>
          <p:nvPicPr>
            <p:cNvPr id="155" name="그림 154">
              <a:extLst>
                <a:ext uri="{FF2B5EF4-FFF2-40B4-BE49-F238E27FC236}">
                  <a16:creationId xmlns:a16="http://schemas.microsoft.com/office/drawing/2014/main" id="{626D9BED-8649-484D-9BC9-52D671165F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71" t="63485" r="39946" b="26568"/>
            <a:stretch/>
          </p:blipFill>
          <p:spPr>
            <a:xfrm>
              <a:off x="3920406" y="4525921"/>
              <a:ext cx="311925" cy="263006"/>
            </a:xfrm>
            <a:prstGeom prst="rect">
              <a:avLst/>
            </a:prstGeom>
          </p:spPr>
        </p:pic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05390248-2EBB-4C78-B88D-6344118A9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45" t="51142" r="40654" b="39334"/>
            <a:stretch/>
          </p:blipFill>
          <p:spPr>
            <a:xfrm>
              <a:off x="3931336" y="4984079"/>
              <a:ext cx="266152" cy="244425"/>
            </a:xfrm>
            <a:prstGeom prst="rect">
              <a:avLst/>
            </a:prstGeom>
          </p:spPr>
        </p:pic>
        <p:pic>
          <p:nvPicPr>
            <p:cNvPr id="161" name="그림 160">
              <a:extLst>
                <a:ext uri="{FF2B5EF4-FFF2-40B4-BE49-F238E27FC236}">
                  <a16:creationId xmlns:a16="http://schemas.microsoft.com/office/drawing/2014/main" id="{02325DBE-3580-4950-AEB8-9A58A31F48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89" t="24656" r="59752" b="62222"/>
            <a:stretch/>
          </p:blipFill>
          <p:spPr>
            <a:xfrm>
              <a:off x="3918025" y="5387001"/>
              <a:ext cx="303278" cy="335772"/>
            </a:xfrm>
            <a:prstGeom prst="rect">
              <a:avLst/>
            </a:prstGeom>
          </p:spPr>
        </p:pic>
        <p:pic>
          <p:nvPicPr>
            <p:cNvPr id="67" name="Picture 4" descr="Samsung, Phone, Phone Transparent, Smartphone">
              <a:extLst>
                <a:ext uri="{FF2B5EF4-FFF2-40B4-BE49-F238E27FC236}">
                  <a16:creationId xmlns:a16="http://schemas.microsoft.com/office/drawing/2014/main" id="{E55DCB4C-322E-4C97-B2AC-70735FA75D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83" t="9754" r="40278" b="5555"/>
            <a:stretch/>
          </p:blipFill>
          <p:spPr bwMode="auto">
            <a:xfrm>
              <a:off x="3438943" y="1207753"/>
              <a:ext cx="2409072" cy="5069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1" name="Picture 4" descr="Samsung, Phone, Phone Transparent, Smartphone">
            <a:extLst>
              <a:ext uri="{FF2B5EF4-FFF2-40B4-BE49-F238E27FC236}">
                <a16:creationId xmlns:a16="http://schemas.microsoft.com/office/drawing/2014/main" id="{9CDFC82C-680C-4C78-9AD1-1CEE412B0D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3" t="9754" r="40278" b="5555"/>
          <a:stretch/>
        </p:blipFill>
        <p:spPr bwMode="auto">
          <a:xfrm>
            <a:off x="8653044" y="1244824"/>
            <a:ext cx="2409072" cy="506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38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7325FB-90E7-4FDA-B6E9-3463B3962CD7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FC0C170-108F-4918-BF5B-57DA84EF5A6F}"/>
              </a:ext>
            </a:extLst>
          </p:cNvPr>
          <p:cNvGrpSpPr/>
          <p:nvPr/>
        </p:nvGrpSpPr>
        <p:grpSpPr>
          <a:xfrm>
            <a:off x="544284" y="1162180"/>
            <a:ext cx="11381016" cy="133090"/>
            <a:chOff x="544284" y="1708280"/>
            <a:chExt cx="11381016" cy="13309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355142-B3F7-4FBF-809B-CBA92AC93ADA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CA5B1C-6EE7-4997-9008-559297B19025}"/>
                </a:ext>
              </a:extLst>
            </p:cNvPr>
            <p:cNvSpPr/>
            <p:nvPr/>
          </p:nvSpPr>
          <p:spPr>
            <a:xfrm>
              <a:off x="46146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7CBD186-E620-4338-85F2-F4D5BD5F4A60}"/>
              </a:ext>
            </a:extLst>
          </p:cNvPr>
          <p:cNvSpPr txBox="1"/>
          <p:nvPr/>
        </p:nvSpPr>
        <p:spPr>
          <a:xfrm>
            <a:off x="449814" y="512804"/>
            <a:ext cx="11475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수행 절차 및 방법</a:t>
            </a:r>
            <a:endParaRPr lang="en-US" altLang="ko-KR" sz="3200" dirty="0">
              <a:solidFill>
                <a:schemeClr val="bg2">
                  <a:lumMod val="2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6FF19CB-4EE6-402E-8A29-EFDB6D5BEEAA}"/>
              </a:ext>
            </a:extLst>
          </p:cNvPr>
          <p:cNvGrpSpPr/>
          <p:nvPr/>
        </p:nvGrpSpPr>
        <p:grpSpPr>
          <a:xfrm>
            <a:off x="600734" y="2348083"/>
            <a:ext cx="10346378" cy="148965"/>
            <a:chOff x="544284" y="1717935"/>
            <a:chExt cx="11381016" cy="148965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48D7AC7-53EA-476E-B75C-E6928FE5D350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109281E-F985-45B4-82C3-EAF08D37B290}"/>
                </a:ext>
              </a:extLst>
            </p:cNvPr>
            <p:cNvSpPr/>
            <p:nvPr/>
          </p:nvSpPr>
          <p:spPr>
            <a:xfrm>
              <a:off x="554818" y="1717935"/>
              <a:ext cx="488748" cy="136265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E51471-F86B-4304-AA15-0DF9BC7190A7}"/>
                </a:ext>
              </a:extLst>
            </p:cNvPr>
            <p:cNvSpPr/>
            <p:nvPr/>
          </p:nvSpPr>
          <p:spPr>
            <a:xfrm>
              <a:off x="4199718" y="1730635"/>
              <a:ext cx="488748" cy="136265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4BAB9F1-F6C1-4A07-8C81-32BFD4B7AA7C}"/>
                </a:ext>
              </a:extLst>
            </p:cNvPr>
            <p:cNvSpPr/>
            <p:nvPr/>
          </p:nvSpPr>
          <p:spPr>
            <a:xfrm>
              <a:off x="7997018" y="1717935"/>
              <a:ext cx="488748" cy="136265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ABD2B07-6DBF-4B9D-A0E0-ACDD670615EB}"/>
              </a:ext>
            </a:extLst>
          </p:cNvPr>
          <p:cNvGrpSpPr/>
          <p:nvPr/>
        </p:nvGrpSpPr>
        <p:grpSpPr>
          <a:xfrm>
            <a:off x="600734" y="4479869"/>
            <a:ext cx="7067509" cy="136265"/>
            <a:chOff x="543005" y="1717935"/>
            <a:chExt cx="11382295" cy="136265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82D12B9-BEF8-4A8C-A4CA-423DEFCF0958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19B3DD2-9ECF-4675-8EC6-EA732CB688CB}"/>
                </a:ext>
              </a:extLst>
            </p:cNvPr>
            <p:cNvSpPr/>
            <p:nvPr/>
          </p:nvSpPr>
          <p:spPr>
            <a:xfrm>
              <a:off x="543005" y="1717935"/>
              <a:ext cx="715575" cy="136265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9F0CCEF-9A59-4147-A478-CD988B4CD117}"/>
                </a:ext>
              </a:extLst>
            </p:cNvPr>
            <p:cNvSpPr/>
            <p:nvPr/>
          </p:nvSpPr>
          <p:spPr>
            <a:xfrm>
              <a:off x="5977045" y="1717935"/>
              <a:ext cx="715575" cy="136265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85F47D-2E70-4A5E-886F-C2D7DD605AFC}"/>
              </a:ext>
            </a:extLst>
          </p:cNvPr>
          <p:cNvSpPr txBox="1"/>
          <p:nvPr/>
        </p:nvSpPr>
        <p:spPr>
          <a:xfrm>
            <a:off x="1028701" y="1990929"/>
            <a:ext cx="225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09.09 - 09.09</a:t>
            </a:r>
            <a:endParaRPr lang="ko-KR" altLang="en-US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219E0-A068-4086-901A-04CCBD95974A}"/>
              </a:ext>
            </a:extLst>
          </p:cNvPr>
          <p:cNvSpPr txBox="1"/>
          <p:nvPr/>
        </p:nvSpPr>
        <p:spPr>
          <a:xfrm>
            <a:off x="4391283" y="1990929"/>
            <a:ext cx="225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09.10 - 09.11 </a:t>
            </a:r>
            <a:endParaRPr lang="ko-KR" altLang="en-US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A465D2-E953-4A8E-B918-D859F9326C0B}"/>
              </a:ext>
            </a:extLst>
          </p:cNvPr>
          <p:cNvSpPr txBox="1"/>
          <p:nvPr/>
        </p:nvSpPr>
        <p:spPr>
          <a:xfrm>
            <a:off x="7753864" y="1994489"/>
            <a:ext cx="225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09.12 - 09.16</a:t>
            </a:r>
            <a:endParaRPr lang="ko-KR" altLang="en-US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BA34-3291-4F86-9F9B-57DFD03FDEB7}"/>
              </a:ext>
            </a:extLst>
          </p:cNvPr>
          <p:cNvSpPr txBox="1"/>
          <p:nvPr/>
        </p:nvSpPr>
        <p:spPr>
          <a:xfrm>
            <a:off x="1079503" y="4175326"/>
            <a:ext cx="225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09.17 - 09.26</a:t>
            </a:r>
            <a:endParaRPr lang="ko-KR" altLang="en-US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12E742-5E3D-48C7-AC72-FA08B835479B}"/>
              </a:ext>
            </a:extLst>
          </p:cNvPr>
          <p:cNvSpPr txBox="1"/>
          <p:nvPr/>
        </p:nvSpPr>
        <p:spPr>
          <a:xfrm>
            <a:off x="4442085" y="4175326"/>
            <a:ext cx="225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09.27</a:t>
            </a:r>
            <a:endParaRPr lang="ko-KR" altLang="en-US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61B5EE-19C0-49C3-9F59-82E6D003A087}"/>
              </a:ext>
            </a:extLst>
          </p:cNvPr>
          <p:cNvSpPr txBox="1"/>
          <p:nvPr/>
        </p:nvSpPr>
        <p:spPr>
          <a:xfrm>
            <a:off x="1006931" y="2613226"/>
            <a:ext cx="2864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프로젝트 기간별 계획 수립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, 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레이아웃 구상 및 기타 회의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endParaRPr lang="ko-KR" altLang="en-US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546181-F84B-4474-83F7-57CCCBB5D60D}"/>
              </a:ext>
            </a:extLst>
          </p:cNvPr>
          <p:cNvSpPr txBox="1"/>
          <p:nvPr/>
        </p:nvSpPr>
        <p:spPr>
          <a:xfrm>
            <a:off x="4352477" y="2605970"/>
            <a:ext cx="2864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데이터 베이스 설계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,</a:t>
            </a: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레이아웃 구성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17BD1-90E2-4203-AE5C-7CB871C99A53}"/>
              </a:ext>
            </a:extLst>
          </p:cNvPr>
          <p:cNvSpPr txBox="1"/>
          <p:nvPr/>
        </p:nvSpPr>
        <p:spPr>
          <a:xfrm>
            <a:off x="1014189" y="4743198"/>
            <a:ext cx="2864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디버깅 및 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GPS 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검증 후 최종 점검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8257C7-9E22-4BEE-9957-177A27D1CBB9}"/>
              </a:ext>
            </a:extLst>
          </p:cNvPr>
          <p:cNvSpPr txBox="1"/>
          <p:nvPr/>
        </p:nvSpPr>
        <p:spPr>
          <a:xfrm>
            <a:off x="4359735" y="4735942"/>
            <a:ext cx="2864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2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차 프로젝트 완성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및 발표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FD15C9-2AC3-477E-96EA-F9E3E9215965}"/>
              </a:ext>
            </a:extLst>
          </p:cNvPr>
          <p:cNvSpPr txBox="1"/>
          <p:nvPr/>
        </p:nvSpPr>
        <p:spPr>
          <a:xfrm>
            <a:off x="7770589" y="2613228"/>
            <a:ext cx="2864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담당 기능 구현 후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에러 수정</a:t>
            </a:r>
          </a:p>
        </p:txBody>
      </p:sp>
    </p:spTree>
    <p:extLst>
      <p:ext uri="{BB962C8B-B14F-4D97-AF65-F5344CB8AC3E}">
        <p14:creationId xmlns:p14="http://schemas.microsoft.com/office/powerpoint/2010/main" val="377672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3B2DF6E9-0C35-4A86-8282-06890EE5C9B8}"/>
              </a:ext>
            </a:extLst>
          </p:cNvPr>
          <p:cNvSpPr/>
          <p:nvPr/>
        </p:nvSpPr>
        <p:spPr>
          <a:xfrm>
            <a:off x="1597508" y="1953854"/>
            <a:ext cx="3325091" cy="33276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B713E-1003-4367-9860-008B79481F10}"/>
              </a:ext>
            </a:extLst>
          </p:cNvPr>
          <p:cNvSpPr txBox="1"/>
          <p:nvPr/>
        </p:nvSpPr>
        <p:spPr>
          <a:xfrm>
            <a:off x="0" y="314266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프로젝트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1C2F25-2EB4-4755-B5EC-18E7A97BFC56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54E1B69-A7BF-40D6-842C-2C48BF73F5B9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177D79-512E-4DBA-84AF-21B668832EF1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C7636E-3A2F-4E82-A419-02B138DA6CA9}"/>
              </a:ext>
            </a:extLst>
          </p:cNvPr>
          <p:cNvGrpSpPr/>
          <p:nvPr/>
        </p:nvGrpSpPr>
        <p:grpSpPr>
          <a:xfrm>
            <a:off x="2669056" y="2493646"/>
            <a:ext cx="1198350" cy="2122965"/>
            <a:chOff x="2413558" y="1841648"/>
            <a:chExt cx="1508680" cy="317470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5E33140-D9C2-426A-BA9D-CD7B3A0383A0}"/>
                </a:ext>
              </a:extLst>
            </p:cNvPr>
            <p:cNvSpPr/>
            <p:nvPr/>
          </p:nvSpPr>
          <p:spPr>
            <a:xfrm>
              <a:off x="2450629" y="2014151"/>
              <a:ext cx="1404680" cy="28544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Picture 4" descr="Samsung, Phone, Phone Transparent, Smartphone">
              <a:extLst>
                <a:ext uri="{FF2B5EF4-FFF2-40B4-BE49-F238E27FC236}">
                  <a16:creationId xmlns:a16="http://schemas.microsoft.com/office/drawing/2014/main" id="{EE09EB55-584A-4579-9CFD-D16C618825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83" t="9754" r="40278" b="5555"/>
            <a:stretch/>
          </p:blipFill>
          <p:spPr bwMode="auto">
            <a:xfrm>
              <a:off x="2413558" y="1841648"/>
              <a:ext cx="1508680" cy="31747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F9B5FE8-DD81-4CDC-A6FB-E7D65DDB5284}"/>
              </a:ext>
            </a:extLst>
          </p:cNvPr>
          <p:cNvSpPr txBox="1"/>
          <p:nvPr/>
        </p:nvSpPr>
        <p:spPr>
          <a:xfrm>
            <a:off x="2580329" y="3173215"/>
            <a:ext cx="1357432" cy="713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환자 위치</a:t>
            </a:r>
            <a:endParaRPr lang="en-US" altLang="ko-KR" sz="1500" dirty="0">
              <a:solidFill>
                <a:schemeClr val="tx1">
                  <a:lumMod val="65000"/>
                  <a:lumOff val="3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(GPS)</a:t>
            </a:r>
            <a:r>
              <a:rPr lang="ko-KR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파악 </a:t>
            </a:r>
            <a:endParaRPr lang="en-US" altLang="ko-KR" sz="1500" dirty="0">
              <a:solidFill>
                <a:schemeClr val="tx1">
                  <a:lumMod val="65000"/>
                  <a:lumOff val="3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서비스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17BD61A-1B06-4A96-91DD-927D9D1D9614}"/>
              </a:ext>
            </a:extLst>
          </p:cNvPr>
          <p:cNvGrpSpPr/>
          <p:nvPr/>
        </p:nvGrpSpPr>
        <p:grpSpPr>
          <a:xfrm>
            <a:off x="3647796" y="4784752"/>
            <a:ext cx="1071434" cy="1061821"/>
            <a:chOff x="2486072" y="4953205"/>
            <a:chExt cx="1178577" cy="1168003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642EFE1-38CB-43A1-810C-6E3093941F98}"/>
                </a:ext>
              </a:extLst>
            </p:cNvPr>
            <p:cNvGrpSpPr/>
            <p:nvPr/>
          </p:nvGrpSpPr>
          <p:grpSpPr>
            <a:xfrm>
              <a:off x="2486072" y="4953205"/>
              <a:ext cx="1178577" cy="1168003"/>
              <a:chOff x="5211036" y="4368393"/>
              <a:chExt cx="1440000" cy="1404000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25E732A-D568-491A-9FE1-16D5C7BC290B}"/>
                  </a:ext>
                </a:extLst>
              </p:cNvPr>
              <p:cNvSpPr/>
              <p:nvPr/>
            </p:nvSpPr>
            <p:spPr>
              <a:xfrm>
                <a:off x="5211036" y="4368393"/>
                <a:ext cx="1440000" cy="140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D5D1F822-E3CC-4EE6-97ED-3CB3700628AB}"/>
                  </a:ext>
                </a:extLst>
              </p:cNvPr>
              <p:cNvSpPr/>
              <p:nvPr/>
            </p:nvSpPr>
            <p:spPr>
              <a:xfrm>
                <a:off x="5284606" y="4441963"/>
                <a:ext cx="1296000" cy="1260000"/>
              </a:xfrm>
              <a:prstGeom prst="ellipse">
                <a:avLst/>
              </a:prstGeom>
              <a:solidFill>
                <a:srgbClr val="E2E2E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2ECFB5D-C8EF-4342-BD26-6DF1B1F3A0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739074" y="5223175"/>
              <a:ext cx="685945" cy="685945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77C4200A-EA0F-425D-8B01-F0061D53564F}"/>
              </a:ext>
            </a:extLst>
          </p:cNvPr>
          <p:cNvGrpSpPr/>
          <p:nvPr/>
        </p:nvGrpSpPr>
        <p:grpSpPr>
          <a:xfrm>
            <a:off x="2250563" y="1195592"/>
            <a:ext cx="1071434" cy="1061821"/>
            <a:chOff x="2995866" y="1043859"/>
            <a:chExt cx="1178577" cy="1168003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24E69081-88B9-4237-817D-6006BFAF275B}"/>
                </a:ext>
              </a:extLst>
            </p:cNvPr>
            <p:cNvGrpSpPr/>
            <p:nvPr/>
          </p:nvGrpSpPr>
          <p:grpSpPr>
            <a:xfrm>
              <a:off x="2995866" y="1043859"/>
              <a:ext cx="1178577" cy="1168003"/>
              <a:chOff x="5211036" y="4368393"/>
              <a:chExt cx="1440000" cy="1404000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D745FAB1-13D8-4083-8887-F15573FF1334}"/>
                  </a:ext>
                </a:extLst>
              </p:cNvPr>
              <p:cNvSpPr/>
              <p:nvPr/>
            </p:nvSpPr>
            <p:spPr>
              <a:xfrm>
                <a:off x="5211036" y="4368393"/>
                <a:ext cx="1440000" cy="140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74BEDE2B-0E1A-4C24-8FF5-BD9011EBF789}"/>
                  </a:ext>
                </a:extLst>
              </p:cNvPr>
              <p:cNvSpPr/>
              <p:nvPr/>
            </p:nvSpPr>
            <p:spPr>
              <a:xfrm>
                <a:off x="5284606" y="4441963"/>
                <a:ext cx="1296000" cy="1260000"/>
              </a:xfrm>
              <a:prstGeom prst="ellipse">
                <a:avLst/>
              </a:prstGeom>
              <a:solidFill>
                <a:srgbClr val="E2E2E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1D0D2E9-CD02-4F86-AB48-BFA38F297D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3037051" y="1309793"/>
              <a:ext cx="1065792" cy="548569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B91136A-70D2-4B71-BF67-2638CDBAC29E}"/>
              </a:ext>
            </a:extLst>
          </p:cNvPr>
          <p:cNvGrpSpPr/>
          <p:nvPr/>
        </p:nvGrpSpPr>
        <p:grpSpPr>
          <a:xfrm>
            <a:off x="902838" y="2596356"/>
            <a:ext cx="1071434" cy="1061821"/>
            <a:chOff x="829908" y="1972419"/>
            <a:chExt cx="1178577" cy="1168003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DBD5504-B579-4C52-B6BB-CABAC13AEDAC}"/>
                </a:ext>
              </a:extLst>
            </p:cNvPr>
            <p:cNvGrpSpPr/>
            <p:nvPr/>
          </p:nvGrpSpPr>
          <p:grpSpPr>
            <a:xfrm>
              <a:off x="829908" y="1972419"/>
              <a:ext cx="1178577" cy="1168003"/>
              <a:chOff x="5211036" y="4368393"/>
              <a:chExt cx="1440000" cy="1404000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E851EBFD-523D-4153-8F38-BFF713223627}"/>
                  </a:ext>
                </a:extLst>
              </p:cNvPr>
              <p:cNvSpPr/>
              <p:nvPr/>
            </p:nvSpPr>
            <p:spPr>
              <a:xfrm>
                <a:off x="5211036" y="4368393"/>
                <a:ext cx="1440000" cy="140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F4E3E36-82E8-429C-8C9F-81B318564682}"/>
                  </a:ext>
                </a:extLst>
              </p:cNvPr>
              <p:cNvSpPr/>
              <p:nvPr/>
            </p:nvSpPr>
            <p:spPr>
              <a:xfrm>
                <a:off x="5284606" y="4441963"/>
                <a:ext cx="1296000" cy="1260000"/>
              </a:xfrm>
              <a:prstGeom prst="ellipse">
                <a:avLst/>
              </a:prstGeom>
              <a:solidFill>
                <a:srgbClr val="E2E2E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63DB3C6-A790-48AE-91C0-829596C61D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1012860" y="2216018"/>
              <a:ext cx="774903" cy="671583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79B7E23-561E-4838-8A53-149A65A81B1E}"/>
              </a:ext>
            </a:extLst>
          </p:cNvPr>
          <p:cNvGrpSpPr/>
          <p:nvPr/>
        </p:nvGrpSpPr>
        <p:grpSpPr>
          <a:xfrm>
            <a:off x="4172887" y="1777961"/>
            <a:ext cx="1071434" cy="1061821"/>
            <a:chOff x="4510197" y="2341758"/>
            <a:chExt cx="1178577" cy="1168003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C6C48FE-F544-4819-8297-1E1CB400708B}"/>
                </a:ext>
              </a:extLst>
            </p:cNvPr>
            <p:cNvGrpSpPr/>
            <p:nvPr/>
          </p:nvGrpSpPr>
          <p:grpSpPr>
            <a:xfrm>
              <a:off x="4510197" y="2341758"/>
              <a:ext cx="1178577" cy="1168003"/>
              <a:chOff x="5211036" y="4368393"/>
              <a:chExt cx="1440000" cy="1404000"/>
            </a:xfrm>
          </p:grpSpPr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8A3D9C4E-4C1E-40DB-A952-B47F5F049A29}"/>
                  </a:ext>
                </a:extLst>
              </p:cNvPr>
              <p:cNvSpPr/>
              <p:nvPr/>
            </p:nvSpPr>
            <p:spPr>
              <a:xfrm>
                <a:off x="5211036" y="4368393"/>
                <a:ext cx="1440000" cy="140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89126BC0-2045-48F4-AB2B-3848C76FB2AE}"/>
                  </a:ext>
                </a:extLst>
              </p:cNvPr>
              <p:cNvSpPr/>
              <p:nvPr/>
            </p:nvSpPr>
            <p:spPr>
              <a:xfrm>
                <a:off x="5284606" y="4441963"/>
                <a:ext cx="1296000" cy="1260000"/>
              </a:xfrm>
              <a:prstGeom prst="ellipse">
                <a:avLst/>
              </a:prstGeom>
              <a:solidFill>
                <a:srgbClr val="E2E2E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F1F41864-7376-4288-B389-4BAC497968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5055648" y="2663413"/>
              <a:ext cx="360333" cy="6822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BE577DFD-1450-4000-97D2-F58A5097AF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>
              <a:off x="4689194" y="2563466"/>
              <a:ext cx="460405" cy="460405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C07BAD4-BDD3-4558-A8DA-61F46729A125}"/>
              </a:ext>
            </a:extLst>
          </p:cNvPr>
          <p:cNvGrpSpPr/>
          <p:nvPr/>
        </p:nvGrpSpPr>
        <p:grpSpPr>
          <a:xfrm>
            <a:off x="4721940" y="3320231"/>
            <a:ext cx="1071434" cy="1061821"/>
            <a:chOff x="4356811" y="4073640"/>
            <a:chExt cx="1178577" cy="1168003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CF98B08C-5C76-451A-BF8E-66089F820A01}"/>
                </a:ext>
              </a:extLst>
            </p:cNvPr>
            <p:cNvGrpSpPr/>
            <p:nvPr/>
          </p:nvGrpSpPr>
          <p:grpSpPr>
            <a:xfrm>
              <a:off x="4356811" y="4073640"/>
              <a:ext cx="1178577" cy="1168003"/>
              <a:chOff x="5211036" y="4368393"/>
              <a:chExt cx="1440000" cy="1404000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1FAF246C-BACC-42D4-9D01-93FD9DDD2E55}"/>
                  </a:ext>
                </a:extLst>
              </p:cNvPr>
              <p:cNvSpPr/>
              <p:nvPr/>
            </p:nvSpPr>
            <p:spPr>
              <a:xfrm>
                <a:off x="5211036" y="4368393"/>
                <a:ext cx="1440000" cy="140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C424553-A7CD-4329-BB9F-54169BB20616}"/>
                  </a:ext>
                </a:extLst>
              </p:cNvPr>
              <p:cNvSpPr/>
              <p:nvPr/>
            </p:nvSpPr>
            <p:spPr>
              <a:xfrm>
                <a:off x="5284606" y="4441963"/>
                <a:ext cx="1296000" cy="1260000"/>
              </a:xfrm>
              <a:prstGeom prst="ellipse">
                <a:avLst/>
              </a:prstGeom>
              <a:solidFill>
                <a:srgbClr val="E2E2E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4359A32-94B7-436B-B0E4-C000EDB8A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138" y="4295627"/>
              <a:ext cx="897922" cy="720134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E87B78C9-6E34-485D-BF6E-64A6317234FC}"/>
              </a:ext>
            </a:extLst>
          </p:cNvPr>
          <p:cNvSpPr txBox="1"/>
          <p:nvPr/>
        </p:nvSpPr>
        <p:spPr>
          <a:xfrm>
            <a:off x="7456006" y="2230580"/>
            <a:ext cx="286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로그인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/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회원가입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기능 구현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7357A7D-928B-4B0F-BA7C-04E7D86CA874}"/>
              </a:ext>
            </a:extLst>
          </p:cNvPr>
          <p:cNvSpPr txBox="1"/>
          <p:nvPr/>
        </p:nvSpPr>
        <p:spPr>
          <a:xfrm>
            <a:off x="7456006" y="3177062"/>
            <a:ext cx="3325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카카오 맵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/API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를 활용한 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기능 구현 및 </a:t>
            </a:r>
            <a:r>
              <a:rPr lang="ko-KR" altLang="en-US" dirty="0" err="1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인포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윈도우 구현</a:t>
            </a: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C08D6649-2BFE-4AE6-BBE1-3AECCC7230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69" y="4312954"/>
            <a:ext cx="2274808" cy="227480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399B05AB-0ABC-4572-8AAC-F68C9F70D184}"/>
              </a:ext>
            </a:extLst>
          </p:cNvPr>
          <p:cNvSpPr txBox="1"/>
          <p:nvPr/>
        </p:nvSpPr>
        <p:spPr>
          <a:xfrm>
            <a:off x="7443306" y="4256562"/>
            <a:ext cx="3325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위도</a:t>
            </a:r>
            <a:r>
              <a:rPr lang="en-US" altLang="ko-KR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, </a:t>
            </a:r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경도를 활용하여</a:t>
            </a:r>
            <a:endParaRPr lang="en-US" altLang="ko-KR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r>
              <a:rPr lang="ko-KR" altLang="en-US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내 위치에서의 상대방 거리 계산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680B464-FD61-44D2-98E8-8166072D077D}"/>
              </a:ext>
            </a:extLst>
          </p:cNvPr>
          <p:cNvSpPr/>
          <p:nvPr/>
        </p:nvSpPr>
        <p:spPr>
          <a:xfrm>
            <a:off x="6941916" y="2280596"/>
            <a:ext cx="195590" cy="157807"/>
          </a:xfrm>
          <a:prstGeom prst="rect">
            <a:avLst/>
          </a:prstGeom>
          <a:solidFill>
            <a:srgbClr val="859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ADF668D-8894-43A9-AC58-1DA12DDA93E7}"/>
              </a:ext>
            </a:extLst>
          </p:cNvPr>
          <p:cNvSpPr/>
          <p:nvPr/>
        </p:nvSpPr>
        <p:spPr>
          <a:xfrm>
            <a:off x="6941916" y="3353922"/>
            <a:ext cx="195590" cy="157807"/>
          </a:xfrm>
          <a:prstGeom prst="rect">
            <a:avLst/>
          </a:prstGeom>
          <a:solidFill>
            <a:srgbClr val="859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B5BC125-8460-44AE-ACE6-E328E731B88B}"/>
              </a:ext>
            </a:extLst>
          </p:cNvPr>
          <p:cNvSpPr/>
          <p:nvPr/>
        </p:nvSpPr>
        <p:spPr>
          <a:xfrm>
            <a:off x="6941916" y="4427248"/>
            <a:ext cx="195590" cy="157807"/>
          </a:xfrm>
          <a:prstGeom prst="rect">
            <a:avLst/>
          </a:prstGeom>
          <a:solidFill>
            <a:srgbClr val="859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2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B713E-1003-4367-9860-008B79481F10}"/>
              </a:ext>
            </a:extLst>
          </p:cNvPr>
          <p:cNvSpPr txBox="1"/>
          <p:nvPr/>
        </p:nvSpPr>
        <p:spPr>
          <a:xfrm>
            <a:off x="0" y="314266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프로젝트 소개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1C2F25-2EB4-4755-B5EC-18E7A97BFC56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54E1B69-A7BF-40D6-842C-2C48BF73F5B9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177D79-512E-4DBA-84AF-21B668832EF1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32960F-ED34-4BD0-A4DF-CF5304DE9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126" y="2017125"/>
            <a:ext cx="6926883" cy="32180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B80673-91AD-4637-92ED-80619026C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126" y="2029825"/>
            <a:ext cx="7276256" cy="31267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7CF92B3-DC8D-43B3-9308-8EBF7DAAD5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977" y="1317424"/>
            <a:ext cx="7953375" cy="5057775"/>
          </a:xfrm>
          <a:prstGeom prst="rect">
            <a:avLst/>
          </a:prstGeom>
        </p:spPr>
      </p:pic>
      <p:pic>
        <p:nvPicPr>
          <p:cNvPr id="2" name="회원가입 로그인">
            <a:hlinkClick r:id="" action="ppaction://media"/>
            <a:extLst>
              <a:ext uri="{FF2B5EF4-FFF2-40B4-BE49-F238E27FC236}">
                <a16:creationId xmlns:a16="http://schemas.microsoft.com/office/drawing/2014/main" id="{462A96CE-5043-4FD4-8F63-F023692AED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154750" y="1486794"/>
            <a:ext cx="2634051" cy="4671223"/>
          </a:xfrm>
          <a:prstGeom prst="rect">
            <a:avLst/>
          </a:prstGeom>
        </p:spPr>
      </p:pic>
      <p:pic>
        <p:nvPicPr>
          <p:cNvPr id="15" name="Picture 4" descr="Samsung, Phone, Phone Transparent, Smartphone">
            <a:extLst>
              <a:ext uri="{FF2B5EF4-FFF2-40B4-BE49-F238E27FC236}">
                <a16:creationId xmlns:a16="http://schemas.microsoft.com/office/drawing/2014/main" id="{07A8F6C8-F5BA-4CC3-8C33-5FB31E3A4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3" t="9754" r="40278" b="5555"/>
          <a:stretch/>
        </p:blipFill>
        <p:spPr bwMode="auto">
          <a:xfrm>
            <a:off x="9049621" y="1161537"/>
            <a:ext cx="2885542" cy="523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E06290F-2478-4E8F-8199-78D22EEE4E3A}"/>
              </a:ext>
            </a:extLst>
          </p:cNvPr>
          <p:cNvGrpSpPr/>
          <p:nvPr/>
        </p:nvGrpSpPr>
        <p:grpSpPr>
          <a:xfrm>
            <a:off x="256837" y="1011209"/>
            <a:ext cx="8740219" cy="5848350"/>
            <a:chOff x="256837" y="1011209"/>
            <a:chExt cx="8740219" cy="58483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3D3B9D5-E751-4CA3-A643-8C79CC738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6837" y="1011209"/>
              <a:ext cx="6267450" cy="584835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91F390F-FC44-43E8-888B-11CA595B06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b="57222"/>
            <a:stretch/>
          </p:blipFill>
          <p:spPr>
            <a:xfrm>
              <a:off x="4962293" y="2287760"/>
              <a:ext cx="4034763" cy="2868809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B8CDFC56-F438-49D8-8896-7D1F585CF35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42770"/>
          <a:stretch/>
        </p:blipFill>
        <p:spPr>
          <a:xfrm>
            <a:off x="2211440" y="1486794"/>
            <a:ext cx="5160403" cy="490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4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9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B713E-1003-4367-9860-008B79481F10}"/>
              </a:ext>
            </a:extLst>
          </p:cNvPr>
          <p:cNvSpPr txBox="1"/>
          <p:nvPr/>
        </p:nvSpPr>
        <p:spPr>
          <a:xfrm>
            <a:off x="0" y="314266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프로젝트 소개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1C2F25-2EB4-4755-B5EC-18E7A97BFC56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54E1B69-A7BF-40D6-842C-2C48BF73F5B9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177D79-512E-4DBA-84AF-21B668832EF1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FBEF955C-3970-4927-B054-6CB2499A6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42" y="1029125"/>
            <a:ext cx="6631675" cy="56677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92282E-01F9-47F5-B908-32D211FAD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29" y="2282236"/>
            <a:ext cx="7654714" cy="297598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23FE6F8-A4F8-4EF7-A472-F5C9F16353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68" y="1316009"/>
            <a:ext cx="7530599" cy="5159855"/>
          </a:xfrm>
          <a:prstGeom prst="rect">
            <a:avLst/>
          </a:prstGeom>
        </p:spPr>
      </p:pic>
      <p:pic>
        <p:nvPicPr>
          <p:cNvPr id="28" name="환자와의 거리">
            <a:hlinkClick r:id="" action="ppaction://media"/>
            <a:extLst>
              <a:ext uri="{FF2B5EF4-FFF2-40B4-BE49-F238E27FC236}">
                <a16:creationId xmlns:a16="http://schemas.microsoft.com/office/drawing/2014/main" id="{5ECC30BE-893D-4116-B797-6D617363F0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031774" y="1140114"/>
            <a:ext cx="2734427" cy="4849230"/>
          </a:xfrm>
          <a:prstGeom prst="rect">
            <a:avLst/>
          </a:prstGeom>
        </p:spPr>
      </p:pic>
      <p:pic>
        <p:nvPicPr>
          <p:cNvPr id="29" name="Picture 4" descr="Samsung, Phone, Phone Transparent, Smartphone">
            <a:extLst>
              <a:ext uri="{FF2B5EF4-FFF2-40B4-BE49-F238E27FC236}">
                <a16:creationId xmlns:a16="http://schemas.microsoft.com/office/drawing/2014/main" id="{513B7014-B38F-4767-9F4E-AD6A9B746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3" t="9754" r="40278" b="5555"/>
          <a:stretch/>
        </p:blipFill>
        <p:spPr bwMode="auto">
          <a:xfrm>
            <a:off x="8924301" y="992160"/>
            <a:ext cx="3010862" cy="52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BD3A725-45CE-458C-9646-177A73447B3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2079" b="68701"/>
          <a:stretch/>
        </p:blipFill>
        <p:spPr>
          <a:xfrm>
            <a:off x="425799" y="2454707"/>
            <a:ext cx="8224001" cy="23365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1581DF-2A28-4062-97E8-2D405BD18D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5856" y="2267368"/>
            <a:ext cx="6743700" cy="29908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19E46DA-E0BF-4362-8A38-F5C83159FA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614" y="1942386"/>
            <a:ext cx="8327300" cy="334393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AEF56BC-F555-4EF6-8F1A-27374426AE8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8791" b="1"/>
          <a:stretch/>
        </p:blipFill>
        <p:spPr>
          <a:xfrm>
            <a:off x="1044707" y="1673954"/>
            <a:ext cx="7503525" cy="426434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224C367-1B6A-4101-99E0-B86BBFC7FD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6342" y="1184492"/>
            <a:ext cx="6984302" cy="535924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E8EBE92-E064-40A2-8E3F-38B4CA615B6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2735" y="1140114"/>
            <a:ext cx="6747989" cy="54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6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55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0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B713E-1003-4367-9860-008B79481F10}"/>
              </a:ext>
            </a:extLst>
          </p:cNvPr>
          <p:cNvSpPr txBox="1"/>
          <p:nvPr/>
        </p:nvSpPr>
        <p:spPr>
          <a:xfrm>
            <a:off x="0" y="314266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자체 평가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1C2F25-2EB4-4755-B5EC-18E7A97BFC56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54E1B69-A7BF-40D6-842C-2C48BF73F5B9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177D79-512E-4DBA-84AF-21B668832EF1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39C92AE-7D07-4165-8A5F-F096ABA601DD}"/>
              </a:ext>
            </a:extLst>
          </p:cNvPr>
          <p:cNvGrpSpPr/>
          <p:nvPr/>
        </p:nvGrpSpPr>
        <p:grpSpPr>
          <a:xfrm>
            <a:off x="1412576" y="1770538"/>
            <a:ext cx="10169823" cy="5463841"/>
            <a:chOff x="1930400" y="1714180"/>
            <a:chExt cx="8286053" cy="469646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BFD440E-F29C-490D-9208-FA521A5DC288}"/>
                </a:ext>
              </a:extLst>
            </p:cNvPr>
            <p:cNvSpPr/>
            <p:nvPr/>
          </p:nvSpPr>
          <p:spPr>
            <a:xfrm>
              <a:off x="1949006" y="2251598"/>
              <a:ext cx="8267447" cy="902215"/>
            </a:xfrm>
            <a:prstGeom prst="roundRect">
              <a:avLst>
                <a:gd name="adj" fmla="val 50000"/>
              </a:avLst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950DF9E-23C0-4F8D-98C5-E9BF093B8EE9}"/>
                </a:ext>
              </a:extLst>
            </p:cNvPr>
            <p:cNvGrpSpPr/>
            <p:nvPr/>
          </p:nvGrpSpPr>
          <p:grpSpPr>
            <a:xfrm>
              <a:off x="1949006" y="2153224"/>
              <a:ext cx="64440" cy="25560"/>
              <a:chOff x="6146100" y="2361820"/>
              <a:chExt cx="64440" cy="255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">
                <p14:nvContentPartPr>
                  <p14:cNvPr id="13" name="잉크 12">
                    <a:extLst>
                      <a:ext uri="{FF2B5EF4-FFF2-40B4-BE49-F238E27FC236}">
                        <a16:creationId xmlns:a16="http://schemas.microsoft.com/office/drawing/2014/main" id="{B335DAB2-48DB-4407-B40E-AB3C6E8F993B}"/>
                      </a:ext>
                    </a:extLst>
                  </p14:cNvPr>
                  <p14:cNvContentPartPr/>
                  <p14:nvPr/>
                </p14:nvContentPartPr>
                <p14:xfrm>
                  <a:off x="6146100" y="2361820"/>
                  <a:ext cx="360" cy="360"/>
                </p14:xfrm>
              </p:contentPart>
            </mc:Choice>
            <mc:Fallback xmlns="">
              <p:pic>
                <p:nvPicPr>
                  <p:cNvPr id="13" name="잉크 12">
                    <a:extLst>
                      <a:ext uri="{FF2B5EF4-FFF2-40B4-BE49-F238E27FC236}">
                        <a16:creationId xmlns:a16="http://schemas.microsoft.com/office/drawing/2014/main" id="{B335DAB2-48DB-4407-B40E-AB3C6E8F993B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128460" y="2253820"/>
                    <a:ext cx="3600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4">
                <p14:nvContentPartPr>
                  <p14:cNvPr id="14" name="잉크 13">
                    <a:extLst>
                      <a:ext uri="{FF2B5EF4-FFF2-40B4-BE49-F238E27FC236}">
                        <a16:creationId xmlns:a16="http://schemas.microsoft.com/office/drawing/2014/main" id="{7A485677-0198-47EE-9840-31EEA418D2F7}"/>
                      </a:ext>
                    </a:extLst>
                  </p14:cNvPr>
                  <p14:cNvContentPartPr/>
                  <p14:nvPr/>
                </p14:nvContentPartPr>
                <p14:xfrm>
                  <a:off x="6210180" y="2387020"/>
                  <a:ext cx="360" cy="360"/>
                </p14:xfrm>
              </p:contentPart>
            </mc:Choice>
            <mc:Fallback xmlns="">
              <p:pic>
                <p:nvPicPr>
                  <p:cNvPr id="14" name="잉크 13">
                    <a:extLst>
                      <a:ext uri="{FF2B5EF4-FFF2-40B4-BE49-F238E27FC236}">
                        <a16:creationId xmlns:a16="http://schemas.microsoft.com/office/drawing/2014/main" id="{7A485677-0198-47EE-9840-31EEA418D2F7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192180" y="2279020"/>
                    <a:ext cx="36000" cy="21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E71E475-83A1-4D99-8F80-1DA94D5E4DC1}"/>
                    </a:ext>
                  </a:extLst>
                </p14:cNvPr>
                <p14:cNvContentPartPr/>
                <p14:nvPr/>
              </p14:nvContentPartPr>
              <p14:xfrm>
                <a:off x="1949006" y="4421178"/>
                <a:ext cx="360" cy="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E71E475-83A1-4D99-8F80-1DA94D5E4D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1006" y="4313538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43BEFB5-98BE-442A-B5B5-CB893994803E}"/>
                    </a:ext>
                  </a:extLst>
                </p14:cNvPr>
                <p14:cNvContentPartPr/>
                <p14:nvPr/>
              </p14:nvContentPartPr>
              <p14:xfrm>
                <a:off x="1949006" y="1714180"/>
                <a:ext cx="360" cy="3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43BEFB5-98BE-442A-B5B5-CB89399480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1006" y="160654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1382F75-6E7E-4D1D-A866-2F80EEDB38E8}"/>
                    </a:ext>
                  </a:extLst>
                </p14:cNvPr>
                <p14:cNvContentPartPr/>
                <p14:nvPr/>
              </p14:nvContentPartPr>
              <p14:xfrm>
                <a:off x="1949006" y="2006876"/>
                <a:ext cx="360" cy="3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1382F75-6E7E-4D1D-A866-2F80EEDB38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1366" y="189923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97DA5C6-41BE-4B7A-8C19-D5275B1F8E58}"/>
                    </a:ext>
                  </a:extLst>
                </p14:cNvPr>
                <p14:cNvContentPartPr/>
                <p14:nvPr/>
              </p14:nvContentPartPr>
              <p14:xfrm>
                <a:off x="1949006" y="1787354"/>
                <a:ext cx="5400" cy="3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97DA5C6-41BE-4B7A-8C19-D5275B1F8E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33441" y="1679714"/>
                  <a:ext cx="36847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C412FB8-68C1-4A62-8844-469145DE17E7}"/>
                    </a:ext>
                  </a:extLst>
                </p14:cNvPr>
                <p14:cNvContentPartPr/>
                <p14:nvPr/>
              </p14:nvContentPartPr>
              <p14:xfrm>
                <a:off x="1949006" y="4348004"/>
                <a:ext cx="360" cy="3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C412FB8-68C1-4A62-8844-469145DE17E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1006" y="4240364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5291DA2-75A8-4A20-8B94-38B876B9DDD0}"/>
                    </a:ext>
                  </a:extLst>
                </p14:cNvPr>
                <p14:cNvContentPartPr/>
                <p14:nvPr/>
              </p14:nvContentPartPr>
              <p14:xfrm>
                <a:off x="1949006" y="1860528"/>
                <a:ext cx="36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5291DA2-75A8-4A20-8B94-38B876B9DD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1006" y="1752528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5D9E8C8-9958-4410-8350-097D6BC2E88D}"/>
                    </a:ext>
                  </a:extLst>
                </p14:cNvPr>
                <p14:cNvContentPartPr/>
                <p14:nvPr/>
              </p14:nvContentPartPr>
              <p14:xfrm>
                <a:off x="1949006" y="2080050"/>
                <a:ext cx="360" cy="3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5D9E8C8-9958-4410-8350-097D6BC2E8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31006" y="197205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042DA72-E07E-46C5-B4C0-37CE9B7A3C32}"/>
                    </a:ext>
                  </a:extLst>
                </p14:cNvPr>
                <p14:cNvContentPartPr/>
                <p14:nvPr/>
              </p14:nvContentPartPr>
              <p14:xfrm>
                <a:off x="1949006" y="4494352"/>
                <a:ext cx="5400" cy="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042DA72-E07E-46C5-B4C0-37CE9B7A3C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32131" y="4386352"/>
                  <a:ext cx="38813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A10947F-3759-4CF0-A262-561ECF42F37D}"/>
                    </a:ext>
                  </a:extLst>
                </p14:cNvPr>
                <p14:cNvContentPartPr/>
                <p14:nvPr/>
              </p14:nvContentPartPr>
              <p14:xfrm>
                <a:off x="1949006" y="1933702"/>
                <a:ext cx="360" cy="3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A10947F-3759-4CF0-A262-561ECF42F3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1006" y="1825702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E162BFE-2171-4478-B60A-6C4AD978D934}"/>
                    </a:ext>
                  </a:extLst>
                </p14:cNvPr>
                <p14:cNvContentPartPr/>
                <p14:nvPr/>
              </p14:nvContentPartPr>
              <p14:xfrm>
                <a:off x="1949006" y="3226627"/>
                <a:ext cx="36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E162BFE-2171-4478-B60A-6C4AD978D9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31366" y="3118627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7082678F-C1ED-49A1-8885-7CED955122D9}"/>
                    </a:ext>
                  </a:extLst>
                </p14:cNvPr>
                <p14:cNvContentPartPr/>
                <p14:nvPr/>
              </p14:nvContentPartPr>
              <p14:xfrm>
                <a:off x="1949006" y="4274830"/>
                <a:ext cx="360" cy="36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7082678F-C1ED-49A1-8885-7CED955122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1366" y="416683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D37F732-C8BC-4887-B090-FD0302F1BF1C}"/>
                </a:ext>
              </a:extLst>
            </p:cNvPr>
            <p:cNvSpPr/>
            <p:nvPr/>
          </p:nvSpPr>
          <p:spPr>
            <a:xfrm>
              <a:off x="1949006" y="3409564"/>
              <a:ext cx="8267447" cy="902215"/>
            </a:xfrm>
            <a:prstGeom prst="roundRect">
              <a:avLst>
                <a:gd name="adj" fmla="val 50000"/>
              </a:avLst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748A868B-DA9E-4A6D-BA50-040105F3D993}"/>
                </a:ext>
              </a:extLst>
            </p:cNvPr>
            <p:cNvSpPr/>
            <p:nvPr/>
          </p:nvSpPr>
          <p:spPr>
            <a:xfrm>
              <a:off x="1949006" y="4567529"/>
              <a:ext cx="8267447" cy="902215"/>
            </a:xfrm>
            <a:prstGeom prst="roundRect">
              <a:avLst>
                <a:gd name="adj" fmla="val 50000"/>
              </a:avLst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4BC2ED-E5B8-4ED9-BC7E-052C62EBB36C}"/>
                </a:ext>
              </a:extLst>
            </p:cNvPr>
            <p:cNvSpPr/>
            <p:nvPr/>
          </p:nvSpPr>
          <p:spPr>
            <a:xfrm>
              <a:off x="1930400" y="1714180"/>
              <a:ext cx="4334476" cy="4696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C18CD45D-3710-469E-8526-944AD9097DA0}"/>
              </a:ext>
            </a:extLst>
          </p:cNvPr>
          <p:cNvSpPr txBox="1"/>
          <p:nvPr/>
        </p:nvSpPr>
        <p:spPr>
          <a:xfrm>
            <a:off x="3175738" y="1776653"/>
            <a:ext cx="241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아쉬운 점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CAB8CA-A56E-48D3-9039-C93F16164A03}"/>
              </a:ext>
            </a:extLst>
          </p:cNvPr>
          <p:cNvSpPr txBox="1"/>
          <p:nvPr/>
        </p:nvSpPr>
        <p:spPr>
          <a:xfrm>
            <a:off x="6654304" y="1776653"/>
            <a:ext cx="225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잘한 점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25C716F0-D011-42B4-8757-28947D1B4FA8}"/>
              </a:ext>
            </a:extLst>
          </p:cNvPr>
          <p:cNvGrpSpPr/>
          <p:nvPr/>
        </p:nvGrpSpPr>
        <p:grpSpPr>
          <a:xfrm>
            <a:off x="1020954" y="1770538"/>
            <a:ext cx="5218910" cy="5468462"/>
            <a:chOff x="1949006" y="1714180"/>
            <a:chExt cx="8287194" cy="4696460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6C6B3F29-2D22-4612-AEDF-43C069B464BD}"/>
                </a:ext>
              </a:extLst>
            </p:cNvPr>
            <p:cNvSpPr/>
            <p:nvPr/>
          </p:nvSpPr>
          <p:spPr>
            <a:xfrm>
              <a:off x="1949006" y="2251598"/>
              <a:ext cx="8267447" cy="902215"/>
            </a:xfrm>
            <a:prstGeom prst="roundRect">
              <a:avLst>
                <a:gd name="adj" fmla="val 50000"/>
              </a:avLst>
            </a:prstGeom>
            <a:solidFill>
              <a:srgbClr val="C1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41BFEF9B-3F51-4926-83E1-4506DD839EE7}"/>
                </a:ext>
              </a:extLst>
            </p:cNvPr>
            <p:cNvGrpSpPr/>
            <p:nvPr/>
          </p:nvGrpSpPr>
          <p:grpSpPr>
            <a:xfrm>
              <a:off x="1949006" y="2153224"/>
              <a:ext cx="64440" cy="25560"/>
              <a:chOff x="6146100" y="2361820"/>
              <a:chExt cx="64440" cy="255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8">
                <p14:nvContentPartPr>
                  <p14:cNvPr id="111" name="잉크 110">
                    <a:extLst>
                      <a:ext uri="{FF2B5EF4-FFF2-40B4-BE49-F238E27FC236}">
                        <a16:creationId xmlns:a16="http://schemas.microsoft.com/office/drawing/2014/main" id="{AEABD70A-5A73-4EB4-9EAB-FA962A18E3A0}"/>
                      </a:ext>
                    </a:extLst>
                  </p14:cNvPr>
                  <p14:cNvContentPartPr/>
                  <p14:nvPr/>
                </p14:nvContentPartPr>
                <p14:xfrm>
                  <a:off x="6146100" y="2361820"/>
                  <a:ext cx="360" cy="360"/>
                </p14:xfrm>
              </p:contentPart>
            </mc:Choice>
            <mc:Fallback xmlns="">
              <p:pic>
                <p:nvPicPr>
                  <p:cNvPr id="111" name="잉크 110">
                    <a:extLst>
                      <a:ext uri="{FF2B5EF4-FFF2-40B4-BE49-F238E27FC236}">
                        <a16:creationId xmlns:a16="http://schemas.microsoft.com/office/drawing/2014/main" id="{AEABD70A-5A73-4EB4-9EAB-FA962A18E3A0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6128100" y="2253820"/>
                    <a:ext cx="3600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30">
                <p14:nvContentPartPr>
                  <p14:cNvPr id="112" name="잉크 111">
                    <a:extLst>
                      <a:ext uri="{FF2B5EF4-FFF2-40B4-BE49-F238E27FC236}">
                        <a16:creationId xmlns:a16="http://schemas.microsoft.com/office/drawing/2014/main" id="{17F1C7CA-81F2-4359-8560-9BE05CB5D8CA}"/>
                      </a:ext>
                    </a:extLst>
                  </p14:cNvPr>
                  <p14:cNvContentPartPr/>
                  <p14:nvPr/>
                </p14:nvContentPartPr>
                <p14:xfrm>
                  <a:off x="6210180" y="2387020"/>
                  <a:ext cx="360" cy="360"/>
                </p14:xfrm>
              </p:contentPart>
            </mc:Choice>
            <mc:Fallback xmlns="">
              <p:pic>
                <p:nvPicPr>
                  <p:cNvPr id="112" name="잉크 111">
                    <a:extLst>
                      <a:ext uri="{FF2B5EF4-FFF2-40B4-BE49-F238E27FC236}">
                        <a16:creationId xmlns:a16="http://schemas.microsoft.com/office/drawing/2014/main" id="{17F1C7CA-81F2-4359-8560-9BE05CB5D8CA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6192180" y="2279020"/>
                    <a:ext cx="36000" cy="21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396CD1E6-2F5C-4B67-94FA-4B5DA218BF72}"/>
                    </a:ext>
                  </a:extLst>
                </p14:cNvPr>
                <p14:cNvContentPartPr/>
                <p14:nvPr/>
              </p14:nvContentPartPr>
              <p14:xfrm>
                <a:off x="1949006" y="4421178"/>
                <a:ext cx="360" cy="3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396CD1E6-2F5C-4B67-94FA-4B5DA218BF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31006" y="4313178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417DB460-EF05-4E18-AB64-41ED626B3450}"/>
                    </a:ext>
                  </a:extLst>
                </p14:cNvPr>
                <p14:cNvContentPartPr/>
                <p14:nvPr/>
              </p14:nvContentPartPr>
              <p14:xfrm>
                <a:off x="1949006" y="1714180"/>
                <a:ext cx="360" cy="36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417DB460-EF05-4E18-AB64-41ED626B34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31006" y="160618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1BA70584-0B2D-48D4-9CF0-F72B0011125E}"/>
                    </a:ext>
                  </a:extLst>
                </p14:cNvPr>
                <p14:cNvContentPartPr/>
                <p14:nvPr/>
              </p14:nvContentPartPr>
              <p14:xfrm>
                <a:off x="1949006" y="2006876"/>
                <a:ext cx="360" cy="36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1BA70584-0B2D-48D4-9CF0-F72B001112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31006" y="189887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D967C679-47A7-4CE0-BF36-4BF234226BBC}"/>
                    </a:ext>
                  </a:extLst>
                </p14:cNvPr>
                <p14:cNvContentPartPr/>
                <p14:nvPr/>
              </p14:nvContentPartPr>
              <p14:xfrm>
                <a:off x="1949006" y="1787354"/>
                <a:ext cx="5400" cy="36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D967C679-47A7-4CE0-BF36-4BF234226B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19006" y="1679354"/>
                  <a:ext cx="64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0467940A-C932-4775-8662-EAEF7ECED62E}"/>
                    </a:ext>
                  </a:extLst>
                </p14:cNvPr>
                <p14:cNvContentPartPr/>
                <p14:nvPr/>
              </p14:nvContentPartPr>
              <p14:xfrm>
                <a:off x="1949006" y="4348004"/>
                <a:ext cx="360" cy="36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0467940A-C932-4775-8662-EAEF7ECED6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31006" y="4240004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7E57A66B-12F5-405A-A4E7-BD38C9D6E849}"/>
                    </a:ext>
                  </a:extLst>
                </p14:cNvPr>
                <p14:cNvContentPartPr/>
                <p14:nvPr/>
              </p14:nvContentPartPr>
              <p14:xfrm>
                <a:off x="1949006" y="1860528"/>
                <a:ext cx="360" cy="36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7E57A66B-12F5-405A-A4E7-BD38C9D6E8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31006" y="1752528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7FAF3666-95B7-4FCF-AEF7-69BEBD6C1CA9}"/>
                    </a:ext>
                  </a:extLst>
                </p14:cNvPr>
                <p14:cNvContentPartPr/>
                <p14:nvPr/>
              </p14:nvContentPartPr>
              <p14:xfrm>
                <a:off x="1949006" y="2080050"/>
                <a:ext cx="360" cy="36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7FAF3666-95B7-4FCF-AEF7-69BEBD6C1C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31006" y="197205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316DEAF0-802D-4905-BEED-0C78B0F6ACA0}"/>
                    </a:ext>
                  </a:extLst>
                </p14:cNvPr>
                <p14:cNvContentPartPr/>
                <p14:nvPr/>
              </p14:nvContentPartPr>
              <p14:xfrm>
                <a:off x="1949006" y="4494352"/>
                <a:ext cx="5400" cy="36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316DEAF0-802D-4905-BEED-0C78B0F6AC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19006" y="4386352"/>
                  <a:ext cx="64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B66D2043-F527-4572-AEF0-6115FD1D6EDE}"/>
                    </a:ext>
                  </a:extLst>
                </p14:cNvPr>
                <p14:cNvContentPartPr/>
                <p14:nvPr/>
              </p14:nvContentPartPr>
              <p14:xfrm>
                <a:off x="1949006" y="1933702"/>
                <a:ext cx="360" cy="36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B66D2043-F527-4572-AEF0-6115FD1D6E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31006" y="1825702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CC2FB78C-D840-42FD-8178-F907BF37BA45}"/>
                    </a:ext>
                  </a:extLst>
                </p14:cNvPr>
                <p14:cNvContentPartPr/>
                <p14:nvPr/>
              </p14:nvContentPartPr>
              <p14:xfrm>
                <a:off x="1949006" y="3226627"/>
                <a:ext cx="360" cy="36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CC2FB78C-D840-42FD-8178-F907BF37BA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31006" y="3118627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845D6AAE-69C5-49F8-B0B0-E8E79DA405A1}"/>
                    </a:ext>
                  </a:extLst>
                </p14:cNvPr>
                <p14:cNvContentPartPr/>
                <p14:nvPr/>
              </p14:nvContentPartPr>
              <p14:xfrm>
                <a:off x="1949006" y="4274830"/>
                <a:ext cx="360" cy="36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845D6AAE-69C5-49F8-B0B0-E8E79DA405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31006" y="416683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BB245EA6-B9B7-40D3-B284-5D3A80E85950}"/>
                </a:ext>
              </a:extLst>
            </p:cNvPr>
            <p:cNvSpPr/>
            <p:nvPr/>
          </p:nvSpPr>
          <p:spPr>
            <a:xfrm>
              <a:off x="1949006" y="3409564"/>
              <a:ext cx="8267447" cy="902215"/>
            </a:xfrm>
            <a:prstGeom prst="roundRect">
              <a:avLst>
                <a:gd name="adj" fmla="val 50000"/>
              </a:avLst>
            </a:prstGeom>
            <a:solidFill>
              <a:srgbClr val="C1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804A781C-B2BF-47CA-97E5-04895B274CEA}"/>
                </a:ext>
              </a:extLst>
            </p:cNvPr>
            <p:cNvSpPr/>
            <p:nvPr/>
          </p:nvSpPr>
          <p:spPr>
            <a:xfrm>
              <a:off x="1949006" y="4567529"/>
              <a:ext cx="8267447" cy="902215"/>
            </a:xfrm>
            <a:prstGeom prst="roundRect">
              <a:avLst>
                <a:gd name="adj" fmla="val 50000"/>
              </a:avLst>
            </a:prstGeom>
            <a:solidFill>
              <a:srgbClr val="C1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DC12F2B-883B-4ECA-B2BC-22542B5B522C}"/>
                </a:ext>
              </a:extLst>
            </p:cNvPr>
            <p:cNvSpPr/>
            <p:nvPr/>
          </p:nvSpPr>
          <p:spPr>
            <a:xfrm>
              <a:off x="9130505" y="1714180"/>
              <a:ext cx="1105695" cy="4696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7F9CE81-6C70-4010-AF86-90C877ADE210}"/>
              </a:ext>
            </a:extLst>
          </p:cNvPr>
          <p:cNvSpPr txBox="1"/>
          <p:nvPr/>
        </p:nvSpPr>
        <p:spPr>
          <a:xfrm>
            <a:off x="6732462" y="2545596"/>
            <a:ext cx="48499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앱 개발에 약간의 난항을 겪었지만</a:t>
            </a:r>
            <a:endParaRPr lang="en-US" altLang="ko-KR" sz="15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리액트</a:t>
            </a:r>
            <a:r>
              <a:rPr lang="ko-KR" altLang="en-US" sz="15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네이티브를 사용해</a:t>
            </a:r>
            <a:endParaRPr lang="en-US" altLang="ko-KR" sz="15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5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앱 개발에 대한 베이스를 다질 수 있었음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00A076E-44DB-4929-9EEC-93FFD878531B}"/>
              </a:ext>
            </a:extLst>
          </p:cNvPr>
          <p:cNvCxnSpPr>
            <a:cxnSpLocks/>
          </p:cNvCxnSpPr>
          <p:nvPr/>
        </p:nvCxnSpPr>
        <p:spPr>
          <a:xfrm>
            <a:off x="5602441" y="2901156"/>
            <a:ext cx="1076211" cy="0"/>
          </a:xfrm>
          <a:prstGeom prst="line">
            <a:avLst/>
          </a:prstGeom>
          <a:ln w="25400">
            <a:solidFill>
              <a:srgbClr val="E7E6E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D0FF7920-F54A-4FE6-A360-5C321BE88797}"/>
              </a:ext>
            </a:extLst>
          </p:cNvPr>
          <p:cNvCxnSpPr>
            <a:cxnSpLocks/>
          </p:cNvCxnSpPr>
          <p:nvPr/>
        </p:nvCxnSpPr>
        <p:spPr>
          <a:xfrm>
            <a:off x="5602441" y="4238120"/>
            <a:ext cx="1076211" cy="0"/>
          </a:xfrm>
          <a:prstGeom prst="line">
            <a:avLst/>
          </a:prstGeom>
          <a:ln w="25400">
            <a:solidFill>
              <a:srgbClr val="E7E6E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94ADF074-C2F9-49DD-BD1F-DDFE116F22A3}"/>
              </a:ext>
            </a:extLst>
          </p:cNvPr>
          <p:cNvCxnSpPr>
            <a:cxnSpLocks/>
          </p:cNvCxnSpPr>
          <p:nvPr/>
        </p:nvCxnSpPr>
        <p:spPr>
          <a:xfrm>
            <a:off x="5602441" y="5587783"/>
            <a:ext cx="1076211" cy="0"/>
          </a:xfrm>
          <a:prstGeom prst="line">
            <a:avLst/>
          </a:prstGeom>
          <a:ln w="25400">
            <a:solidFill>
              <a:srgbClr val="E7E6E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1F371B7-00EE-4123-BAC2-C5C831C09CE3}"/>
              </a:ext>
            </a:extLst>
          </p:cNvPr>
          <p:cNvSpPr txBox="1"/>
          <p:nvPr/>
        </p:nvSpPr>
        <p:spPr>
          <a:xfrm>
            <a:off x="1024355" y="3906330"/>
            <a:ext cx="45067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간호사가 </a:t>
            </a:r>
            <a:r>
              <a:rPr lang="ko-KR" altLang="en-US" sz="1400" dirty="0" err="1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어플에</a:t>
            </a:r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접속했을 때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본인이 담당한 환자들의 위치만 파악할 수 있도록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하고 싶었으나 모든 접속자의 위치가 뜸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A1DB71-A741-4C06-9E20-F489B168B190}"/>
              </a:ext>
            </a:extLst>
          </p:cNvPr>
          <p:cNvSpPr txBox="1"/>
          <p:nvPr/>
        </p:nvSpPr>
        <p:spPr>
          <a:xfrm>
            <a:off x="6737933" y="3997181"/>
            <a:ext cx="485448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카카오 맵 </a:t>
            </a:r>
            <a:r>
              <a:rPr lang="en-US" altLang="ko-KR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/</a:t>
            </a:r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API</a:t>
            </a:r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를 이용해</a:t>
            </a:r>
            <a:endParaRPr lang="en-US" altLang="ko-KR" sz="17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마커와 </a:t>
            </a:r>
            <a:r>
              <a:rPr lang="ko-KR" altLang="en-US" sz="1700" dirty="0" err="1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인포</a:t>
            </a:r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윈도우를 구현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C9F2C8-7EE8-4638-89EF-AA83CD9A19AE}"/>
              </a:ext>
            </a:extLst>
          </p:cNvPr>
          <p:cNvSpPr txBox="1"/>
          <p:nvPr/>
        </p:nvSpPr>
        <p:spPr>
          <a:xfrm>
            <a:off x="1024355" y="2566753"/>
            <a:ext cx="45067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카카오 맵 </a:t>
            </a:r>
            <a:r>
              <a:rPr lang="en-US" altLang="ko-KR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API</a:t>
            </a:r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를 이용하였지만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웹과</a:t>
            </a:r>
            <a:r>
              <a:rPr lang="en-US" altLang="ko-KR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안드로이드 버전의 사용 방법이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달라 약간의 난항을 겪음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0AD797-9879-4A3F-AB1D-686A2DD01775}"/>
              </a:ext>
            </a:extLst>
          </p:cNvPr>
          <p:cNvSpPr txBox="1"/>
          <p:nvPr/>
        </p:nvSpPr>
        <p:spPr>
          <a:xfrm>
            <a:off x="960675" y="5259718"/>
            <a:ext cx="4577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NGROK</a:t>
            </a:r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으로 자바 서버를 열었을 때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본인 외 팀원들은 콘솔 확인이 불가능했고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때문에 함께 작업할 수 있는 환경이 조성되지 않음</a:t>
            </a:r>
            <a:endParaRPr lang="en-US" altLang="ko-KR" sz="14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E13119-96F2-41DA-8781-A631F015D2E2}"/>
              </a:ext>
            </a:extLst>
          </p:cNvPr>
          <p:cNvSpPr txBox="1"/>
          <p:nvPr/>
        </p:nvSpPr>
        <p:spPr>
          <a:xfrm>
            <a:off x="6737933" y="5330681"/>
            <a:ext cx="485448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자바로 위도</a:t>
            </a:r>
            <a:r>
              <a:rPr lang="en-US" altLang="ko-KR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, </a:t>
            </a:r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경도 값을 전달하여</a:t>
            </a:r>
            <a:endParaRPr lang="en-US" altLang="ko-KR" sz="1700" dirty="0">
              <a:solidFill>
                <a:schemeClr val="bg1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  <a:p>
            <a:pPr algn="ctr"/>
            <a:r>
              <a:rPr lang="ko-KR" altLang="en-US" sz="1700" dirty="0">
                <a:solidFill>
                  <a:schemeClr val="bg1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나와의 위치 계산으로 거리를 출력</a:t>
            </a:r>
          </a:p>
        </p:txBody>
      </p:sp>
    </p:spTree>
    <p:extLst>
      <p:ext uri="{BB962C8B-B14F-4D97-AF65-F5344CB8AC3E}">
        <p14:creationId xmlns:p14="http://schemas.microsoft.com/office/powerpoint/2010/main" val="62009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B713E-1003-4367-9860-008B79481F10}"/>
              </a:ext>
            </a:extLst>
          </p:cNvPr>
          <p:cNvSpPr txBox="1"/>
          <p:nvPr/>
        </p:nvSpPr>
        <p:spPr>
          <a:xfrm>
            <a:off x="0" y="314266"/>
            <a:ext cx="12192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Q&amp;A</a:t>
            </a:r>
            <a:endParaRPr lang="ko-KR" altLang="en-US" sz="2300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1C2F25-2EB4-4755-B5EC-18E7A97BFC56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54E1B69-A7BF-40D6-842C-2C48BF73F5B9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177D79-512E-4DBA-84AF-21B668832EF1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8460235-C1F9-4E0E-918A-5163093BEB77}"/>
              </a:ext>
            </a:extLst>
          </p:cNvPr>
          <p:cNvSpPr txBox="1"/>
          <p:nvPr/>
        </p:nvSpPr>
        <p:spPr>
          <a:xfrm>
            <a:off x="0" y="305390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56682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E633A1-F4F3-4F9C-8410-2485D4AA0D13}"/>
              </a:ext>
            </a:extLst>
          </p:cNvPr>
          <p:cNvSpPr txBox="1"/>
          <p:nvPr/>
        </p:nvSpPr>
        <p:spPr>
          <a:xfrm>
            <a:off x="0" y="3056306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감사합니다</a:t>
            </a:r>
            <a:endParaRPr lang="en-US" altLang="ko-KR" sz="6000" dirty="0">
              <a:solidFill>
                <a:schemeClr val="tx1">
                  <a:lumMod val="65000"/>
                  <a:lumOff val="35000"/>
                </a:schemeClr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520C4-D632-4984-9591-22DAD269C4FD}"/>
              </a:ext>
            </a:extLst>
          </p:cNvPr>
          <p:cNvSpPr txBox="1"/>
          <p:nvPr/>
        </p:nvSpPr>
        <p:spPr>
          <a:xfrm>
            <a:off x="0" y="351337"/>
            <a:ext cx="12192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dirty="0">
                <a:solidFill>
                  <a:srgbClr val="46504E"/>
                </a:solidFill>
                <a:latin typeface="GmarketSansMedium" panose="02000000000000000000" pitchFamily="50" charset="-127"/>
                <a:ea typeface="GmarketSansMedium" panose="02000000000000000000" pitchFamily="50" charset="-127"/>
              </a:rPr>
              <a:t>THE END</a:t>
            </a:r>
            <a:endParaRPr lang="ko-KR" altLang="en-US" sz="2300" dirty="0">
              <a:solidFill>
                <a:srgbClr val="46504E"/>
              </a:solidFill>
              <a:latin typeface="GmarketSansMedium" panose="02000000000000000000" pitchFamily="50" charset="-127"/>
              <a:ea typeface="GmarketSansMedium" panose="02000000000000000000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3040A36-8FCF-4D39-9473-E93793ECC7ED}"/>
              </a:ext>
            </a:extLst>
          </p:cNvPr>
          <p:cNvGrpSpPr/>
          <p:nvPr/>
        </p:nvGrpSpPr>
        <p:grpSpPr>
          <a:xfrm>
            <a:off x="554147" y="811636"/>
            <a:ext cx="11381016" cy="133090"/>
            <a:chOff x="544284" y="1708280"/>
            <a:chExt cx="11381016" cy="13309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6D19B38F-9C43-4A02-BA3C-8C2F8BF45C3D}"/>
                </a:ext>
              </a:extLst>
            </p:cNvPr>
            <p:cNvCxnSpPr>
              <a:cxnSpLocks/>
            </p:cNvCxnSpPr>
            <p:nvPr/>
          </p:nvCxnSpPr>
          <p:spPr>
            <a:xfrm>
              <a:off x="544284" y="1765300"/>
              <a:ext cx="11381016" cy="0"/>
            </a:xfrm>
            <a:prstGeom prst="line">
              <a:avLst/>
            </a:prstGeom>
            <a:ln w="12700">
              <a:solidFill>
                <a:srgbClr val="92A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148D4E5-D1E1-449D-B7BF-80F27131796D}"/>
                </a:ext>
              </a:extLst>
            </p:cNvPr>
            <p:cNvSpPr/>
            <p:nvPr/>
          </p:nvSpPr>
          <p:spPr>
            <a:xfrm>
              <a:off x="4500334" y="1708280"/>
              <a:ext cx="3145066" cy="133090"/>
            </a:xfrm>
            <a:prstGeom prst="rect">
              <a:avLst/>
            </a:prstGeom>
            <a:solidFill>
              <a:srgbClr val="859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60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524</Words>
  <Application>Microsoft Office PowerPoint</Application>
  <PresentationFormat>와이드스크린</PresentationFormat>
  <Paragraphs>137</Paragraphs>
  <Slides>11</Slides>
  <Notes>8</Notes>
  <HiddenSlides>0</HiddenSlides>
  <MMClips>2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GmarketSansMedium</vt:lpstr>
      <vt:lpstr>맑은 고딕</vt:lpstr>
      <vt:lpstr>Arial</vt:lpstr>
      <vt:lpstr>GmarketSansLight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GRS</dc:creator>
  <cp:lastModifiedBy>GRS</cp:lastModifiedBy>
  <cp:revision>382</cp:revision>
  <dcterms:created xsi:type="dcterms:W3CDTF">2024-09-23T09:19:19Z</dcterms:created>
  <dcterms:modified xsi:type="dcterms:W3CDTF">2024-09-27T03:07:24Z</dcterms:modified>
</cp:coreProperties>
</file>