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1" r:id="rId4"/>
    <p:sldId id="259" r:id="rId5"/>
    <p:sldId id="290" r:id="rId6"/>
    <p:sldId id="272" r:id="rId7"/>
    <p:sldId id="258" r:id="rId8"/>
    <p:sldId id="273" r:id="rId9"/>
    <p:sldId id="269" r:id="rId10"/>
    <p:sldId id="270" r:id="rId11"/>
    <p:sldId id="275" r:id="rId12"/>
    <p:sldId id="278" r:id="rId13"/>
    <p:sldId id="285" r:id="rId14"/>
    <p:sldId id="279" r:id="rId15"/>
    <p:sldId id="288" r:id="rId16"/>
    <p:sldId id="299" r:id="rId17"/>
    <p:sldId id="289" r:id="rId18"/>
    <p:sldId id="293" r:id="rId19"/>
    <p:sldId id="291" r:id="rId20"/>
    <p:sldId id="298" r:id="rId21"/>
    <p:sldId id="263" r:id="rId22"/>
    <p:sldId id="264" r:id="rId23"/>
    <p:sldId id="292" r:id="rId24"/>
  </p:sldIdLst>
  <p:sldSz cx="18288000" cy="10287000"/>
  <p:notesSz cx="6858000" cy="9144000"/>
  <p:embeddedFontLst>
    <p:embeddedFont>
      <p:font typeface="Pretendard Bold" panose="020B0600000101010101" charset="-127"/>
      <p:bold r:id="rId26"/>
    </p:embeddedFont>
    <p:embeddedFont>
      <p:font typeface="Pretendard Medium" panose="020B0600000101010101" charset="-127"/>
      <p:bold r:id="rId27"/>
    </p:embeddedFont>
    <p:embeddedFont>
      <p:font typeface="Pretendard Regular" panose="020B0600000101010101" charset="-127"/>
      <p:regular r:id="rId28"/>
    </p:embeddedFont>
    <p:embeddedFont>
      <p:font typeface="Pretendard SemiBold" panose="020B0600000101010101" charset="-127"/>
      <p:bold r:id="rId29"/>
    </p:embeddedFont>
    <p:embeddedFont>
      <p:font typeface="Arial Black" panose="020B0A04020102020204" pitchFamily="34" charset="0"/>
      <p:bold r:id="rId30"/>
    </p:embeddedFont>
    <p:embeddedFont>
      <p:font typeface="Baskerville Old Face" panose="02020602080505020303" pitchFamily="18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2EA1"/>
    <a:srgbClr val="787878"/>
    <a:srgbClr val="825DF6"/>
    <a:srgbClr val="3FD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22" autoAdjust="0"/>
  </p:normalViewPr>
  <p:slideViewPr>
    <p:cSldViewPr snapToGrid="0">
      <p:cViewPr varScale="1">
        <p:scale>
          <a:sx n="72" d="100"/>
          <a:sy n="72" d="100"/>
        </p:scale>
        <p:origin x="97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ABD6E-465D-4854-AADE-4CE571978F5D}" type="datetimeFigureOut">
              <a:rPr lang="ko-KR" altLang="en-US" smtClean="0"/>
              <a:t>2024-09-06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177E7-6F51-4C97-A8DE-86435D9357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719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177E7-6F51-4C97-A8DE-86435D9357D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974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177E7-6F51-4C97-A8DE-86435D9357D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276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177E7-6F51-4C97-A8DE-86435D9357D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41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0" y="1816100"/>
            <a:ext cx="17145000" cy="1714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19200" y="4978400"/>
            <a:ext cx="11734800" cy="210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진료 관련 증명서 출력 기능 구현</a:t>
            </a:r>
            <a:endParaRPr lang="en-US" altLang="ko-KR" sz="6500" b="0" i="0" u="none" strike="noStrike" dirty="0">
              <a:solidFill>
                <a:srgbClr val="323232"/>
              </a:solidFill>
              <a:ea typeface="Pretendard SemiBold"/>
            </a:endParaRPr>
          </a:p>
          <a:p>
            <a:pPr lvl="0" algn="l">
              <a:lnSpc>
                <a:spcPct val="95449"/>
              </a:lnSpc>
            </a:pPr>
            <a:r>
              <a:rPr lang="en-US" altLang="ko-KR" sz="3200" dirty="0" err="1">
                <a:solidFill>
                  <a:srgbClr val="323232"/>
                </a:solidFill>
                <a:ea typeface="Pretendard Light"/>
              </a:rPr>
              <a:t>loT</a:t>
            </a:r>
            <a:r>
              <a:rPr lang="en-US" altLang="ko-KR" sz="3200" b="0" i="0" u="none" strike="noStrike" dirty="0">
                <a:solidFill>
                  <a:srgbClr val="323232"/>
                </a:solidFill>
                <a:ea typeface="Pretendard Light"/>
              </a:rPr>
              <a:t> </a:t>
            </a:r>
            <a:r>
              <a:rPr lang="ko-KR" altLang="en-US" sz="3200" b="0" i="0" u="none" strike="noStrike" dirty="0">
                <a:solidFill>
                  <a:srgbClr val="323232"/>
                </a:solidFill>
                <a:ea typeface="Pretendard Light"/>
              </a:rPr>
              <a:t>기반 스마트 헬스케어 웹서비스 개발과정</a:t>
            </a:r>
            <a:endParaRPr lang="ko-KR" sz="3200" b="0" i="0" u="none" strike="noStrike" dirty="0">
              <a:solidFill>
                <a:srgbClr val="323232"/>
              </a:solidFill>
              <a:ea typeface="Pretendard Ligh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9200" y="7327900"/>
            <a:ext cx="63373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200" b="0" i="1" u="none" strike="noStrike" dirty="0">
                <a:solidFill>
                  <a:srgbClr val="323232"/>
                </a:solidFill>
                <a:latin typeface="Baskerville Old Face"/>
              </a:rPr>
              <a:t>Implementing Hospital Certificate Output Service</a:t>
            </a:r>
          </a:p>
          <a:p>
            <a:pPr lvl="0" algn="l">
              <a:lnSpc>
                <a:spcPct val="95449"/>
              </a:lnSpc>
            </a:pPr>
            <a:r>
              <a:rPr lang="en-US" b="0" i="1" u="none" strike="noStrike" dirty="0">
                <a:solidFill>
                  <a:srgbClr val="323232"/>
                </a:solidFill>
                <a:latin typeface="Baskerville Old Face"/>
              </a:rPr>
              <a:t>Development Process of </a:t>
            </a:r>
            <a:r>
              <a:rPr lang="en-US" b="0" i="1" u="none" strike="noStrike" dirty="0" err="1">
                <a:solidFill>
                  <a:srgbClr val="323232"/>
                </a:solidFill>
                <a:latin typeface="Baskerville Old Face"/>
              </a:rPr>
              <a:t>loT</a:t>
            </a:r>
            <a:r>
              <a:rPr lang="en-US" b="0" i="1" u="none" strike="noStrike" dirty="0">
                <a:solidFill>
                  <a:srgbClr val="323232"/>
                </a:solidFill>
                <a:latin typeface="Baskerville Old Face"/>
              </a:rPr>
              <a:t>-based Smart Healthcare Web Service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2024.09.07 </a:t>
            </a:r>
            <a:r>
              <a:rPr lang="en-US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Team</a:t>
            </a: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.1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sz="2000" b="1" spc="100" dirty="0">
                <a:solidFill>
                  <a:srgbClr val="825DF6"/>
                </a:solidFill>
                <a:latin typeface="Pretendard Bold" panose="020B0600000101010101" charset="-127"/>
                <a:ea typeface="Pretendard Bold" panose="020B0600000101010101" charset="-127"/>
              </a:rPr>
              <a:t>J</a:t>
            </a:r>
            <a:r>
              <a:rPr lang="en-US" altLang="ko-KR" sz="2000" b="1" spc="100" dirty="0">
                <a:solidFill>
                  <a:srgbClr val="382EA1"/>
                </a:solidFill>
                <a:latin typeface="Pretendard Bold" panose="020B0600000101010101" charset="-127"/>
                <a:ea typeface="Pretendard Bold" panose="020B0600000101010101" charset="-127"/>
              </a:rPr>
              <a:t>B</a:t>
            </a:r>
            <a:r>
              <a:rPr lang="en-US" altLang="ko-KR" sz="2000" b="1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b="1" spc="100" dirty="0">
                <a:solidFill>
                  <a:srgbClr val="3FD3D8"/>
                </a:solidFill>
                <a:latin typeface="Pretendard Bold" panose="020B0600000101010101" charset="-127"/>
                <a:ea typeface="Pretendard Bold" panose="020B0600000101010101" charset="-127"/>
              </a:rPr>
              <a:t>CARE</a:t>
            </a:r>
            <a:r>
              <a:rPr lang="en-US" altLang="ko-KR" sz="2000" b="1" i="0" u="none" strike="noStrike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b="0" i="0" u="none" strike="noStrike" spc="100" dirty="0">
                <a:ea typeface="Pretendard Medium"/>
              </a:rPr>
              <a:t>. </a:t>
            </a:r>
            <a:r>
              <a:rPr lang="ko-KR" altLang="en-US" sz="2000" spc="100" dirty="0">
                <a:ea typeface="Pretendard Medium"/>
              </a:rPr>
              <a:t>박주원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 err="1">
                <a:ea typeface="Pretendard Medium"/>
              </a:rPr>
              <a:t>김탁현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>
                <a:ea typeface="Pretendard Medium"/>
              </a:rPr>
              <a:t>김세훈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 err="1">
                <a:ea typeface="Pretendard Medium"/>
              </a:rPr>
              <a:t>최윤형</a:t>
            </a:r>
            <a:r>
              <a:rPr lang="en-US" altLang="ko-KR" sz="2000" b="0" i="0" u="none" strike="noStrike" spc="100" dirty="0">
                <a:ea typeface="Pretendard Medium"/>
              </a:rPr>
              <a:t> </a:t>
            </a:r>
            <a:endParaRPr lang="ko-KR" sz="2000" b="0" i="0" u="none" strike="noStrike" spc="100" dirty="0">
              <a:ea typeface="Pretendard Medium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FB1AFC-35A9-4D7B-B2DF-9323AB1D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681" y="561041"/>
            <a:ext cx="2286319" cy="39058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0A5FC4-B8D7-4CE8-86A0-B11D87B1CCBC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6BD7A2-6C01-43C9-928F-5A4FC01061DA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D0F1ED-4DE3-4147-AD95-7FD3ADA796A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26FC8-C223-49CF-87F6-765C227DAC1F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0" y="-6578600"/>
            <a:ext cx="13373100" cy="13373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42681" y="2717800"/>
            <a:ext cx="18542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sz="6500" b="0" i="0" u="none" strike="noStrike" dirty="0">
                <a:solidFill>
                  <a:srgbClr val="323232"/>
                </a:solidFill>
                <a:ea typeface="Pretendard SemiBold"/>
              </a:rPr>
              <a:t>목차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42681" y="39243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>
                <a:solidFill>
                  <a:srgbClr val="323232"/>
                </a:solidFill>
                <a:latin typeface="Baskerville Old Face"/>
              </a:rPr>
              <a:t>Table of 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60900" y="368300"/>
            <a:ext cx="5461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Pretendard Medium"/>
              </a:rPr>
              <a:t>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7400" y="6616700"/>
            <a:ext cx="1117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6019800"/>
            <a:ext cx="381000" cy="381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192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0700" y="5930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프로젝트 주제선정</a:t>
            </a: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과 </a:t>
            </a: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이유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90700" y="66421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프로젝트 주제의 선정과 이유</a:t>
            </a:r>
            <a:endParaRPr lang="en-US" altLang="ko-KR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프로젝트 최종 목표와 포부</a:t>
            </a:r>
            <a:endParaRPr lang="en-US" sz="1800" b="0" i="0" u="none" strike="noStrike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87400" y="8356600"/>
            <a:ext cx="11176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0" y="7747000"/>
            <a:ext cx="381000" cy="381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192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0700" y="76708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b="0" i="0" u="none" strike="noStrike" dirty="0">
                <a:solidFill>
                  <a:srgbClr val="323232"/>
                </a:solidFill>
                <a:ea typeface="Pretendard Medium"/>
              </a:rPr>
              <a:t>우리 팀을 소개합니다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90700" y="83693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JB CARE </a:t>
            </a:r>
            <a:r>
              <a:rPr lang="ko-KR" altLang="en-US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팀원들 소개 </a:t>
            </a:r>
            <a:endParaRPr lang="en-US" sz="1800" b="0" i="0" u="none" strike="noStrike" dirty="0">
              <a:solidFill>
                <a:srgbClr val="323232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99200" y="6616700"/>
            <a:ext cx="11176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6019800"/>
            <a:ext cx="381000" cy="381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7183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02500" y="5930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프로젝트 수행과정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302500" y="66421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증명서 출력 서비스 구현을 하기위한</a:t>
            </a:r>
            <a:endParaRPr lang="en-US" altLang="ko-KR" sz="1800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9544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프로젝트 수행과정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(GIF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첨부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)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99200" y="8356600"/>
            <a:ext cx="1117600" cy="38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7747000"/>
            <a:ext cx="381000" cy="381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7183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500" y="76708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프로젝트 수행결과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02500" y="83693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증명서 출력 서비스 구현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프로젝트 수행결과</a:t>
            </a:r>
            <a:endParaRPr lang="en-US" altLang="ko-KR" sz="1800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95449"/>
              </a:lnSpc>
            </a:pPr>
            <a:r>
              <a:rPr lang="en-US" altLang="ko-KR" dirty="0">
                <a:solidFill>
                  <a:srgbClr val="323232"/>
                </a:solidFill>
                <a:latin typeface="Pretendard Regular"/>
                <a:ea typeface="Pretendard Regular"/>
              </a:rPr>
              <a:t>+ </a:t>
            </a:r>
            <a:r>
              <a:rPr lang="ko-KR" altLang="en-US" dirty="0">
                <a:solidFill>
                  <a:srgbClr val="323232"/>
                </a:solidFill>
                <a:latin typeface="Pretendard Regular"/>
                <a:ea typeface="Pretendard Regular"/>
              </a:rPr>
              <a:t>동영상 첨부설명</a:t>
            </a:r>
            <a:endParaRPr lang="en-US" altLang="ko-KR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798300" y="6616700"/>
            <a:ext cx="1117600" cy="38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0" y="6019800"/>
            <a:ext cx="381000" cy="3810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2230100" y="60198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600" y="59309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자체 평가 의견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801600" y="66421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각 팀원들의 자체 평가 의견 모음</a:t>
            </a:r>
            <a:endParaRPr lang="ko-KR" sz="1800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798300" y="8356600"/>
            <a:ext cx="1117600" cy="38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0" y="7747000"/>
            <a:ext cx="381000" cy="381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2230100" y="77597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801600" y="7670800"/>
            <a:ext cx="50165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200" dirty="0">
                <a:solidFill>
                  <a:srgbClr val="323232"/>
                </a:solidFill>
                <a:ea typeface="Pretendard Medium"/>
              </a:rPr>
              <a:t>질문 </a:t>
            </a:r>
            <a:r>
              <a:rPr lang="en-US" altLang="ko-KR" sz="3200" dirty="0">
                <a:solidFill>
                  <a:srgbClr val="323232"/>
                </a:solidFill>
                <a:ea typeface="Pretendard Medium"/>
              </a:rPr>
              <a:t>Q&amp;A</a:t>
            </a:r>
            <a:endParaRPr lang="ko-KR" sz="3200" b="0" i="0" u="none" strike="noStrike" dirty="0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801600" y="8369300"/>
            <a:ext cx="4978400" cy="584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소중한 질문 대답 시간</a:t>
            </a:r>
            <a:endParaRPr lang="ko-KR" sz="1800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D1A76EE-E31F-4E71-A069-E30A15A7179D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21FDE1A-E96C-44AC-B921-8263D067BE60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4D7BCB8-C813-4BE5-8256-6145DFDD2AD1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95158E-D1A4-46CC-AD36-3C4475124D5E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61BF290-1856-4786-B91C-8B80F3C4EE3F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4D5A441-2893-42B5-BC5D-06AF67F42F37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EE3BE73-4A99-43B3-AECC-6753439FB26B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08DF1F1-DE6B-42BB-8CA6-8BF9DEB5A365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0" y="-3429000"/>
            <a:ext cx="17145000" cy="1714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2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0A5FC4-B8D7-4CE8-86A0-B11D87B1CCBC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6BD7A2-6C01-43C9-928F-5A4FC01061DA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D0F1ED-4DE3-4147-AD95-7FD3ADA796A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26FC8-C223-49CF-87F6-765C227DAC1F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CDE7C9B-0815-4AA7-A605-87EBD85FD15C}"/>
              </a:ext>
            </a:extLst>
          </p:cNvPr>
          <p:cNvGrpSpPr/>
          <p:nvPr/>
        </p:nvGrpSpPr>
        <p:grpSpPr>
          <a:xfrm>
            <a:off x="1101784" y="3840163"/>
            <a:ext cx="11852216" cy="2606675"/>
            <a:chOff x="1101784" y="4479925"/>
            <a:chExt cx="11852216" cy="2606675"/>
          </a:xfrm>
        </p:grpSpPr>
        <p:sp>
          <p:nvSpPr>
            <p:cNvPr id="5" name="TextBox 5"/>
            <p:cNvSpPr txBox="1"/>
            <p:nvPr/>
          </p:nvSpPr>
          <p:spPr>
            <a:xfrm>
              <a:off x="1219200" y="4978400"/>
              <a:ext cx="11734800" cy="210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6500" dirty="0">
                  <a:solidFill>
                    <a:srgbClr val="323232"/>
                  </a:solidFill>
                  <a:ea typeface="Pretendard SemiBold"/>
                </a:rPr>
                <a:t>프로젝트 주제의 선정과 이유</a:t>
              </a:r>
              <a:endParaRPr lang="ko-KR" altLang="ko-KR" sz="6500" b="0" i="0" u="none" strike="noStrike" dirty="0">
                <a:solidFill>
                  <a:srgbClr val="323232"/>
                </a:solidFill>
                <a:ea typeface="Pretendard SemiBold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3D59812-9B55-4EC4-A4BC-BB5BCF10A868}"/>
                </a:ext>
              </a:extLst>
            </p:cNvPr>
            <p:cNvGrpSpPr/>
            <p:nvPr/>
          </p:nvGrpSpPr>
          <p:grpSpPr>
            <a:xfrm>
              <a:off x="1101784" y="4479925"/>
              <a:ext cx="1298864" cy="514350"/>
              <a:chOff x="1371600" y="4558725"/>
              <a:chExt cx="1506069" cy="58477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3F1BA-89D2-4376-BBB8-A7044F5C762A}"/>
                  </a:ext>
                </a:extLst>
              </p:cNvPr>
              <p:cNvSpPr txBox="1"/>
              <p:nvPr/>
            </p:nvSpPr>
            <p:spPr>
              <a:xfrm>
                <a:off x="137160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825DF6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825DF6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DDF0E8-F3B8-4228-8214-8CEFAF6420C8}"/>
                  </a:ext>
                </a:extLst>
              </p:cNvPr>
              <p:cNvSpPr txBox="1"/>
              <p:nvPr/>
            </p:nvSpPr>
            <p:spPr>
              <a:xfrm>
                <a:off x="182872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82EA1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82EA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E2E7A1-29C2-4D7A-A087-DB00A90E8FF7}"/>
                  </a:ext>
                </a:extLst>
              </p:cNvPr>
              <p:cNvSpPr txBox="1"/>
              <p:nvPr/>
            </p:nvSpPr>
            <p:spPr>
              <a:xfrm>
                <a:off x="2285839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FD3D8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FD3D8"/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19" name="TextBox 8">
            <a:extLst>
              <a:ext uri="{FF2B5EF4-FFF2-40B4-BE49-F238E27FC236}">
                <a16:creationId xmlns:a16="http://schemas.microsoft.com/office/drawing/2014/main" id="{FEFE0F3A-3F62-4492-8482-6DC112C2FE3C}"/>
              </a:ext>
            </a:extLst>
          </p:cNvPr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sz="2000" spc="100" dirty="0">
                <a:solidFill>
                  <a:srgbClr val="825DF6"/>
                </a:solidFill>
                <a:latin typeface="Pretendard Bold" panose="020B0600000101010101" charset="-127"/>
                <a:ea typeface="Pretendard Bold" panose="020B0600000101010101" charset="-127"/>
              </a:rPr>
              <a:t>J</a:t>
            </a:r>
            <a:r>
              <a:rPr lang="en-US" altLang="ko-KR" sz="2000" spc="100" dirty="0">
                <a:solidFill>
                  <a:srgbClr val="382EA1"/>
                </a:solidFill>
                <a:latin typeface="Pretendard Bold" panose="020B0600000101010101" charset="-127"/>
                <a:ea typeface="Pretendard Bold" panose="020B0600000101010101" charset="-127"/>
              </a:rPr>
              <a:t>B</a:t>
            </a:r>
            <a:r>
              <a:rPr lang="en-US" altLang="ko-KR" sz="2000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spc="100" dirty="0">
                <a:solidFill>
                  <a:srgbClr val="3FD3D8"/>
                </a:solidFill>
                <a:latin typeface="Pretendard Bold" panose="020B0600000101010101" charset="-127"/>
                <a:ea typeface="Pretendard Bold" panose="020B0600000101010101" charset="-127"/>
              </a:rPr>
              <a:t>CARE</a:t>
            </a:r>
            <a:r>
              <a:rPr lang="en-US" altLang="ko-KR" sz="2000" i="0" u="none" strike="noStrike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b="0" i="0" u="none" strike="noStrike" spc="100" dirty="0">
                <a:ea typeface="Pretendard Medium"/>
              </a:rPr>
              <a:t>. </a:t>
            </a:r>
            <a:r>
              <a:rPr lang="ko-KR" altLang="en-US" sz="2000" spc="100" dirty="0">
                <a:latin typeface="Pretendard Regular" panose="020B0600000101010101" charset="-127"/>
                <a:ea typeface="Pretendard Regular" panose="020B0600000101010101" charset="-127"/>
              </a:rPr>
              <a:t>박주원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 err="1">
                <a:latin typeface="Pretendard Regular" panose="020B0600000101010101" charset="-127"/>
                <a:ea typeface="Pretendard Regular" panose="020B0600000101010101" charset="-127"/>
              </a:rPr>
              <a:t>김탁현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>
                <a:latin typeface="Pretendard Regular" panose="020B0600000101010101" charset="-127"/>
                <a:ea typeface="Pretendard Regular" panose="020B0600000101010101" charset="-127"/>
              </a:rPr>
              <a:t>김세훈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 err="1">
                <a:latin typeface="Pretendard Regular" panose="020B0600000101010101" charset="-127"/>
                <a:ea typeface="Pretendard Regular" panose="020B0600000101010101" charset="-127"/>
              </a:rPr>
              <a:t>최윤형</a:t>
            </a:r>
            <a:r>
              <a:rPr lang="en-US" altLang="ko-KR" sz="2000" i="0" u="none" strike="noStrike" spc="1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000" i="0" u="none" strike="noStrike" spc="1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73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8500" y="-1549400"/>
            <a:ext cx="13373100" cy="13373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481" y="1308100"/>
            <a:ext cx="11887202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프로젝트 주제의 선정과 이유</a:t>
            </a:r>
            <a:endParaRPr lang="ko-KR" alt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481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>
                <a:solidFill>
                  <a:srgbClr val="323232"/>
                </a:solidFill>
                <a:latin typeface="Baskerville Old Face"/>
              </a:rPr>
              <a:t>Analysis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dirty="0">
                <a:solidFill>
                  <a:srgbClr val="787878"/>
                </a:solidFill>
                <a:latin typeface="Pretendard Medium"/>
              </a:rPr>
              <a:t>3</a:t>
            </a:r>
            <a:endParaRPr lang="en-US" sz="1600" b="0" i="0" u="none" strike="noStrike" dirty="0">
              <a:solidFill>
                <a:srgbClr val="787878"/>
              </a:solidFill>
              <a:latin typeface="Pretendard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83F23E-6C08-4CAA-9C4D-68F0E90B1B00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4821A2-6A13-4DAC-A05E-A523BCA24F2D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E93AE1-EBB0-4535-B8FF-64A7A0B27E98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65D204-C7D2-497C-9EE1-4F13912F6F19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18115CE-E39C-4942-B24C-2917F205926B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B57C1DA-CD83-4D84-9290-867B77FD89DE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0BE27D-F1DB-45B0-8C81-1EF4B4A73574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7DDAF3-99A6-47A5-9819-2775AD371531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52141FC-D800-4F6D-B240-A553AC62BF3C}"/>
              </a:ext>
            </a:extLst>
          </p:cNvPr>
          <p:cNvGrpSpPr/>
          <p:nvPr/>
        </p:nvGrpSpPr>
        <p:grpSpPr>
          <a:xfrm>
            <a:off x="1672952" y="3232150"/>
            <a:ext cx="14942097" cy="6184900"/>
            <a:chOff x="1047204" y="3308350"/>
            <a:chExt cx="14942097" cy="61849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204" y="3308350"/>
              <a:ext cx="6197600" cy="6184900"/>
            </a:xfrm>
            <a:prstGeom prst="rect">
              <a:avLst/>
            </a:prstGeom>
            <a:effectLst>
              <a:outerShdw blurRad="381753" dist="190500" dir="2700000">
                <a:srgbClr val="000000">
                  <a:alpha val="30000"/>
                </a:srgbClr>
              </a:outerShdw>
            </a:effectLst>
          </p:spPr>
        </p:pic>
        <p:sp>
          <p:nvSpPr>
            <p:cNvPr id="7" name="TextBox 7"/>
            <p:cNvSpPr txBox="1"/>
            <p:nvPr/>
          </p:nvSpPr>
          <p:spPr>
            <a:xfrm>
              <a:off x="1553714" y="6819083"/>
              <a:ext cx="5184581" cy="13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50000"/>
                </a:lnSpc>
              </a:pPr>
              <a:r>
                <a:rPr lang="ko-KR" altLang="en-US" sz="3200" b="1" dirty="0">
                  <a:solidFill>
                    <a:srgbClr val="32323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홈페이지</a:t>
              </a:r>
              <a:r>
                <a:rPr lang="ko-KR" altLang="en-US" sz="3200" dirty="0">
                  <a:solidFill>
                    <a:srgbClr val="32323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에서</a:t>
              </a:r>
              <a:endParaRPr lang="en-US" altLang="ko-KR" sz="3200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lvl="0" algn="ctr"/>
              <a:r>
                <a:rPr lang="ko-KR" altLang="en-US" sz="4000" dirty="0">
                  <a:solidFill>
                    <a:schemeClr val="bg1"/>
                  </a:solidFill>
                  <a:highlight>
                    <a:srgbClr val="3FD3D8"/>
                  </a:highlight>
                  <a:ea typeface="Pretendard SemiBold"/>
                </a:rPr>
                <a:t>진료 관련</a:t>
              </a:r>
              <a:r>
                <a:rPr lang="ko-KR" altLang="en-US" sz="4000" b="0" i="0" u="none" strike="noStrike" dirty="0">
                  <a:solidFill>
                    <a:schemeClr val="bg1"/>
                  </a:solidFill>
                  <a:highlight>
                    <a:srgbClr val="3FD3D8"/>
                  </a:highlight>
                  <a:ea typeface="Pretendard SemiBold"/>
                </a:rPr>
                <a:t>증명서 출력 </a:t>
              </a:r>
              <a:endParaRPr lang="en-US" sz="4000" b="0" i="0" u="none" strike="noStrike" dirty="0">
                <a:solidFill>
                  <a:schemeClr val="bg1"/>
                </a:solidFill>
                <a:highlight>
                  <a:srgbClr val="3FD3D8"/>
                </a:highlight>
                <a:latin typeface="Pretendard SemiBold"/>
              </a:endParaR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9301" y="3456760"/>
              <a:ext cx="7620000" cy="283464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8369301" y="3456760"/>
              <a:ext cx="83372" cy="283464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8824912" y="4720321"/>
              <a:ext cx="6934200" cy="11744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dirty="0">
                  <a:latin typeface="Pretendard Regular" panose="020B0600000101010101" charset="-127"/>
                  <a:ea typeface="Pretendard Regular" panose="020B0600000101010101" charset="-127"/>
                </a:rPr>
                <a:t>환자가 자신의 진료 기록과 중요한 정보를 쉽게 접근하고</a:t>
              </a:r>
              <a:r>
                <a:rPr lang="en-US" altLang="ko-KR" dirty="0">
                  <a:latin typeface="Pretendard Regular" panose="020B0600000101010101" charset="-127"/>
                  <a:ea typeface="Pretendard Regular" panose="020B0600000101010101" charset="-127"/>
                </a:rPr>
                <a:t>,</a:t>
              </a:r>
            </a:p>
            <a:p>
              <a:pPr lvl="0" algn="l"/>
              <a:r>
                <a:rPr lang="ko-KR" altLang="en-US" sz="2400" b="1" dirty="0">
                  <a:solidFill>
                    <a:srgbClr val="382EA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필요한 문서를 손쉽게 출력</a:t>
              </a:r>
              <a:r>
                <a:rPr lang="ko-KR" altLang="en-US" dirty="0">
                  <a:latin typeface="Pretendard Regular" panose="020B0600000101010101" charset="-127"/>
                  <a:ea typeface="Pretendard Regular" panose="020B0600000101010101" charset="-127"/>
                </a:rPr>
                <a:t>할 수 있습니다</a:t>
              </a:r>
              <a:r>
                <a:rPr lang="en-US" altLang="ko-KR" dirty="0">
                  <a:latin typeface="Pretendard Regular" panose="020B0600000101010101" charset="-127"/>
                  <a:ea typeface="Pretendard Regular" panose="020B0600000101010101" charset="-127"/>
                </a:rPr>
                <a:t>.</a:t>
              </a:r>
              <a:endParaRPr lang="en-US" sz="1800" b="0" i="0" u="none" strike="noStrike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24912" y="3976477"/>
              <a:ext cx="4051300" cy="690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sz="2800" b="0" i="0" u="none" strike="noStrike" dirty="0">
                  <a:solidFill>
                    <a:srgbClr val="323232"/>
                  </a:solidFill>
                  <a:latin typeface="Pretendard Bold"/>
                </a:rPr>
                <a:t>1. </a:t>
              </a:r>
              <a:r>
                <a:rPr lang="ko-KR" altLang="en-US" sz="2800" b="0" i="0" u="none" strike="noStrike" dirty="0">
                  <a:solidFill>
                    <a:srgbClr val="323232"/>
                  </a:solidFill>
                  <a:ea typeface="Pretendard Bold"/>
                </a:rPr>
                <a:t>환자가 손쉽게 출력 </a:t>
              </a:r>
              <a:endParaRPr lang="ko-KR" sz="2800" b="0" i="0" u="none" strike="noStrike" dirty="0">
                <a:solidFill>
                  <a:srgbClr val="323232"/>
                </a:solidFill>
                <a:ea typeface="Pretendard Bold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EFC8110-0A1A-45A3-BF21-284CC3BFC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14037" y="4113916"/>
              <a:ext cx="2463935" cy="2463935"/>
            </a:xfrm>
            <a:prstGeom prst="rect">
              <a:avLst/>
            </a:prstGeom>
          </p:spPr>
        </p:pic>
        <p:pic>
          <p:nvPicPr>
            <p:cNvPr id="34" name="Picture 9">
              <a:extLst>
                <a:ext uri="{FF2B5EF4-FFF2-40B4-BE49-F238E27FC236}">
                  <a16:creationId xmlns:a16="http://schemas.microsoft.com/office/drawing/2014/main" id="{B313D316-7FEA-446D-B8A3-8D64D78F6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69300" y="6446703"/>
              <a:ext cx="7620000" cy="2834640"/>
            </a:xfrm>
            <a:prstGeom prst="rect">
              <a:avLst/>
            </a:prstGeom>
          </p:spPr>
        </p:pic>
        <p:pic>
          <p:nvPicPr>
            <p:cNvPr id="38" name="Picture 10">
              <a:extLst>
                <a:ext uri="{FF2B5EF4-FFF2-40B4-BE49-F238E27FC236}">
                  <a16:creationId xmlns:a16="http://schemas.microsoft.com/office/drawing/2014/main" id="{8207893E-29E3-47B5-ADF6-ED79E105E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8369301" y="6446703"/>
              <a:ext cx="83372" cy="2834640"/>
            </a:xfrm>
            <a:prstGeom prst="rect">
              <a:avLst/>
            </a:prstGeom>
          </p:spPr>
        </p:pic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EFE6E437-0D10-446B-B69B-9CF3F0D0A5E5}"/>
                </a:ext>
              </a:extLst>
            </p:cNvPr>
            <p:cNvSpPr txBox="1"/>
            <p:nvPr/>
          </p:nvSpPr>
          <p:spPr>
            <a:xfrm>
              <a:off x="8824912" y="7710264"/>
              <a:ext cx="6934200" cy="11744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00" b="0" i="0" u="none" strike="noStrike" dirty="0">
                  <a:solidFill>
                    <a:srgbClr val="323232"/>
                  </a:solidFill>
                  <a:ea typeface="Pretendard Regular"/>
                </a:rPr>
                <a:t>진료 기록은 주로 특정 기관에 제출  용도로 사용되며</a:t>
              </a:r>
              <a:r>
                <a:rPr lang="en-US" altLang="ko-KR" sz="1800" b="0" i="0" u="none" strike="noStrike" dirty="0">
                  <a:solidFill>
                    <a:srgbClr val="323232"/>
                  </a:solidFill>
                  <a:ea typeface="Pretendard Regular"/>
                </a:rPr>
                <a:t>,</a:t>
              </a:r>
            </a:p>
            <a:p>
              <a:pPr lvl="0" algn="l">
                <a:lnSpc>
                  <a:spcPct val="116199"/>
                </a:lnSpc>
              </a:pPr>
              <a:r>
                <a:rPr lang="ko-KR" altLang="en-US" sz="1800" b="0" i="0" u="none" strike="noStrike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개인 정보에 포함 되므로 발급에 </a:t>
              </a:r>
              <a:r>
                <a:rPr lang="ko-KR" altLang="en-US" sz="2400" b="1" i="0" u="none" strike="noStrike" dirty="0">
                  <a:solidFill>
                    <a:srgbClr val="382EA1"/>
                  </a:solidFill>
                  <a:latin typeface="Pretendard Regular"/>
                  <a:ea typeface="Pretendard Regular"/>
                </a:rPr>
                <a:t>본인 인증과 같은 보안성</a:t>
              </a:r>
              <a:r>
                <a:rPr lang="ko-KR" altLang="en-US" sz="1800" b="0" i="0" u="none" strike="noStrike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이 요구 된다</a:t>
              </a:r>
              <a:r>
                <a:rPr lang="en-US" altLang="ko-KR" sz="1800" b="0" i="0" u="none" strike="noStrike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.</a:t>
              </a:r>
              <a:endParaRPr lang="en-US" altLang="ko-KR" sz="1800" b="0" i="0" u="none" strike="noStrike" dirty="0">
                <a:solidFill>
                  <a:srgbClr val="323232"/>
                </a:solidFill>
                <a:latin typeface="Pretendard Regular"/>
              </a:endParaRPr>
            </a:p>
          </p:txBody>
        </p:sp>
        <p:sp>
          <p:nvSpPr>
            <p:cNvPr id="40" name="TextBox 12">
              <a:extLst>
                <a:ext uri="{FF2B5EF4-FFF2-40B4-BE49-F238E27FC236}">
                  <a16:creationId xmlns:a16="http://schemas.microsoft.com/office/drawing/2014/main" id="{6ED0362D-4F2C-4C62-8522-9766C2FE6C75}"/>
                </a:ext>
              </a:extLst>
            </p:cNvPr>
            <p:cNvSpPr txBox="1"/>
            <p:nvPr/>
          </p:nvSpPr>
          <p:spPr>
            <a:xfrm>
              <a:off x="8824912" y="6966420"/>
              <a:ext cx="4051300" cy="690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en-US" sz="2800" dirty="0">
                  <a:solidFill>
                    <a:srgbClr val="323232"/>
                  </a:solidFill>
                  <a:latin typeface="Pretendard Bold"/>
                </a:rPr>
                <a:t>2</a:t>
              </a:r>
              <a:r>
                <a:rPr lang="en-US" sz="2800" b="0" i="0" u="none" strike="noStrike" dirty="0">
                  <a:solidFill>
                    <a:srgbClr val="323232"/>
                  </a:solidFill>
                  <a:latin typeface="Pretendard Bold"/>
                </a:rPr>
                <a:t>. </a:t>
              </a:r>
              <a:r>
                <a:rPr lang="ko-KR" altLang="en-US" sz="2800" b="0" i="0" u="none" strike="noStrike" dirty="0">
                  <a:solidFill>
                    <a:srgbClr val="323232"/>
                  </a:solidFill>
                  <a:ea typeface="Pretendard Bold"/>
                </a:rPr>
                <a:t>환자의 </a:t>
              </a:r>
              <a:r>
                <a:rPr lang="ko-KR" altLang="en-US" sz="2800" dirty="0">
                  <a:solidFill>
                    <a:srgbClr val="323232"/>
                  </a:solidFill>
                  <a:ea typeface="Pretendard Bold"/>
                </a:rPr>
                <a:t>개인정보</a:t>
              </a:r>
              <a:r>
                <a:rPr lang="ko-KR" altLang="en-US" sz="2800" b="0" i="0" u="none" strike="noStrike" dirty="0">
                  <a:solidFill>
                    <a:srgbClr val="323232"/>
                  </a:solidFill>
                  <a:ea typeface="Pretendard Bold"/>
                </a:rPr>
                <a:t> 보호</a:t>
              </a:r>
              <a:endParaRPr lang="ko-KR" sz="2800" b="0" i="0" u="none" strike="noStrike" dirty="0">
                <a:solidFill>
                  <a:srgbClr val="323232"/>
                </a:solidFill>
                <a:ea typeface="Pretendard 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>
            <a:extLst>
              <a:ext uri="{FF2B5EF4-FFF2-40B4-BE49-F238E27FC236}">
                <a16:creationId xmlns:a16="http://schemas.microsoft.com/office/drawing/2014/main" id="{5CF49272-8BE7-4F04-BA4C-D3580AC7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1549400"/>
            <a:ext cx="13373100" cy="13373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04530" y="1308100"/>
            <a:ext cx="9829799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프로젝트 목표 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4531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Project Goals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8" name="TextBox 18"/>
          <p:cNvSpPr txBox="1"/>
          <p:nvPr/>
        </p:nvSpPr>
        <p:spPr>
          <a:xfrm>
            <a:off x="-6819900" y="-7366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endParaRPr lang="en-US" sz="2000" b="0" i="0" u="none" strike="noStrike" dirty="0">
              <a:solidFill>
                <a:srgbClr val="FAFAFA"/>
              </a:solidFill>
              <a:latin typeface="Pretendard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0" name="TextBox 30"/>
          <p:cNvSpPr txBox="1"/>
          <p:nvPr/>
        </p:nvSpPr>
        <p:spPr>
          <a:xfrm>
            <a:off x="-6819900" y="914400"/>
            <a:ext cx="2540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en-US" sz="2000" b="0" i="0" u="none" strike="noStrike">
                <a:solidFill>
                  <a:srgbClr val="FAFAFA"/>
                </a:solidFill>
                <a:latin typeface="Pretendard Bold"/>
              </a:rPr>
              <a:t>4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56EB562-008E-4AD1-B885-876A9BA89980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62C6BE-89C4-43EE-A55B-755F92BCC253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637176-2F2E-4BDB-83F2-55CB1A9BCE73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863D7F0-9B1C-44AC-BB7C-49C871F50D1A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C3E7BD0-E2C9-4830-A38E-5ACDFEFCCC8D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EABCC9-DF76-415E-BBBF-F4705F33744A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323DF27-A74C-4DE7-B0AF-0F6FC46DE4BA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9693FE8-1500-48F6-980D-54F0ADB849E4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ACDD6BC-8BCA-4F3F-95BF-9D9488617AAE}"/>
              </a:ext>
            </a:extLst>
          </p:cNvPr>
          <p:cNvGrpSpPr/>
          <p:nvPr/>
        </p:nvGrpSpPr>
        <p:grpSpPr>
          <a:xfrm>
            <a:off x="1282700" y="4095750"/>
            <a:ext cx="15722600" cy="3314700"/>
            <a:chOff x="1282700" y="3937000"/>
            <a:chExt cx="15722600" cy="3314700"/>
          </a:xfrm>
        </p:grpSpPr>
        <p:pic>
          <p:nvPicPr>
            <p:cNvPr id="41" name="Picture 9">
              <a:extLst>
                <a:ext uri="{FF2B5EF4-FFF2-40B4-BE49-F238E27FC236}">
                  <a16:creationId xmlns:a16="http://schemas.microsoft.com/office/drawing/2014/main" id="{81C9F5A9-A3E2-42BA-893E-3845EC1A8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2700" y="3937000"/>
              <a:ext cx="7620000" cy="1473200"/>
            </a:xfrm>
            <a:prstGeom prst="rect">
              <a:avLst/>
            </a:prstGeom>
          </p:spPr>
        </p:pic>
        <p:pic>
          <p:nvPicPr>
            <p:cNvPr id="42" name="Picture 11">
              <a:extLst>
                <a:ext uri="{FF2B5EF4-FFF2-40B4-BE49-F238E27FC236}">
                  <a16:creationId xmlns:a16="http://schemas.microsoft.com/office/drawing/2014/main" id="{830D88ED-F357-4F21-BB95-9D004CCDA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" y="4470400"/>
              <a:ext cx="381000" cy="381000"/>
            </a:xfrm>
            <a:prstGeom prst="rect">
              <a:avLst/>
            </a:prstGeom>
          </p:spPr>
        </p:pic>
        <p:sp>
          <p:nvSpPr>
            <p:cNvPr id="43" name="TextBox 12">
              <a:extLst>
                <a:ext uri="{FF2B5EF4-FFF2-40B4-BE49-F238E27FC236}">
                  <a16:creationId xmlns:a16="http://schemas.microsoft.com/office/drawing/2014/main" id="{A7BCB9CB-422E-4754-B143-44464D452A29}"/>
                </a:ext>
              </a:extLst>
            </p:cNvPr>
            <p:cNvSpPr txBox="1"/>
            <p:nvPr/>
          </p:nvSpPr>
          <p:spPr>
            <a:xfrm>
              <a:off x="1701800" y="44831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>
                  <a:solidFill>
                    <a:srgbClr val="FAFAFA"/>
                  </a:solidFill>
                  <a:latin typeface="Pretendard Bold"/>
                </a:rPr>
                <a:t>1</a:t>
              </a:r>
            </a:p>
          </p:txBody>
        </p:sp>
        <p:sp>
          <p:nvSpPr>
            <p:cNvPr id="56" name="TextBox 13">
              <a:extLst>
                <a:ext uri="{FF2B5EF4-FFF2-40B4-BE49-F238E27FC236}">
                  <a16:creationId xmlns:a16="http://schemas.microsoft.com/office/drawing/2014/main" id="{FF027768-D79E-4466-A215-C5F70CCB4A92}"/>
                </a:ext>
              </a:extLst>
            </p:cNvPr>
            <p:cNvSpPr txBox="1"/>
            <p:nvPr/>
          </p:nvSpPr>
          <p:spPr>
            <a:xfrm>
              <a:off x="2362200" y="4368800"/>
              <a:ext cx="6197600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홈페이지에 </a:t>
              </a:r>
              <a:r>
                <a:rPr lang="ko-KR" altLang="en-US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회원가입</a:t>
              </a: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과 </a:t>
              </a:r>
              <a:r>
                <a:rPr lang="ko-KR" altLang="en-US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로그인</a:t>
              </a: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 기능 만들기</a:t>
              </a:r>
              <a:endParaRPr lang="en-US" sz="2400" b="0" i="0" u="none" strike="noStrike" dirty="0">
                <a:solidFill>
                  <a:srgbClr val="323232"/>
                </a:solidFill>
                <a:latin typeface="Pretendard Regular"/>
              </a:endParaRPr>
            </a:p>
          </p:txBody>
        </p:sp>
        <p:pic>
          <p:nvPicPr>
            <p:cNvPr id="57" name="Picture 15">
              <a:extLst>
                <a:ext uri="{FF2B5EF4-FFF2-40B4-BE49-F238E27FC236}">
                  <a16:creationId xmlns:a16="http://schemas.microsoft.com/office/drawing/2014/main" id="{5A867412-69C4-4A91-BA4A-2837CCD1C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85300" y="3937000"/>
              <a:ext cx="7620000" cy="1473200"/>
            </a:xfrm>
            <a:prstGeom prst="rect">
              <a:avLst/>
            </a:prstGeom>
          </p:spPr>
        </p:pic>
        <p:pic>
          <p:nvPicPr>
            <p:cNvPr id="58" name="Picture 17">
              <a:extLst>
                <a:ext uri="{FF2B5EF4-FFF2-40B4-BE49-F238E27FC236}">
                  <a16:creationId xmlns:a16="http://schemas.microsoft.com/office/drawing/2014/main" id="{9DB2F0A1-854B-44D1-A3B1-CF9CE38FE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4470400"/>
              <a:ext cx="381000" cy="381000"/>
            </a:xfrm>
            <a:prstGeom prst="rect">
              <a:avLst/>
            </a:prstGeom>
          </p:spPr>
        </p:pic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39454CA3-1680-426E-8D66-32C5AC3A1A22}"/>
                </a:ext>
              </a:extLst>
            </p:cNvPr>
            <p:cNvSpPr txBox="1"/>
            <p:nvPr/>
          </p:nvSpPr>
          <p:spPr>
            <a:xfrm>
              <a:off x="9791700" y="44831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 dirty="0">
                  <a:solidFill>
                    <a:srgbClr val="FAFAFA"/>
                  </a:solidFill>
                  <a:latin typeface="Pretendard Bold"/>
                </a:rPr>
                <a:t>2</a:t>
              </a: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9E6F8051-06BD-453C-BF41-0355D5F9ABB7}"/>
                </a:ext>
              </a:extLst>
            </p:cNvPr>
            <p:cNvSpPr txBox="1"/>
            <p:nvPr/>
          </p:nvSpPr>
          <p:spPr>
            <a:xfrm>
              <a:off x="10464800" y="4368800"/>
              <a:ext cx="6197600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홈페이지에</a:t>
              </a:r>
              <a:r>
                <a:rPr lang="en-US" sz="2400" b="0" i="0" u="none" strike="noStrike" dirty="0">
                  <a:solidFill>
                    <a:srgbClr val="323232"/>
                  </a:solidFill>
                  <a:latin typeface="Pretendard Regular"/>
                </a:rPr>
                <a:t> </a:t>
              </a: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로그인 후</a:t>
              </a:r>
              <a:r>
                <a:rPr lang="en-US" altLang="ko-KR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, </a:t>
              </a:r>
              <a:r>
                <a:rPr lang="ko-KR" altLang="en-US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주민등록번호로 인증 </a:t>
              </a: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만들기</a:t>
              </a:r>
              <a:endParaRPr lang="en-US" sz="2400" b="0" i="0" u="none" strike="noStrike" dirty="0">
                <a:solidFill>
                  <a:srgbClr val="323232"/>
                </a:solidFill>
                <a:latin typeface="Pretendard Regular"/>
              </a:endParaRPr>
            </a:p>
          </p:txBody>
        </p:sp>
        <p:pic>
          <p:nvPicPr>
            <p:cNvPr id="61" name="Picture 21">
              <a:extLst>
                <a:ext uri="{FF2B5EF4-FFF2-40B4-BE49-F238E27FC236}">
                  <a16:creationId xmlns:a16="http://schemas.microsoft.com/office/drawing/2014/main" id="{A9A2D281-E734-4350-BFDA-7B15DB12A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2700" y="5778500"/>
              <a:ext cx="7620000" cy="1473200"/>
            </a:xfrm>
            <a:prstGeom prst="rect">
              <a:avLst/>
            </a:prstGeom>
          </p:spPr>
        </p:pic>
        <p:pic>
          <p:nvPicPr>
            <p:cNvPr id="62" name="Picture 23">
              <a:extLst>
                <a:ext uri="{FF2B5EF4-FFF2-40B4-BE49-F238E27FC236}">
                  <a16:creationId xmlns:a16="http://schemas.microsoft.com/office/drawing/2014/main" id="{0507F09E-D2BB-489C-A1DC-0F79D3D24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8300" y="6324600"/>
              <a:ext cx="381000" cy="381000"/>
            </a:xfrm>
            <a:prstGeom prst="rect">
              <a:avLst/>
            </a:prstGeom>
          </p:spPr>
        </p:pic>
        <p:sp>
          <p:nvSpPr>
            <p:cNvPr id="63" name="TextBox 24">
              <a:extLst>
                <a:ext uri="{FF2B5EF4-FFF2-40B4-BE49-F238E27FC236}">
                  <a16:creationId xmlns:a16="http://schemas.microsoft.com/office/drawing/2014/main" id="{F86AC009-03E2-40B4-80C5-6374BFA08231}"/>
                </a:ext>
              </a:extLst>
            </p:cNvPr>
            <p:cNvSpPr txBox="1"/>
            <p:nvPr/>
          </p:nvSpPr>
          <p:spPr>
            <a:xfrm>
              <a:off x="1701800" y="6324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>
                  <a:solidFill>
                    <a:srgbClr val="FAFAFA"/>
                  </a:solidFill>
                  <a:latin typeface="Pretendard Bold"/>
                </a:rPr>
                <a:t>3</a:t>
              </a:r>
            </a:p>
          </p:txBody>
        </p:sp>
        <p:sp>
          <p:nvSpPr>
            <p:cNvPr id="64" name="TextBox 25">
              <a:extLst>
                <a:ext uri="{FF2B5EF4-FFF2-40B4-BE49-F238E27FC236}">
                  <a16:creationId xmlns:a16="http://schemas.microsoft.com/office/drawing/2014/main" id="{DBC1776F-8C86-4AEF-9759-90B43CA317F0}"/>
                </a:ext>
              </a:extLst>
            </p:cNvPr>
            <p:cNvSpPr txBox="1"/>
            <p:nvPr/>
          </p:nvSpPr>
          <p:spPr>
            <a:xfrm>
              <a:off x="2362200" y="6210300"/>
              <a:ext cx="6197600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2400" b="0" i="0" u="none" strike="noStrike" dirty="0">
                  <a:solidFill>
                    <a:srgbClr val="323232"/>
                  </a:solidFill>
                  <a:latin typeface="Pretendard Regular"/>
                </a:rPr>
                <a:t>비회원은 </a:t>
              </a:r>
              <a:r>
                <a:rPr lang="ko-KR" altLang="en-US" sz="2400" b="1" i="0" u="none" strike="noStrike" dirty="0">
                  <a:solidFill>
                    <a:srgbClr val="323232"/>
                  </a:solidFill>
                  <a:latin typeface="Pretendard Regular"/>
                </a:rPr>
                <a:t>주민등록번호</a:t>
              </a:r>
              <a:r>
                <a:rPr lang="ko-KR" altLang="en-US" sz="2400" b="0" i="0" u="none" strike="noStrike" dirty="0">
                  <a:solidFill>
                    <a:srgbClr val="323232"/>
                  </a:solidFill>
                  <a:latin typeface="Pretendard Regular"/>
                </a:rPr>
                <a:t>와</a:t>
              </a:r>
              <a:r>
                <a:rPr lang="en-US" altLang="ko-KR" sz="2400" dirty="0">
                  <a:solidFill>
                    <a:srgbClr val="323232"/>
                  </a:solidFill>
                  <a:latin typeface="Pretendard Regular"/>
                </a:rPr>
                <a:t> </a:t>
              </a:r>
              <a:r>
                <a:rPr lang="ko-KR" altLang="en-US" sz="2400" b="1" i="0" u="none" strike="noStrike" dirty="0">
                  <a:solidFill>
                    <a:srgbClr val="323232"/>
                  </a:solidFill>
                  <a:latin typeface="Pretendard Regular"/>
                </a:rPr>
                <a:t>이메일</a:t>
              </a:r>
              <a:r>
                <a:rPr lang="ko-KR" altLang="en-US" sz="2400" b="0" i="0" u="none" strike="noStrike" dirty="0">
                  <a:solidFill>
                    <a:srgbClr val="323232"/>
                  </a:solidFill>
                  <a:latin typeface="Pretendard Regular"/>
                </a:rPr>
                <a:t> 입력해서 </a:t>
              </a:r>
              <a:r>
                <a:rPr lang="ko-KR" altLang="en-US" sz="2400" b="1" i="0" u="none" strike="noStrike" dirty="0">
                  <a:solidFill>
                    <a:srgbClr val="323232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인증번호 받기</a:t>
              </a:r>
              <a:endParaRPr lang="en-US" sz="2400" b="1" i="0" u="none" strike="noStrike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pic>
          <p:nvPicPr>
            <p:cNvPr id="65" name="Picture 27">
              <a:extLst>
                <a:ext uri="{FF2B5EF4-FFF2-40B4-BE49-F238E27FC236}">
                  <a16:creationId xmlns:a16="http://schemas.microsoft.com/office/drawing/2014/main" id="{6EC5423F-7DBF-4F61-A69B-075D4F82A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600" y="5778500"/>
              <a:ext cx="7620000" cy="1473200"/>
            </a:xfrm>
            <a:prstGeom prst="rect">
              <a:avLst/>
            </a:prstGeom>
          </p:spPr>
        </p:pic>
        <p:pic>
          <p:nvPicPr>
            <p:cNvPr id="66" name="Picture 29">
              <a:extLst>
                <a:ext uri="{FF2B5EF4-FFF2-40B4-BE49-F238E27FC236}">
                  <a16:creationId xmlns:a16="http://schemas.microsoft.com/office/drawing/2014/main" id="{C5BC9827-F855-41A7-9D97-BBA14C630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6324600"/>
              <a:ext cx="381000" cy="381000"/>
            </a:xfrm>
            <a:prstGeom prst="rect">
              <a:avLst/>
            </a:prstGeom>
          </p:spPr>
        </p:pic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073679AD-1195-41C7-A6D7-1FD543A52098}"/>
                </a:ext>
              </a:extLst>
            </p:cNvPr>
            <p:cNvSpPr txBox="1"/>
            <p:nvPr/>
          </p:nvSpPr>
          <p:spPr>
            <a:xfrm>
              <a:off x="9791700" y="6324600"/>
              <a:ext cx="2540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5449"/>
                </a:lnSpc>
              </a:pPr>
              <a:r>
                <a:rPr lang="en-US" sz="2000" b="0" i="0" u="none" strike="noStrike">
                  <a:solidFill>
                    <a:srgbClr val="FAFAFA"/>
                  </a:solidFill>
                  <a:latin typeface="Pretendard Bold"/>
                </a:rPr>
                <a:t>4</a:t>
              </a:r>
            </a:p>
          </p:txBody>
        </p:sp>
        <p:sp>
          <p:nvSpPr>
            <p:cNvPr id="68" name="TextBox 31">
              <a:extLst>
                <a:ext uri="{FF2B5EF4-FFF2-40B4-BE49-F238E27FC236}">
                  <a16:creationId xmlns:a16="http://schemas.microsoft.com/office/drawing/2014/main" id="{2C6F60F0-2EF0-47BD-9E0B-0EB45DC6EABE}"/>
                </a:ext>
              </a:extLst>
            </p:cNvPr>
            <p:cNvSpPr txBox="1"/>
            <p:nvPr/>
          </p:nvSpPr>
          <p:spPr>
            <a:xfrm>
              <a:off x="10452100" y="6210300"/>
              <a:ext cx="6197600" cy="584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진료관련 증명서 출력을 </a:t>
              </a:r>
              <a:r>
                <a:rPr lang="en-US" altLang="ko-KR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PDF</a:t>
              </a:r>
              <a:r>
                <a:rPr lang="ko-KR" altLang="en-US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저장과</a:t>
              </a:r>
              <a:endParaRPr lang="en-US" altLang="ko-KR" sz="2400" b="1" dirty="0">
                <a:solidFill>
                  <a:srgbClr val="323232"/>
                </a:solidFill>
                <a:latin typeface="Pretendard Regular"/>
                <a:ea typeface="Pretendard Regular"/>
              </a:endParaRPr>
            </a:p>
            <a:p>
              <a:pPr lvl="0" algn="l">
                <a:lnSpc>
                  <a:spcPct val="95449"/>
                </a:lnSpc>
              </a:pPr>
              <a:r>
                <a:rPr lang="ko-KR" altLang="en-US" sz="2400" b="1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프린트 출력 </a:t>
              </a:r>
              <a:r>
                <a:rPr lang="ko-KR" altLang="en-US" sz="2400" dirty="0">
                  <a:solidFill>
                    <a:srgbClr val="323232"/>
                  </a:solidFill>
                  <a:latin typeface="Pretendard Regular"/>
                  <a:ea typeface="Pretendard Regular"/>
                </a:rPr>
                <a:t>만들기</a:t>
              </a:r>
              <a:endParaRPr lang="en-US" sz="2400" b="0" i="0" u="none" strike="noStrike" dirty="0">
                <a:solidFill>
                  <a:srgbClr val="323232"/>
                </a:solidFill>
                <a:latin typeface="Pretendard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857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0" y="-3429000"/>
            <a:ext cx="17145000" cy="1714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800" b="0" i="0" u="none" strike="noStrike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5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0A5FC4-B8D7-4CE8-86A0-B11D87B1CCBC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6BD7A2-6C01-43C9-928F-5A4FC01061DA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D0F1ED-4DE3-4147-AD95-7FD3ADA796A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26FC8-C223-49CF-87F6-765C227DAC1F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23CCE64-F6F4-47CD-9421-11EB25CF202B}"/>
              </a:ext>
            </a:extLst>
          </p:cNvPr>
          <p:cNvGrpSpPr/>
          <p:nvPr/>
        </p:nvGrpSpPr>
        <p:grpSpPr>
          <a:xfrm>
            <a:off x="1101784" y="3840163"/>
            <a:ext cx="11852216" cy="2606675"/>
            <a:chOff x="1101784" y="4479925"/>
            <a:chExt cx="11852216" cy="2606675"/>
          </a:xfrm>
        </p:grpSpPr>
        <p:sp>
          <p:nvSpPr>
            <p:cNvPr id="5" name="TextBox 5"/>
            <p:cNvSpPr txBox="1"/>
            <p:nvPr/>
          </p:nvSpPr>
          <p:spPr>
            <a:xfrm>
              <a:off x="1219200" y="4978400"/>
              <a:ext cx="11734800" cy="210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en-US" altLang="ko-KR" sz="6500" dirty="0">
                  <a:solidFill>
                    <a:schemeClr val="bg1"/>
                  </a:solidFill>
                  <a:highlight>
                    <a:srgbClr val="825DF6"/>
                  </a:highlight>
                  <a:ea typeface="Pretendard SemiBold"/>
                </a:rPr>
                <a:t> JB </a:t>
              </a:r>
              <a:r>
                <a:rPr lang="en-US" altLang="ko-KR" sz="6500" dirty="0">
                  <a:solidFill>
                    <a:schemeClr val="bg1"/>
                  </a:solidFill>
                  <a:highlight>
                    <a:srgbClr val="3FD3D8"/>
                  </a:highlight>
                  <a:ea typeface="Pretendard SemiBold"/>
                </a:rPr>
                <a:t>CARE </a:t>
              </a:r>
              <a:r>
                <a:rPr lang="ko-KR" altLang="en-US" sz="6500" dirty="0">
                  <a:solidFill>
                    <a:srgbClr val="323232"/>
                  </a:solidFill>
                  <a:ea typeface="Pretendard SemiBold"/>
                </a:rPr>
                <a:t>멤버를 소개합니다</a:t>
              </a:r>
              <a:endParaRPr lang="ko-KR" altLang="ko-KR" sz="6500" b="0" i="0" u="none" strike="noStrike" dirty="0">
                <a:solidFill>
                  <a:srgbClr val="323232"/>
                </a:solidFill>
                <a:ea typeface="Pretendard SemiBold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3D59812-9B55-4EC4-A4BC-BB5BCF10A868}"/>
                </a:ext>
              </a:extLst>
            </p:cNvPr>
            <p:cNvGrpSpPr/>
            <p:nvPr/>
          </p:nvGrpSpPr>
          <p:grpSpPr>
            <a:xfrm>
              <a:off x="1101784" y="4479925"/>
              <a:ext cx="1298864" cy="514350"/>
              <a:chOff x="1371600" y="4558725"/>
              <a:chExt cx="1506069" cy="58477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3F1BA-89D2-4376-BBB8-A7044F5C762A}"/>
                  </a:ext>
                </a:extLst>
              </p:cNvPr>
              <p:cNvSpPr txBox="1"/>
              <p:nvPr/>
            </p:nvSpPr>
            <p:spPr>
              <a:xfrm>
                <a:off x="137160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825DF6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825DF6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DDF0E8-F3B8-4228-8214-8CEFAF6420C8}"/>
                  </a:ext>
                </a:extLst>
              </p:cNvPr>
              <p:cNvSpPr txBox="1"/>
              <p:nvPr/>
            </p:nvSpPr>
            <p:spPr>
              <a:xfrm>
                <a:off x="182872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82EA1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82EA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E2E7A1-29C2-4D7A-A087-DB00A90E8FF7}"/>
                  </a:ext>
                </a:extLst>
              </p:cNvPr>
              <p:cNvSpPr txBox="1"/>
              <p:nvPr/>
            </p:nvSpPr>
            <p:spPr>
              <a:xfrm>
                <a:off x="2285839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FD3D8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FD3D8"/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19" name="TextBox 8">
            <a:extLst>
              <a:ext uri="{FF2B5EF4-FFF2-40B4-BE49-F238E27FC236}">
                <a16:creationId xmlns:a16="http://schemas.microsoft.com/office/drawing/2014/main" id="{7F1EE01A-709A-40E7-BB01-D4D8AB58AEB7}"/>
              </a:ext>
            </a:extLst>
          </p:cNvPr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2000" spc="100" dirty="0">
                <a:ea typeface="Pretendard Medium"/>
              </a:rPr>
              <a:t>박주원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 err="1">
                <a:ea typeface="Pretendard Medium"/>
              </a:rPr>
              <a:t>김탁현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>
                <a:ea typeface="Pretendard Medium"/>
              </a:rPr>
              <a:t>김세훈</a:t>
            </a:r>
            <a:r>
              <a:rPr lang="en-US" altLang="ko-KR" sz="2000" spc="100" dirty="0">
                <a:ea typeface="Pretendard Medium"/>
              </a:rPr>
              <a:t>, </a:t>
            </a:r>
            <a:r>
              <a:rPr lang="ko-KR" altLang="en-US" sz="2000" spc="100" dirty="0" err="1">
                <a:ea typeface="Pretendard Medium"/>
              </a:rPr>
              <a:t>최윤형</a:t>
            </a:r>
            <a:r>
              <a:rPr lang="en-US" altLang="ko-KR" sz="2000" b="0" i="0" u="none" strike="noStrike" spc="100" dirty="0">
                <a:ea typeface="Pretendard Medium"/>
              </a:rPr>
              <a:t> </a:t>
            </a:r>
            <a:endParaRPr lang="ko-KR" sz="2000" b="0" i="0" u="none" strike="noStrike" spc="100" dirty="0"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50470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>
            <a:extLst>
              <a:ext uri="{FF2B5EF4-FFF2-40B4-BE49-F238E27FC236}">
                <a16:creationId xmlns:a16="http://schemas.microsoft.com/office/drawing/2014/main" id="{A07C68E5-1F01-4153-B161-B5C91E24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0" y="-6578600"/>
            <a:ext cx="13373100" cy="13373100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BF9C485E-5331-418B-9E4B-CEA5FFCE1BF4}"/>
              </a:ext>
            </a:extLst>
          </p:cNvPr>
          <p:cNvSpPr/>
          <p:nvPr/>
        </p:nvSpPr>
        <p:spPr>
          <a:xfrm>
            <a:off x="4974727" y="3265807"/>
            <a:ext cx="4082197" cy="4065962"/>
          </a:xfrm>
          <a:prstGeom prst="roundRect">
            <a:avLst>
              <a:gd name="adj" fmla="val 10242"/>
            </a:avLst>
          </a:prstGeom>
          <a:solidFill>
            <a:schemeClr val="bg1"/>
          </a:solidFill>
          <a:ln>
            <a:solidFill>
              <a:srgbClr val="7878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3EE36B2-3BFD-4547-B752-36B038D8B640}"/>
              </a:ext>
            </a:extLst>
          </p:cNvPr>
          <p:cNvSpPr/>
          <p:nvPr/>
        </p:nvSpPr>
        <p:spPr>
          <a:xfrm>
            <a:off x="9241853" y="3265807"/>
            <a:ext cx="4082197" cy="4065962"/>
          </a:xfrm>
          <a:prstGeom prst="roundRect">
            <a:avLst>
              <a:gd name="adj" fmla="val 10242"/>
            </a:avLst>
          </a:prstGeom>
          <a:solidFill>
            <a:schemeClr val="bg1"/>
          </a:solidFill>
          <a:ln>
            <a:solidFill>
              <a:srgbClr val="7878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013B9B7-0C16-4350-9B67-DA2EA9D05CFC}"/>
              </a:ext>
            </a:extLst>
          </p:cNvPr>
          <p:cNvSpPr/>
          <p:nvPr/>
        </p:nvSpPr>
        <p:spPr>
          <a:xfrm>
            <a:off x="13508979" y="3265807"/>
            <a:ext cx="4082197" cy="4065962"/>
          </a:xfrm>
          <a:prstGeom prst="roundRect">
            <a:avLst>
              <a:gd name="adj" fmla="val 10242"/>
            </a:avLst>
          </a:prstGeom>
          <a:solidFill>
            <a:schemeClr val="bg1"/>
          </a:solidFill>
          <a:ln>
            <a:solidFill>
              <a:srgbClr val="7878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F4256EC-AE07-4701-8473-796E0857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111" y="3515769"/>
            <a:ext cx="3816000" cy="3816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CD3BFC9-9456-4D0A-B95A-8C583D51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503" y="3515769"/>
            <a:ext cx="3816000" cy="3816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6BD30A3-B0EA-4057-82B5-FA404F9BB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4951" y="3515769"/>
            <a:ext cx="3816000" cy="3816000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7905E27-E799-4BF8-A6DD-59BE30971D8A}"/>
              </a:ext>
            </a:extLst>
          </p:cNvPr>
          <p:cNvSpPr/>
          <p:nvPr/>
        </p:nvSpPr>
        <p:spPr>
          <a:xfrm>
            <a:off x="707601" y="3265807"/>
            <a:ext cx="4082197" cy="4065962"/>
          </a:xfrm>
          <a:prstGeom prst="roundRect">
            <a:avLst>
              <a:gd name="adj" fmla="val 10242"/>
            </a:avLst>
          </a:prstGeom>
          <a:solidFill>
            <a:schemeClr val="bg1"/>
          </a:solidFill>
          <a:ln>
            <a:solidFill>
              <a:srgbClr val="7878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637327" y="1308100"/>
            <a:ext cx="10621818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팀 구성 및 역할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7327" y="2514600"/>
            <a:ext cx="5761182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sz="2400" b="0" i="0" dirty="0">
                <a:solidFill>
                  <a:srgbClr val="000000"/>
                </a:solidFill>
                <a:effectLst/>
                <a:latin typeface="Baskerville Old Face" panose="02020602080505020303" pitchFamily="18" charset="0"/>
              </a:rPr>
              <a:t>Team member </a:t>
            </a:r>
            <a:r>
              <a:rPr lang="en-US" altLang="ko-KR" sz="2400" dirty="0">
                <a:latin typeface="Baskerville Old Face" panose="02020602080505020303" pitchFamily="18" charset="0"/>
              </a:rPr>
              <a:t>Introduction</a:t>
            </a: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>
            <a:extLst>
              <a:ext uri="{FF2B5EF4-FFF2-40B4-BE49-F238E27FC236}">
                <a16:creationId xmlns:a16="http://schemas.microsoft.com/office/drawing/2014/main" id="{62AB622A-829B-402A-AA63-DEEB5EE29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601" y="7597028"/>
            <a:ext cx="4092575" cy="1473200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45D5F871-79CA-4A25-8EB5-7EA07A09D0F3}"/>
              </a:ext>
            </a:extLst>
          </p:cNvPr>
          <p:cNvSpPr txBox="1"/>
          <p:nvPr/>
        </p:nvSpPr>
        <p:spPr>
          <a:xfrm>
            <a:off x="1756265" y="7793131"/>
            <a:ext cx="1995246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000" b="1" i="0" u="none" strike="noStrike" dirty="0">
                <a:ea typeface="Pretendard SemiBold"/>
              </a:rPr>
              <a:t>[</a:t>
            </a:r>
            <a:r>
              <a:rPr lang="ko-KR" altLang="en-US" sz="3000" b="1" i="0" u="none" strike="noStrike" dirty="0">
                <a:ea typeface="Pretendard SemiBold"/>
              </a:rPr>
              <a:t>팀장</a:t>
            </a:r>
            <a:r>
              <a:rPr lang="en-US" altLang="ko-KR" sz="3000" b="1" i="0" u="none" strike="noStrike" dirty="0">
                <a:ea typeface="Pretendard SemiBold"/>
              </a:rPr>
              <a:t>] </a:t>
            </a:r>
            <a:r>
              <a:rPr lang="ko-KR" altLang="en-US" sz="3000" b="1" i="0" u="none" strike="noStrike" dirty="0">
                <a:solidFill>
                  <a:srgbClr val="323232"/>
                </a:solidFill>
                <a:ea typeface="Pretendard SemiBold"/>
              </a:rPr>
              <a:t>박주원</a:t>
            </a:r>
            <a:endParaRPr lang="en-US" sz="3000" b="0" i="0" u="none" strike="noStrike" dirty="0">
              <a:solidFill>
                <a:srgbClr val="323232"/>
              </a:solidFill>
              <a:latin typeface="Pretendard Semi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38AC4D6A-A46B-41E7-B637-DE404F6E887B}"/>
              </a:ext>
            </a:extLst>
          </p:cNvPr>
          <p:cNvSpPr txBox="1"/>
          <p:nvPr/>
        </p:nvSpPr>
        <p:spPr>
          <a:xfrm>
            <a:off x="1194294" y="8415431"/>
            <a:ext cx="3119188" cy="4758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- 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병원 증명서 출력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altLang="en-US" dirty="0">
                <a:solidFill>
                  <a:srgbClr val="323232"/>
                </a:solidFill>
                <a:latin typeface="Pretendard Regular"/>
                <a:ea typeface="Pretendard Regular"/>
              </a:rPr>
              <a:t>기능담당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4CB77EE-74DB-4266-8429-D0C20CAE0679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420E55-AA85-4755-8023-7E8E46DD68B0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7B15F9-42E0-4D6B-9F96-C586ADBD4575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43D620-A064-4E3D-8C10-D2FACBD2C53E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41" name="Picture 21">
            <a:extLst>
              <a:ext uri="{FF2B5EF4-FFF2-40B4-BE49-F238E27FC236}">
                <a16:creationId xmlns:a16="http://schemas.microsoft.com/office/drawing/2014/main" id="{8F30998D-6B54-49E7-A286-0E801A59A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216" y="7597028"/>
            <a:ext cx="4092575" cy="1473200"/>
          </a:xfrm>
          <a:prstGeom prst="rect">
            <a:avLst/>
          </a:prstGeom>
        </p:spPr>
      </p:pic>
      <p:sp>
        <p:nvSpPr>
          <p:cNvPr id="42" name="TextBox 10">
            <a:extLst>
              <a:ext uri="{FF2B5EF4-FFF2-40B4-BE49-F238E27FC236}">
                <a16:creationId xmlns:a16="http://schemas.microsoft.com/office/drawing/2014/main" id="{40D4A12A-06CE-4DB9-B28C-F3BED9E38976}"/>
              </a:ext>
            </a:extLst>
          </p:cNvPr>
          <p:cNvSpPr txBox="1"/>
          <p:nvPr/>
        </p:nvSpPr>
        <p:spPr>
          <a:xfrm>
            <a:off x="6012880" y="7793131"/>
            <a:ext cx="1995246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[</a:t>
            </a:r>
            <a:r>
              <a:rPr lang="ko-KR" altLang="en-US" sz="3000" b="1" i="0" u="none" strike="noStrike" dirty="0">
                <a:solidFill>
                  <a:srgbClr val="323232"/>
                </a:solidFill>
                <a:ea typeface="Pretendard SemiBold"/>
              </a:rPr>
              <a:t>팀원</a:t>
            </a: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] </a:t>
            </a:r>
            <a:r>
              <a:rPr lang="ko-KR" altLang="en-US" sz="3000" b="1" i="0" u="none" strike="noStrike" dirty="0" err="1">
                <a:solidFill>
                  <a:srgbClr val="323232"/>
                </a:solidFill>
                <a:ea typeface="Pretendard SemiBold"/>
              </a:rPr>
              <a:t>김탁현</a:t>
            </a:r>
            <a:endParaRPr lang="en-US" sz="3000" b="0" i="0" u="none" strike="noStrike" dirty="0">
              <a:solidFill>
                <a:srgbClr val="323232"/>
              </a:solidFill>
              <a:latin typeface="Pretendard SemiBold"/>
            </a:endParaRP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F7961274-510B-4D36-9169-65F443666502}"/>
              </a:ext>
            </a:extLst>
          </p:cNvPr>
          <p:cNvSpPr txBox="1"/>
          <p:nvPr/>
        </p:nvSpPr>
        <p:spPr>
          <a:xfrm>
            <a:off x="5450909" y="8415431"/>
            <a:ext cx="3119188" cy="4758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- </a:t>
            </a: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로그인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/</a:t>
            </a: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회원가입 기능담당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pic>
        <p:nvPicPr>
          <p:cNvPr id="44" name="Picture 21">
            <a:extLst>
              <a:ext uri="{FF2B5EF4-FFF2-40B4-BE49-F238E27FC236}">
                <a16:creationId xmlns:a16="http://schemas.microsoft.com/office/drawing/2014/main" id="{0151FABF-4E31-4455-B8E5-FB9114148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831" y="7597028"/>
            <a:ext cx="4092575" cy="1473200"/>
          </a:xfrm>
          <a:prstGeom prst="rect">
            <a:avLst/>
          </a:prstGeom>
        </p:spPr>
      </p:pic>
      <p:sp>
        <p:nvSpPr>
          <p:cNvPr id="45" name="TextBox 10">
            <a:extLst>
              <a:ext uri="{FF2B5EF4-FFF2-40B4-BE49-F238E27FC236}">
                <a16:creationId xmlns:a16="http://schemas.microsoft.com/office/drawing/2014/main" id="{464D0DFA-23E4-42D4-A761-5EC43FE7367C}"/>
              </a:ext>
            </a:extLst>
          </p:cNvPr>
          <p:cNvSpPr txBox="1"/>
          <p:nvPr/>
        </p:nvSpPr>
        <p:spPr>
          <a:xfrm>
            <a:off x="10269495" y="7793131"/>
            <a:ext cx="1995246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[</a:t>
            </a:r>
            <a:r>
              <a:rPr lang="ko-KR" altLang="en-US" sz="3000" b="1" i="0" u="none" strike="noStrike" dirty="0">
                <a:solidFill>
                  <a:srgbClr val="323232"/>
                </a:solidFill>
                <a:ea typeface="Pretendard SemiBold"/>
              </a:rPr>
              <a:t>팀원</a:t>
            </a: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] </a:t>
            </a:r>
            <a:r>
              <a:rPr lang="ko-KR" altLang="en-US" sz="3000" b="1" dirty="0">
                <a:solidFill>
                  <a:srgbClr val="323232"/>
                </a:solidFill>
                <a:ea typeface="Pretendard SemiBold"/>
              </a:rPr>
              <a:t>김세훈</a:t>
            </a:r>
            <a:endParaRPr lang="en-US" sz="3000" b="0" i="0" u="none" strike="noStrike" dirty="0">
              <a:solidFill>
                <a:srgbClr val="323232"/>
              </a:solidFill>
              <a:latin typeface="Pretendard SemiBold"/>
            </a:endParaRPr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0F29501F-3489-49CF-A72A-0FC8FC7474CD}"/>
              </a:ext>
            </a:extLst>
          </p:cNvPr>
          <p:cNvSpPr txBox="1"/>
          <p:nvPr/>
        </p:nvSpPr>
        <p:spPr>
          <a:xfrm>
            <a:off x="9707524" y="8415431"/>
            <a:ext cx="3119188" cy="4758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- </a:t>
            </a: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병원 증명서 출력 테이블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/DB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pic>
        <p:nvPicPr>
          <p:cNvPr id="47" name="Picture 21">
            <a:extLst>
              <a:ext uri="{FF2B5EF4-FFF2-40B4-BE49-F238E27FC236}">
                <a16:creationId xmlns:a16="http://schemas.microsoft.com/office/drawing/2014/main" id="{E7DE6EB3-8C36-4A28-9735-D13D61E21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824" y="7597028"/>
            <a:ext cx="4092575" cy="1473200"/>
          </a:xfrm>
          <a:prstGeom prst="rect">
            <a:avLst/>
          </a:prstGeom>
        </p:spPr>
      </p:pic>
      <p:sp>
        <p:nvSpPr>
          <p:cNvPr id="48" name="TextBox 10">
            <a:extLst>
              <a:ext uri="{FF2B5EF4-FFF2-40B4-BE49-F238E27FC236}">
                <a16:creationId xmlns:a16="http://schemas.microsoft.com/office/drawing/2014/main" id="{E1F12FBC-5928-4DAA-BE6E-52B0B847CCF0}"/>
              </a:ext>
            </a:extLst>
          </p:cNvPr>
          <p:cNvSpPr txBox="1"/>
          <p:nvPr/>
        </p:nvSpPr>
        <p:spPr>
          <a:xfrm>
            <a:off x="14536488" y="7793131"/>
            <a:ext cx="1995246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[</a:t>
            </a:r>
            <a:r>
              <a:rPr lang="ko-KR" altLang="en-US" sz="3000" b="1" i="0" u="none" strike="noStrike" dirty="0">
                <a:solidFill>
                  <a:srgbClr val="323232"/>
                </a:solidFill>
                <a:ea typeface="Pretendard SemiBold"/>
              </a:rPr>
              <a:t>팀</a:t>
            </a:r>
            <a:r>
              <a:rPr lang="ko-KR" altLang="en-US" sz="3000" b="1" dirty="0">
                <a:solidFill>
                  <a:srgbClr val="323232"/>
                </a:solidFill>
                <a:ea typeface="Pretendard SemiBold"/>
              </a:rPr>
              <a:t>원</a:t>
            </a:r>
            <a:r>
              <a:rPr lang="en-US" altLang="ko-KR" sz="3000" b="1" i="0" u="none" strike="noStrike" dirty="0">
                <a:solidFill>
                  <a:srgbClr val="323232"/>
                </a:solidFill>
                <a:ea typeface="Pretendard SemiBold"/>
              </a:rPr>
              <a:t>] </a:t>
            </a:r>
            <a:r>
              <a:rPr lang="ko-KR" altLang="en-US" sz="3000" b="1" dirty="0" err="1">
                <a:solidFill>
                  <a:srgbClr val="323232"/>
                </a:solidFill>
                <a:ea typeface="Pretendard SemiBold"/>
              </a:rPr>
              <a:t>최윤형</a:t>
            </a:r>
            <a:endParaRPr lang="en-US" sz="3000" b="0" i="0" u="none" strike="noStrike" dirty="0">
              <a:solidFill>
                <a:srgbClr val="323232"/>
              </a:solidFill>
              <a:latin typeface="Pretendard SemiBold"/>
            </a:endParaRPr>
          </a:p>
        </p:txBody>
      </p:sp>
      <p:sp>
        <p:nvSpPr>
          <p:cNvPr id="49" name="TextBox 11">
            <a:extLst>
              <a:ext uri="{FF2B5EF4-FFF2-40B4-BE49-F238E27FC236}">
                <a16:creationId xmlns:a16="http://schemas.microsoft.com/office/drawing/2014/main" id="{D3957900-6969-4B3F-AFA5-5BFEC3C29261}"/>
              </a:ext>
            </a:extLst>
          </p:cNvPr>
          <p:cNvSpPr txBox="1"/>
          <p:nvPr/>
        </p:nvSpPr>
        <p:spPr>
          <a:xfrm>
            <a:off x="13974517" y="8415431"/>
            <a:ext cx="3119188" cy="4758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dirty="0">
                <a:solidFill>
                  <a:srgbClr val="323232"/>
                </a:solidFill>
                <a:latin typeface="Pretendard Regular"/>
                <a:ea typeface="Pretendard Regular"/>
              </a:rPr>
              <a:t>- </a:t>
            </a:r>
            <a:r>
              <a:rPr lang="ko-KR" altLang="en-US" dirty="0">
                <a:solidFill>
                  <a:srgbClr val="323232"/>
                </a:solidFill>
                <a:latin typeface="Pretendard Regular"/>
                <a:ea typeface="Pretendard Regular"/>
              </a:rPr>
              <a:t>병원 홈페이지 구현 </a:t>
            </a:r>
            <a:r>
              <a:rPr lang="en-US" altLang="ko-KR" dirty="0">
                <a:solidFill>
                  <a:srgbClr val="323232"/>
                </a:solidFill>
                <a:latin typeface="Pretendard Regular"/>
                <a:ea typeface="Pretendard Regular"/>
              </a:rPr>
              <a:t>/ CSS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26FAE9-FC6C-42C1-AB2E-7B9A6FED70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530" y="3526224"/>
            <a:ext cx="3814669" cy="3814669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94859026-5312-4CC6-9027-606EFE9FCAC3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81AF5F2-0343-4C3D-9D9A-01E4048BDD99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E678B98-E67D-456C-99E2-3C334F22E449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1D3BC91-E27D-4604-B468-4D5C1DBB42D2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DA1059A7-0167-47F6-A8E2-CF6F8C8A0C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800000">
            <a:off x="313403" y="7123484"/>
            <a:ext cx="830173" cy="8301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0" y="-3429000"/>
            <a:ext cx="17145000" cy="1714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600" y="-3898900"/>
            <a:ext cx="6667500" cy="6667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8521700" y="558800"/>
            <a:ext cx="91186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dirty="0">
                <a:solidFill>
                  <a:srgbClr val="323232">
                    <a:alpha val="80000"/>
                  </a:srgbClr>
                </a:solidFill>
                <a:latin typeface="Pretendard Medium"/>
              </a:rPr>
              <a:t>7</a:t>
            </a:r>
            <a:endParaRPr lang="en-US" sz="1800" b="0" i="0" u="none" strike="noStrike" dirty="0">
              <a:solidFill>
                <a:srgbClr val="323232">
                  <a:alpha val="80000"/>
                </a:srgbClr>
              </a:solidFill>
              <a:latin typeface="Pretendard Medium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30A5FC4-B8D7-4CE8-86A0-B11D87B1CCBC}"/>
              </a:ext>
            </a:extLst>
          </p:cNvPr>
          <p:cNvGrpSpPr/>
          <p:nvPr/>
        </p:nvGrpSpPr>
        <p:grpSpPr>
          <a:xfrm>
            <a:off x="16646525" y="9404350"/>
            <a:ext cx="1428750" cy="514350"/>
            <a:chOff x="1371600" y="4558725"/>
            <a:chExt cx="1506069" cy="58477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6BD7A2-6C01-43C9-928F-5A4FC01061DA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D0F1ED-4DE3-4147-AD95-7FD3ADA796A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A26FC8-C223-49CF-87F6-765C227DAC1F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CAF3C9-26DF-44F0-A885-4DFAD47279FB}"/>
              </a:ext>
            </a:extLst>
          </p:cNvPr>
          <p:cNvGrpSpPr/>
          <p:nvPr/>
        </p:nvGrpSpPr>
        <p:grpSpPr>
          <a:xfrm>
            <a:off x="1101784" y="3840163"/>
            <a:ext cx="11852216" cy="2606675"/>
            <a:chOff x="1101784" y="4479925"/>
            <a:chExt cx="11852216" cy="2606675"/>
          </a:xfrm>
        </p:grpSpPr>
        <p:sp>
          <p:nvSpPr>
            <p:cNvPr id="5" name="TextBox 5"/>
            <p:cNvSpPr txBox="1"/>
            <p:nvPr/>
          </p:nvSpPr>
          <p:spPr>
            <a:xfrm>
              <a:off x="1219200" y="4978400"/>
              <a:ext cx="11734800" cy="2108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5449"/>
                </a:lnSpc>
              </a:pPr>
              <a:r>
                <a:rPr lang="ko-KR" altLang="en-US" sz="6500" dirty="0">
                  <a:solidFill>
                    <a:srgbClr val="323232"/>
                  </a:solidFill>
                  <a:ea typeface="Pretendard SemiBold"/>
                </a:rPr>
                <a:t>프로젝트 수행 절차 및 방법</a:t>
              </a:r>
              <a:endParaRPr lang="ko-KR" altLang="ko-KR" sz="6500" b="0" i="0" u="none" strike="noStrike" dirty="0">
                <a:solidFill>
                  <a:srgbClr val="323232"/>
                </a:solidFill>
                <a:ea typeface="Pretendard SemiBold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3D59812-9B55-4EC4-A4BC-BB5BCF10A868}"/>
                </a:ext>
              </a:extLst>
            </p:cNvPr>
            <p:cNvGrpSpPr/>
            <p:nvPr/>
          </p:nvGrpSpPr>
          <p:grpSpPr>
            <a:xfrm>
              <a:off x="1101784" y="4479925"/>
              <a:ext cx="1298864" cy="514350"/>
              <a:chOff x="1371600" y="4558725"/>
              <a:chExt cx="1506069" cy="58477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73F1BA-89D2-4376-BBB8-A7044F5C762A}"/>
                  </a:ext>
                </a:extLst>
              </p:cNvPr>
              <p:cNvSpPr txBox="1"/>
              <p:nvPr/>
            </p:nvSpPr>
            <p:spPr>
              <a:xfrm>
                <a:off x="137160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825DF6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825DF6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DDF0E8-F3B8-4228-8214-8CEFAF6420C8}"/>
                  </a:ext>
                </a:extLst>
              </p:cNvPr>
              <p:cNvSpPr txBox="1"/>
              <p:nvPr/>
            </p:nvSpPr>
            <p:spPr>
              <a:xfrm>
                <a:off x="1828720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82EA1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82EA1"/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E2E7A1-29C2-4D7A-A087-DB00A90E8FF7}"/>
                  </a:ext>
                </a:extLst>
              </p:cNvPr>
              <p:cNvSpPr txBox="1"/>
              <p:nvPr/>
            </p:nvSpPr>
            <p:spPr>
              <a:xfrm>
                <a:off x="2285839" y="4558725"/>
                <a:ext cx="59183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3200" dirty="0">
                    <a:solidFill>
                      <a:srgbClr val="3FD3D8"/>
                    </a:solidFill>
                    <a:latin typeface="Arial Black" panose="020B0A04020102020204" pitchFamily="34" charset="0"/>
                  </a:rPr>
                  <a:t>+ </a:t>
                </a:r>
                <a:endParaRPr lang="ko-KR" altLang="en-US" sz="3200" dirty="0">
                  <a:solidFill>
                    <a:srgbClr val="3FD3D8"/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19" name="TextBox 8">
            <a:extLst>
              <a:ext uri="{FF2B5EF4-FFF2-40B4-BE49-F238E27FC236}">
                <a16:creationId xmlns:a16="http://schemas.microsoft.com/office/drawing/2014/main" id="{BE260429-BB5D-4E12-BDF4-41352F5C7ED4}"/>
              </a:ext>
            </a:extLst>
          </p:cNvPr>
          <p:cNvSpPr txBox="1"/>
          <p:nvPr/>
        </p:nvSpPr>
        <p:spPr>
          <a:xfrm>
            <a:off x="1219200" y="9296400"/>
            <a:ext cx="50165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altLang="ko-KR" sz="2000" spc="100" dirty="0">
                <a:solidFill>
                  <a:srgbClr val="825DF6"/>
                </a:solidFill>
                <a:latin typeface="Pretendard Bold" panose="020B0600000101010101" charset="-127"/>
                <a:ea typeface="Pretendard Bold" panose="020B0600000101010101" charset="-127"/>
              </a:rPr>
              <a:t>J</a:t>
            </a:r>
            <a:r>
              <a:rPr lang="en-US" altLang="ko-KR" sz="2000" spc="100" dirty="0">
                <a:solidFill>
                  <a:srgbClr val="382EA1"/>
                </a:solidFill>
                <a:latin typeface="Pretendard Bold" panose="020B0600000101010101" charset="-127"/>
                <a:ea typeface="Pretendard Bold" panose="020B0600000101010101" charset="-127"/>
              </a:rPr>
              <a:t>B</a:t>
            </a:r>
            <a:r>
              <a:rPr lang="en-US" altLang="ko-KR" sz="2000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spc="100" dirty="0">
                <a:solidFill>
                  <a:srgbClr val="3FD3D8"/>
                </a:solidFill>
                <a:latin typeface="Pretendard Bold" panose="020B0600000101010101" charset="-127"/>
                <a:ea typeface="Pretendard Bold" panose="020B0600000101010101" charset="-127"/>
              </a:rPr>
              <a:t>CARE</a:t>
            </a:r>
            <a:r>
              <a:rPr lang="en-US" altLang="ko-KR" sz="2000" i="0" u="none" strike="noStrike" spc="100" dirty="0"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000" b="0" i="0" u="none" strike="noStrike" spc="100" dirty="0">
                <a:ea typeface="Pretendard Medium"/>
              </a:rPr>
              <a:t>. </a:t>
            </a:r>
            <a:r>
              <a:rPr lang="ko-KR" altLang="en-US" sz="2000" spc="100" dirty="0">
                <a:latin typeface="Pretendard Regular" panose="020B0600000101010101" charset="-127"/>
                <a:ea typeface="Pretendard Regular" panose="020B0600000101010101" charset="-127"/>
              </a:rPr>
              <a:t>박주원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 err="1">
                <a:latin typeface="Pretendard Regular" panose="020B0600000101010101" charset="-127"/>
                <a:ea typeface="Pretendard Regular" panose="020B0600000101010101" charset="-127"/>
              </a:rPr>
              <a:t>김탁현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>
                <a:latin typeface="Pretendard Regular" panose="020B0600000101010101" charset="-127"/>
                <a:ea typeface="Pretendard Regular" panose="020B0600000101010101" charset="-127"/>
              </a:rPr>
              <a:t>김세훈</a:t>
            </a:r>
            <a:r>
              <a:rPr lang="en-US" altLang="ko-KR" sz="2000" spc="100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spc="100" dirty="0" err="1">
                <a:latin typeface="Pretendard Regular" panose="020B0600000101010101" charset="-127"/>
                <a:ea typeface="Pretendard Regular" panose="020B0600000101010101" charset="-127"/>
              </a:rPr>
              <a:t>최윤형</a:t>
            </a:r>
            <a:r>
              <a:rPr lang="en-US" altLang="ko-KR" sz="2000" i="0" u="none" strike="noStrike" spc="100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ko-KR" sz="2000" i="0" u="none" strike="noStrike" spc="100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673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3">
            <a:extLst>
              <a:ext uri="{FF2B5EF4-FFF2-40B4-BE49-F238E27FC236}">
                <a16:creationId xmlns:a16="http://schemas.microsoft.com/office/drawing/2014/main" id="{1590E3B7-48FD-4792-940B-9A83DAD74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650" y="-2253007"/>
            <a:ext cx="6667500" cy="66675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4" name="TextBox 4">
            <a:extLst>
              <a:ext uri="{FF2B5EF4-FFF2-40B4-BE49-F238E27FC236}">
                <a16:creationId xmlns:a16="http://schemas.microsoft.com/office/drawing/2014/main" id="{BE048C10-7052-4F3B-A767-DACF9833F7AA}"/>
              </a:ext>
            </a:extLst>
          </p:cNvPr>
          <p:cNvSpPr txBox="1"/>
          <p:nvPr/>
        </p:nvSpPr>
        <p:spPr>
          <a:xfrm>
            <a:off x="704530" y="1308100"/>
            <a:ext cx="9829799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프로젝트 구성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1E0E3D68-F8B5-45E2-8DCC-A2524D19A5E9}"/>
              </a:ext>
            </a:extLst>
          </p:cNvPr>
          <p:cNvSpPr txBox="1"/>
          <p:nvPr/>
        </p:nvSpPr>
        <p:spPr>
          <a:xfrm>
            <a:off x="704531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Project Goals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DB797C9E-207F-4633-9137-C700730DFEAB}"/>
              </a:ext>
            </a:extLst>
          </p:cNvPr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dirty="0">
                <a:solidFill>
                  <a:srgbClr val="787878"/>
                </a:solidFill>
                <a:latin typeface="Pretendard Medium"/>
              </a:rPr>
              <a:t>8</a:t>
            </a:r>
            <a:endParaRPr lang="en-US" sz="1600" b="0" i="0" u="none" strike="noStrike" dirty="0">
              <a:solidFill>
                <a:srgbClr val="787878"/>
              </a:solidFill>
              <a:latin typeface="Pretendard Medium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A40A016-E3C9-43C7-ADCC-799EEB8C58EC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F4E09C-B53E-4B76-B9AD-7554DDAE7871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8364083-DFC5-4B9D-96C4-A156B0E92C5F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48CE9FA-3E73-4D0D-900A-8B662AFA26C7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BAF36CE-56B1-4BE2-929A-18B39EABF0BD}"/>
              </a:ext>
            </a:extLst>
          </p:cNvPr>
          <p:cNvGrpSpPr/>
          <p:nvPr/>
        </p:nvGrpSpPr>
        <p:grpSpPr>
          <a:xfrm>
            <a:off x="1160969" y="4149223"/>
            <a:ext cx="15966063" cy="4198167"/>
            <a:chOff x="1266694" y="4149223"/>
            <a:chExt cx="15966063" cy="4198167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0D052B7-4317-4C26-9000-E07E7D18C70D}"/>
                </a:ext>
              </a:extLst>
            </p:cNvPr>
            <p:cNvSpPr/>
            <p:nvPr/>
          </p:nvSpPr>
          <p:spPr>
            <a:xfrm>
              <a:off x="2067662" y="7546351"/>
              <a:ext cx="2439559" cy="8010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825DF6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비로그인</a:t>
              </a: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C395D268-1401-42ED-AB23-BF64008FBBF9}"/>
                </a:ext>
              </a:extLst>
            </p:cNvPr>
            <p:cNvSpPr/>
            <p:nvPr/>
          </p:nvSpPr>
          <p:spPr>
            <a:xfrm>
              <a:off x="2067662" y="5930309"/>
              <a:ext cx="2439559" cy="80103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825DF6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로그인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A79DA01-6B45-4001-80BA-DEFBAE3E1AD8}"/>
                </a:ext>
              </a:extLst>
            </p:cNvPr>
            <p:cNvSpPr/>
            <p:nvPr/>
          </p:nvSpPr>
          <p:spPr>
            <a:xfrm>
              <a:off x="5099967" y="5951187"/>
              <a:ext cx="3223914" cy="75928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825DF6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주민번호 입력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A182536D-38B4-4C3B-A515-BA46085F0BF7}"/>
                </a:ext>
              </a:extLst>
            </p:cNvPr>
            <p:cNvSpPr/>
            <p:nvPr/>
          </p:nvSpPr>
          <p:spPr>
            <a:xfrm>
              <a:off x="5099969" y="7546351"/>
              <a:ext cx="3223913" cy="75928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825DF6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주민번호 </a:t>
              </a:r>
              <a:endPara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endParaRPr>
            </a:p>
            <a:p>
              <a:pPr algn="ctr"/>
              <a:r>
                <a:rPr lang="ko-KR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이메일 입력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AA27C5C-E629-4E88-AC16-512C7ED0BBDC}"/>
                </a:ext>
              </a:extLst>
            </p:cNvPr>
            <p:cNvSpPr/>
            <p:nvPr/>
          </p:nvSpPr>
          <p:spPr>
            <a:xfrm>
              <a:off x="1373513" y="4149223"/>
              <a:ext cx="3056349" cy="909402"/>
            </a:xfrm>
            <a:prstGeom prst="roundRect">
              <a:avLst/>
            </a:prstGeom>
            <a:solidFill>
              <a:srgbClr val="825DF6"/>
            </a:solidFill>
            <a:ln w="50800"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 dirty="0">
                  <a:solidFill>
                    <a:schemeClr val="bg1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메인 화면  </a:t>
              </a: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E10639B-3484-4C40-A56C-823A0EED0244}"/>
                </a:ext>
              </a:extLst>
            </p:cNvPr>
            <p:cNvSpPr/>
            <p:nvPr/>
          </p:nvSpPr>
          <p:spPr>
            <a:xfrm>
              <a:off x="9094187" y="6352485"/>
              <a:ext cx="4284712" cy="1381591"/>
            </a:xfrm>
            <a:prstGeom prst="roundRect">
              <a:avLst/>
            </a:prstGeom>
            <a:solidFill>
              <a:srgbClr val="825DF6"/>
            </a:solidFill>
            <a:ln w="47625"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500" dirty="0">
                  <a:solidFill>
                    <a:schemeClr val="bg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이메일로 </a:t>
              </a:r>
              <a:r>
                <a:rPr lang="ko-KR" altLang="en-US" sz="2800" dirty="0">
                  <a:solidFill>
                    <a:schemeClr val="bg1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인증번호</a:t>
              </a:r>
              <a:r>
                <a:rPr lang="ko-KR" altLang="en-US" sz="2500" b="1" dirty="0">
                  <a:solidFill>
                    <a:schemeClr val="bg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 </a:t>
              </a:r>
              <a:r>
                <a:rPr lang="ko-KR" altLang="en-US" sz="2500" dirty="0">
                  <a:solidFill>
                    <a:schemeClr val="bg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받고</a:t>
              </a:r>
              <a:r>
                <a:rPr lang="en-US" altLang="ko-KR" sz="2500" dirty="0">
                  <a:solidFill>
                    <a:schemeClr val="bg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,</a:t>
              </a:r>
            </a:p>
            <a:p>
              <a:pPr algn="ctr"/>
              <a:r>
                <a:rPr lang="ko-KR" altLang="en-US" sz="2500" dirty="0">
                  <a:solidFill>
                    <a:schemeClr val="bg1"/>
                  </a:solidFill>
                  <a:latin typeface="Pretendard Regular" panose="020B0600000101010101" charset="-127"/>
                  <a:ea typeface="Pretendard Regular" panose="020B0600000101010101" charset="-127"/>
                </a:rPr>
                <a:t>인증번호로 입력하기</a:t>
              </a: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A741A875-6FAC-4053-81B1-1FB77C07494E}"/>
                </a:ext>
              </a:extLst>
            </p:cNvPr>
            <p:cNvSpPr/>
            <p:nvPr/>
          </p:nvSpPr>
          <p:spPr>
            <a:xfrm>
              <a:off x="14508828" y="6352485"/>
              <a:ext cx="2723929" cy="1381591"/>
            </a:xfrm>
            <a:prstGeom prst="roundRect">
              <a:avLst/>
            </a:prstGeom>
            <a:solidFill>
              <a:srgbClr val="825DF6"/>
            </a:solidFill>
            <a:ln w="57150"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 dirty="0">
                  <a:solidFill>
                    <a:schemeClr val="bg1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증명서 출력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9B62D06-144F-46E2-B64F-92C4D752C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32370" y="7031431"/>
              <a:ext cx="822988" cy="11849"/>
            </a:xfrm>
            <a:prstGeom prst="straightConnector1">
              <a:avLst/>
            </a:prstGeom>
            <a:ln>
              <a:solidFill>
                <a:srgbClr val="382E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348E8376-C4BA-436A-95C0-83E64F25B21B}"/>
                </a:ext>
              </a:extLst>
            </p:cNvPr>
            <p:cNvCxnSpPr>
              <a:cxnSpLocks/>
              <a:stCxn id="19" idx="3"/>
              <a:endCxn id="22" idx="1"/>
            </p:cNvCxnSpPr>
            <p:nvPr/>
          </p:nvCxnSpPr>
          <p:spPr>
            <a:xfrm flipV="1">
              <a:off x="4507221" y="7925992"/>
              <a:ext cx="592748" cy="20879"/>
            </a:xfrm>
            <a:prstGeom prst="straightConnector1">
              <a:avLst/>
            </a:prstGeom>
            <a:ln>
              <a:solidFill>
                <a:srgbClr val="382E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9C90DA6E-CFDC-46DD-9C6E-DB90383D41E3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8323881" y="6330828"/>
              <a:ext cx="668832" cy="516137"/>
            </a:xfrm>
            <a:prstGeom prst="straightConnector1">
              <a:avLst/>
            </a:prstGeom>
            <a:ln>
              <a:solidFill>
                <a:srgbClr val="382E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6BC1777-F09B-4576-9AF2-1B8E6856B839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4507221" y="6330828"/>
              <a:ext cx="592746" cy="1"/>
            </a:xfrm>
            <a:prstGeom prst="straightConnector1">
              <a:avLst/>
            </a:prstGeom>
            <a:ln>
              <a:solidFill>
                <a:srgbClr val="382E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67BC7AFE-136C-4566-BB52-489481313BDE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8323882" y="7409855"/>
              <a:ext cx="668831" cy="516137"/>
            </a:xfrm>
            <a:prstGeom prst="straightConnector1">
              <a:avLst/>
            </a:prstGeom>
            <a:ln>
              <a:solidFill>
                <a:srgbClr val="382EA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C6217E60-8EDF-4135-8FFC-7145B081C63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267496" y="4617175"/>
              <a:ext cx="694149" cy="1726905"/>
            </a:xfrm>
            <a:prstGeom prst="bentConnector3">
              <a:avLst>
                <a:gd name="adj1" fmla="val -32932"/>
              </a:avLst>
            </a:prstGeom>
            <a:ln>
              <a:solidFill>
                <a:srgbClr val="382EA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664C6869-386E-47A7-A6E6-9D04876519D6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1266694" y="4622512"/>
              <a:ext cx="694150" cy="3342947"/>
            </a:xfrm>
            <a:prstGeom prst="bentConnector3">
              <a:avLst>
                <a:gd name="adj1" fmla="val -32932"/>
              </a:avLst>
            </a:prstGeom>
            <a:ln>
              <a:solidFill>
                <a:srgbClr val="382EA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F596D8E-5BDA-44A4-AD36-820E2BE332B1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D571CBD-12EA-4D5F-BDB5-1D3D32AAB987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EAD050D-DAFE-4276-A551-5ADCBCD30B1D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6EAE03F-A79D-42C2-9C3E-58FA6B772B52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152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>
            <a:extLst>
              <a:ext uri="{FF2B5EF4-FFF2-40B4-BE49-F238E27FC236}">
                <a16:creationId xmlns:a16="http://schemas.microsoft.com/office/drawing/2014/main" id="{50EDAC7B-7D3C-4FFE-BB42-3456C75D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000" y="-3429000"/>
            <a:ext cx="17145000" cy="17145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9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147082" y="5411706"/>
            <a:ext cx="6073641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4400" b="0" i="0" u="none" strike="noStrike" dirty="0">
                <a:solidFill>
                  <a:srgbClr val="323232"/>
                </a:solidFill>
                <a:ea typeface="Pretendard SemiBold"/>
              </a:rPr>
              <a:t>홈페이지 </a:t>
            </a:r>
            <a:r>
              <a:rPr lang="ko-KR" altLang="en-US" sz="4400" dirty="0">
                <a:solidFill>
                  <a:srgbClr val="323232"/>
                </a:solidFill>
                <a:ea typeface="Pretendard SemiBold"/>
              </a:rPr>
              <a:t>메인 화면구현</a:t>
            </a:r>
            <a:endParaRPr lang="ko-KR" sz="44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2AA9073-E381-4033-9F90-494A985376F2}"/>
              </a:ext>
            </a:extLst>
          </p:cNvPr>
          <p:cNvGrpSpPr/>
          <p:nvPr/>
        </p:nvGrpSpPr>
        <p:grpSpPr>
          <a:xfrm>
            <a:off x="1147082" y="4952392"/>
            <a:ext cx="1142237" cy="523220"/>
            <a:chOff x="1371600" y="4558725"/>
            <a:chExt cx="1740171" cy="85702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0818CE-1DAE-4B3C-AE89-8EDC3924D782}"/>
                </a:ext>
              </a:extLst>
            </p:cNvPr>
            <p:cNvSpPr txBox="1"/>
            <p:nvPr/>
          </p:nvSpPr>
          <p:spPr>
            <a:xfrm>
              <a:off x="1371600" y="4558725"/>
              <a:ext cx="825931" cy="857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28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7EA6E2-9C2D-46E4-981A-77D8823D33DF}"/>
                </a:ext>
              </a:extLst>
            </p:cNvPr>
            <p:cNvSpPr txBox="1"/>
            <p:nvPr/>
          </p:nvSpPr>
          <p:spPr>
            <a:xfrm>
              <a:off x="1828721" y="4558725"/>
              <a:ext cx="825931" cy="857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28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1F52EF9-67EA-4685-A308-95F5378A7CC3}"/>
                </a:ext>
              </a:extLst>
            </p:cNvPr>
            <p:cNvSpPr txBox="1"/>
            <p:nvPr/>
          </p:nvSpPr>
          <p:spPr>
            <a:xfrm>
              <a:off x="2285840" y="4558725"/>
              <a:ext cx="825931" cy="857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28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D23E9A0-2FBD-4DBE-95CA-FDF2ADA2B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94" y="-53032"/>
            <a:ext cx="9698822" cy="1236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3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365FBA91-8E92-4559-AE9B-27F52CDB0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03700" y="-6731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147083" y="909556"/>
            <a:ext cx="5185478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600" b="0" i="0" u="none" strike="noStrike">
                <a:solidFill>
                  <a:srgbClr val="323232"/>
                </a:solidFill>
                <a:ea typeface="Pretendard SemiBold"/>
              </a:rPr>
              <a:t>홈페이지 </a:t>
            </a:r>
            <a:r>
              <a:rPr lang="ko-KR" altLang="en-US" sz="3600">
                <a:solidFill>
                  <a:srgbClr val="323232"/>
                </a:solidFill>
                <a:ea typeface="Pretendard SemiBold"/>
              </a:rPr>
              <a:t>회원가입과 로그인</a:t>
            </a:r>
            <a:endParaRPr lang="ko-KR" sz="36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818CE-1DAE-4B3C-AE89-8EDC3924D782}"/>
              </a:ext>
            </a:extLst>
          </p:cNvPr>
          <p:cNvSpPr txBox="1"/>
          <p:nvPr/>
        </p:nvSpPr>
        <p:spPr>
          <a:xfrm>
            <a:off x="114708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825DF6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825DF6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EA6E2-9C2D-46E4-981A-77D8823D33DF}"/>
              </a:ext>
            </a:extLst>
          </p:cNvPr>
          <p:cNvSpPr txBox="1"/>
          <p:nvPr/>
        </p:nvSpPr>
        <p:spPr>
          <a:xfrm>
            <a:off x="139250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82EA1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82EA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52EF9-67EA-4685-A308-95F5378A7CC3}"/>
              </a:ext>
            </a:extLst>
          </p:cNvPr>
          <p:cNvSpPr txBox="1"/>
          <p:nvPr/>
        </p:nvSpPr>
        <p:spPr>
          <a:xfrm>
            <a:off x="1637921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FD3D8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FD3D8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088BCE-C524-4855-B0F8-8A219AAA70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10" r="14076" b="14352"/>
          <a:stretch/>
        </p:blipFill>
        <p:spPr>
          <a:xfrm>
            <a:off x="1147082" y="2059017"/>
            <a:ext cx="7650487" cy="50273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2225858-1F04-4CEE-A13E-2EC4A803AA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" r="17034" b="27052"/>
          <a:stretch/>
        </p:blipFill>
        <p:spPr>
          <a:xfrm>
            <a:off x="7658291" y="4583658"/>
            <a:ext cx="9826425" cy="5027340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2A220C9C-A0A7-4857-A6FC-45B94D2A2AAD}"/>
              </a:ext>
            </a:extLst>
          </p:cNvPr>
          <p:cNvSpPr txBox="1"/>
          <p:nvPr/>
        </p:nvSpPr>
        <p:spPr>
          <a:xfrm>
            <a:off x="9254969" y="2579504"/>
            <a:ext cx="7298827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회원</a:t>
            </a:r>
            <a:r>
              <a:rPr lang="en-US" altLang="ko-KR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로그인</a:t>
            </a:r>
            <a:r>
              <a:rPr lang="en-US" altLang="ko-KR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800" b="1" dirty="0">
                <a:solidFill>
                  <a:srgbClr val="382EA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증명서 발급</a:t>
            </a:r>
            <a:r>
              <a:rPr lang="ko-KR" altLang="en-US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을 위해 </a:t>
            </a:r>
            <a:r>
              <a:rPr lang="ko-KR" altLang="en-US" sz="2800" dirty="0">
                <a:solidFill>
                  <a:schemeClr val="bg1"/>
                </a:solidFill>
                <a:highlight>
                  <a:srgbClr val="3FD3D8"/>
                </a:highlight>
                <a:latin typeface="Pretendard Regular" panose="020B0600000101010101" charset="-127"/>
                <a:ea typeface="Pretendard Regular" panose="020B0600000101010101" charset="-127"/>
              </a:rPr>
              <a:t>  회원가입 </a:t>
            </a:r>
            <a:r>
              <a:rPr lang="ko-KR" altLang="en-US" sz="2800" dirty="0">
                <a:solidFill>
                  <a:schemeClr val="bg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28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추가</a:t>
            </a:r>
            <a:endParaRPr lang="en-US" sz="2800" b="0" i="0" u="none" strike="noStrike" dirty="0">
              <a:solidFill>
                <a:srgbClr val="00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397A322D-BB9C-4B1D-8F61-DF36D2569D53}"/>
              </a:ext>
            </a:extLst>
          </p:cNvPr>
          <p:cNvSpPr txBox="1"/>
          <p:nvPr/>
        </p:nvSpPr>
        <p:spPr>
          <a:xfrm>
            <a:off x="1835750" y="7394894"/>
            <a:ext cx="4696304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116199"/>
              </a:lnSpc>
            </a:pPr>
            <a:r>
              <a:rPr lang="en-US" altLang="ko-KR" sz="24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+ </a:t>
            </a:r>
            <a:r>
              <a:rPr lang="ko-KR" altLang="en-US" sz="24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다음 </a:t>
            </a:r>
            <a:r>
              <a:rPr lang="en-US" altLang="ko-KR" sz="24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API</a:t>
            </a:r>
            <a:r>
              <a:rPr lang="ko-KR" altLang="en-US" sz="2400" dirty="0">
                <a:solidFill>
                  <a:srgbClr val="000000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추가하여 </a:t>
            </a:r>
            <a:r>
              <a:rPr lang="ko-KR" altLang="en-US" sz="2400" b="1" dirty="0">
                <a:solidFill>
                  <a:srgbClr val="382EA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주소 찾기 추가</a:t>
            </a:r>
            <a:endParaRPr lang="en-US" sz="2400" b="1" i="0" u="none" strike="noStrike" dirty="0">
              <a:solidFill>
                <a:srgbClr val="382EA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93BDC0-A4C6-458A-8EEF-520966F974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-1" r="68516" b="52299"/>
          <a:stretch/>
        </p:blipFill>
        <p:spPr>
          <a:xfrm>
            <a:off x="7239597" y="3505097"/>
            <a:ext cx="4516351" cy="47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5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365FBA91-8E92-4559-AE9B-27F52CDB0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03700" y="-6731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147083" y="909556"/>
            <a:ext cx="6427424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600" b="0" i="0" u="none" strike="noStrike" dirty="0">
                <a:solidFill>
                  <a:srgbClr val="323232"/>
                </a:solidFill>
                <a:ea typeface="Pretendard SemiBold"/>
              </a:rPr>
              <a:t>홈페이지 회원가입과 로그인 영상</a:t>
            </a:r>
            <a:endParaRPr lang="ko-KR" sz="36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818CE-1DAE-4B3C-AE89-8EDC3924D782}"/>
              </a:ext>
            </a:extLst>
          </p:cNvPr>
          <p:cNvSpPr txBox="1"/>
          <p:nvPr/>
        </p:nvSpPr>
        <p:spPr>
          <a:xfrm>
            <a:off x="114708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825DF6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825DF6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EA6E2-9C2D-46E4-981A-77D8823D33DF}"/>
              </a:ext>
            </a:extLst>
          </p:cNvPr>
          <p:cNvSpPr txBox="1"/>
          <p:nvPr/>
        </p:nvSpPr>
        <p:spPr>
          <a:xfrm>
            <a:off x="139250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82EA1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82EA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52EF9-67EA-4685-A308-95F5378A7CC3}"/>
              </a:ext>
            </a:extLst>
          </p:cNvPr>
          <p:cNvSpPr txBox="1"/>
          <p:nvPr/>
        </p:nvSpPr>
        <p:spPr>
          <a:xfrm>
            <a:off x="1637921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FD3D8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FD3D8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KakaoTalk_20240905_151705345">
            <a:hlinkClick r:id="" action="ppaction://media"/>
            <a:extLst>
              <a:ext uri="{FF2B5EF4-FFF2-40B4-BE49-F238E27FC236}">
                <a16:creationId xmlns:a16="http://schemas.microsoft.com/office/drawing/2014/main" id="{66950D09-931F-4232-82F2-27D632E50A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r="1351"/>
          <a:stretch/>
        </p:blipFill>
        <p:spPr>
          <a:xfrm>
            <a:off x="1553400" y="1720542"/>
            <a:ext cx="15181201" cy="835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58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71755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BC49B77C-58BA-4514-8A24-6D1DD889FF21}"/>
              </a:ext>
            </a:extLst>
          </p:cNvPr>
          <p:cNvSpPr txBox="1"/>
          <p:nvPr/>
        </p:nvSpPr>
        <p:spPr>
          <a:xfrm>
            <a:off x="704531" y="1308100"/>
            <a:ext cx="8982808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로그인 증명서 </a:t>
            </a:r>
            <a:r>
              <a:rPr lang="ko-KR" altLang="en-US" sz="6500" b="0" i="0" u="none" strike="noStrike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발급</a:t>
            </a:r>
            <a:r>
              <a:rPr lang="en-US" altLang="ko-KR" sz="6500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 </a:t>
            </a:r>
            <a:r>
              <a:rPr lang="ko-KR" altLang="en-US" sz="6500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테이블</a:t>
            </a:r>
            <a:endParaRPr lang="ko-KR" sz="6500" b="0" i="0" u="none" strike="noStrike" dirty="0">
              <a:solidFill>
                <a:srgbClr val="323232"/>
              </a:solidFill>
              <a:highlight>
                <a:srgbClr val="FFFFFF"/>
              </a:highlight>
              <a:ea typeface="Pretendard SemiBold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F69ADBAE-3CFB-40B3-850C-1752CB6F1A77}"/>
              </a:ext>
            </a:extLst>
          </p:cNvPr>
          <p:cNvSpPr txBox="1"/>
          <p:nvPr/>
        </p:nvSpPr>
        <p:spPr>
          <a:xfrm>
            <a:off x="704531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Login Certificate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DC3368A-DE28-4FB0-B4B8-388B85F38053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54E631-5B60-48EB-920E-298D6C3EA048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2718F9-628E-45C7-8FAF-66B8B0D27CD9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85C4C5-B847-47E2-9B8C-BC69AB5F10B7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B8A9FB1-2C8C-4863-A145-FA81DEDC8936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A1B691-9256-4437-8020-1EFC7739BBAD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8BC071-33CD-4083-AA30-AAF19B6DA7FD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BC5282A-F5FD-4E20-A569-76DB562EE911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E386E3B-E78A-4717-845A-D084A808F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987" y="3496240"/>
            <a:ext cx="6540106" cy="47401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401172-AAB7-4FBA-8584-7848D7687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650" y="3496240"/>
            <a:ext cx="6540107" cy="42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1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365FBA91-8E92-4559-AE9B-27F52CDB0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03700" y="-6731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277712" y="918540"/>
            <a:ext cx="6893831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000" dirty="0">
                <a:solidFill>
                  <a:srgbClr val="323232"/>
                </a:solidFill>
                <a:ea typeface="Pretendard SemiBold"/>
              </a:rPr>
              <a:t>회원로그인 </a:t>
            </a:r>
            <a:r>
              <a:rPr lang="ko-KR" altLang="en-US" sz="3000" dirty="0">
                <a:solidFill>
                  <a:srgbClr val="3FD3D8"/>
                </a:solidFill>
                <a:ea typeface="Pretendard SemiBold"/>
              </a:rPr>
              <a:t>▶</a:t>
            </a:r>
            <a:r>
              <a:rPr lang="en-US" altLang="ko-KR" sz="3000" dirty="0">
                <a:solidFill>
                  <a:srgbClr val="323232"/>
                </a:solidFill>
                <a:ea typeface="Pretendard SemiBold"/>
              </a:rPr>
              <a:t> </a:t>
            </a:r>
            <a:r>
              <a:rPr lang="ko-KR" altLang="en-US" sz="3000" dirty="0">
                <a:solidFill>
                  <a:srgbClr val="323232"/>
                </a:solidFill>
                <a:ea typeface="Pretendard SemiBold"/>
              </a:rPr>
              <a:t>증명서 발급 </a:t>
            </a:r>
            <a:r>
              <a:rPr lang="ko-KR" altLang="en-US" sz="3000" dirty="0">
                <a:solidFill>
                  <a:srgbClr val="3FD3D8"/>
                </a:solidFill>
                <a:ea typeface="Pretendard SemiBold"/>
              </a:rPr>
              <a:t>▶</a:t>
            </a:r>
            <a:r>
              <a:rPr lang="en-US" altLang="ko-KR" sz="3000" dirty="0">
                <a:solidFill>
                  <a:srgbClr val="323232"/>
                </a:solidFill>
                <a:ea typeface="Pretendard SemiBold"/>
              </a:rPr>
              <a:t> </a:t>
            </a:r>
            <a:r>
              <a:rPr lang="ko-KR" altLang="en-US" sz="3000" dirty="0">
                <a:solidFill>
                  <a:srgbClr val="323232"/>
                </a:solidFill>
                <a:ea typeface="Pretendard SemiBold"/>
              </a:rPr>
              <a:t>진료내역이 없음</a:t>
            </a:r>
            <a:endParaRPr lang="ko-KR" sz="30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818CE-1DAE-4B3C-AE89-8EDC3924D782}"/>
              </a:ext>
            </a:extLst>
          </p:cNvPr>
          <p:cNvSpPr txBox="1"/>
          <p:nvPr/>
        </p:nvSpPr>
        <p:spPr>
          <a:xfrm>
            <a:off x="114708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825DF6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825DF6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EA6E2-9C2D-46E4-981A-77D8823D33DF}"/>
              </a:ext>
            </a:extLst>
          </p:cNvPr>
          <p:cNvSpPr txBox="1"/>
          <p:nvPr/>
        </p:nvSpPr>
        <p:spPr>
          <a:xfrm>
            <a:off x="139250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82EA1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82EA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52EF9-67EA-4685-A308-95F5378A7CC3}"/>
              </a:ext>
            </a:extLst>
          </p:cNvPr>
          <p:cNvSpPr txBox="1"/>
          <p:nvPr/>
        </p:nvSpPr>
        <p:spPr>
          <a:xfrm>
            <a:off x="1637921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FD3D8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FD3D8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회원 증명서 완">
            <a:hlinkClick r:id="" action="ppaction://media"/>
            <a:extLst>
              <a:ext uri="{FF2B5EF4-FFF2-40B4-BE49-F238E27FC236}">
                <a16:creationId xmlns:a16="http://schemas.microsoft.com/office/drawing/2014/main" id="{F6FF7B62-9C1A-4673-A00C-A4C1278FB1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7712" y="1777109"/>
            <a:ext cx="15559176" cy="826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71755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BC49B77C-58BA-4514-8A24-6D1DD889FF21}"/>
              </a:ext>
            </a:extLst>
          </p:cNvPr>
          <p:cNvSpPr txBox="1"/>
          <p:nvPr/>
        </p:nvSpPr>
        <p:spPr>
          <a:xfrm>
            <a:off x="704531" y="1361209"/>
            <a:ext cx="9605660" cy="10621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비로그인 </a:t>
            </a:r>
            <a:r>
              <a:rPr lang="ko-KR" altLang="en-US" sz="6500" b="0" i="0" u="none" strike="noStrike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증명서 발급 테이블</a:t>
            </a:r>
            <a:endParaRPr lang="ko-KR" sz="6500" b="0" i="0" u="none" strike="noStrike" dirty="0">
              <a:solidFill>
                <a:srgbClr val="323232"/>
              </a:solidFill>
              <a:highlight>
                <a:srgbClr val="FFFFFF"/>
              </a:highlight>
              <a:ea typeface="Pretendard SemiBold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F69ADBAE-3CFB-40B3-850C-1752CB6F1A77}"/>
              </a:ext>
            </a:extLst>
          </p:cNvPr>
          <p:cNvSpPr txBox="1"/>
          <p:nvPr/>
        </p:nvSpPr>
        <p:spPr>
          <a:xfrm>
            <a:off x="704531" y="2533650"/>
            <a:ext cx="6337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>
                <a:solidFill>
                  <a:srgbClr val="323232"/>
                </a:solidFill>
                <a:latin typeface="Baskerville Old Face"/>
              </a:rPr>
              <a:t>Login Certificate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DC3368A-DE28-4FB0-B4B8-388B85F38053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54E631-5B60-48EB-920E-298D6C3EA048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2718F9-628E-45C7-8FAF-66B8B0D27CD9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85C4C5-B847-47E2-9B8C-BC69AB5F10B7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B8A9FB1-2C8C-4863-A145-FA81DEDC8936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A1B691-9256-4437-8020-1EFC7739BBAD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8BC071-33CD-4083-AA30-AAF19B6DA7FD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BC5282A-F5FD-4E20-A569-76DB562EE911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D25B7D3A-4E34-4B28-9076-F5848F3E9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31" y="3076833"/>
            <a:ext cx="7803365" cy="59611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2001150-3DA2-4EAD-88A8-C6A9114EE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805" y="3065955"/>
            <a:ext cx="8209952" cy="24890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EC75148-C8A3-4F8C-AFEE-24625FF4F2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804" y="5632073"/>
            <a:ext cx="8209953" cy="340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9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0" y="-71755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6" name="TextBox 3">
            <a:extLst>
              <a:ext uri="{FF2B5EF4-FFF2-40B4-BE49-F238E27FC236}">
                <a16:creationId xmlns:a16="http://schemas.microsoft.com/office/drawing/2014/main" id="{BC49B77C-58BA-4514-8A24-6D1DD889FF21}"/>
              </a:ext>
            </a:extLst>
          </p:cNvPr>
          <p:cNvSpPr txBox="1"/>
          <p:nvPr/>
        </p:nvSpPr>
        <p:spPr>
          <a:xfrm>
            <a:off x="704531" y="1361209"/>
            <a:ext cx="9605660" cy="10621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비로그인 </a:t>
            </a:r>
            <a:r>
              <a:rPr lang="ko-KR" altLang="en-US" sz="6500" b="0" i="0" u="none" strike="noStrike">
                <a:solidFill>
                  <a:srgbClr val="323232"/>
                </a:solidFill>
                <a:highlight>
                  <a:srgbClr val="FFFFFF"/>
                </a:highlight>
                <a:ea typeface="Pretendard SemiBold"/>
              </a:rPr>
              <a:t>증명서 발급 테이블</a:t>
            </a:r>
            <a:endParaRPr lang="ko-KR" sz="6500" b="0" i="0" u="none" strike="noStrike" dirty="0">
              <a:solidFill>
                <a:srgbClr val="323232"/>
              </a:solidFill>
              <a:highlight>
                <a:srgbClr val="FFFFFF"/>
              </a:highlight>
              <a:ea typeface="Pretendard SemiBold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F69ADBAE-3CFB-40B3-850C-1752CB6F1A77}"/>
              </a:ext>
            </a:extLst>
          </p:cNvPr>
          <p:cNvSpPr txBox="1"/>
          <p:nvPr/>
        </p:nvSpPr>
        <p:spPr>
          <a:xfrm>
            <a:off x="704531" y="2533650"/>
            <a:ext cx="6337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>
                <a:solidFill>
                  <a:srgbClr val="323232"/>
                </a:solidFill>
                <a:latin typeface="Baskerville Old Face"/>
              </a:rPr>
              <a:t>Login Certificate</a:t>
            </a:r>
            <a:endParaRPr lang="en-US" sz="2400" b="0" i="1" u="none" strike="noStrike" dirty="0">
              <a:solidFill>
                <a:srgbClr val="323232"/>
              </a:solidFill>
              <a:latin typeface="Baskerville Old Face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DC3368A-DE28-4FB0-B4B8-388B85F38053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54E631-5B60-48EB-920E-298D6C3EA048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2718F9-628E-45C7-8FAF-66B8B0D27CD9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85C4C5-B847-47E2-9B8C-BC69AB5F10B7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B8A9FB1-2C8C-4863-A145-FA81DEDC8936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A1B691-9256-4437-8020-1EFC7739BBAD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8BC071-33CD-4083-AA30-AAF19B6DA7FD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BC5282A-F5FD-4E20-A569-76DB562EE911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8E75F7E-DF02-4D5C-977E-54CFA10AA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30" y="3353023"/>
            <a:ext cx="6971428" cy="31405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42072E-102A-4418-B47C-ABA136A94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64" y="3284285"/>
            <a:ext cx="8374973" cy="32092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E9F1A61-7CA7-40D5-BC10-605A806F6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12" y="6647137"/>
            <a:ext cx="6971428" cy="29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3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365FBA91-8E92-4559-AE9B-27F52CDB0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03700" y="-6731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15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229329" y="918540"/>
            <a:ext cx="9578974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000" b="1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비회원인증 </a:t>
            </a:r>
            <a:r>
              <a:rPr lang="ko-KR" altLang="en-US" sz="3000" b="1" dirty="0">
                <a:solidFill>
                  <a:srgbClr val="3FD3D8"/>
                </a:solidFill>
                <a:latin typeface="Pretendard Regular" panose="020B0600000101010101" charset="-127"/>
                <a:ea typeface="Pretendard Regular" panose="020B0600000101010101" charset="-127"/>
              </a:rPr>
              <a:t>▶</a:t>
            </a:r>
            <a:r>
              <a:rPr lang="en-US" altLang="ko-KR" sz="3000" b="1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3000" b="1" dirty="0">
                <a:solidFill>
                  <a:srgbClr val="323232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진료내역 확인 </a:t>
            </a:r>
            <a:r>
              <a:rPr lang="ko-KR" altLang="en-US" sz="3000" b="1" dirty="0">
                <a:solidFill>
                  <a:srgbClr val="3FD3D8"/>
                </a:solidFill>
                <a:latin typeface="Pretendard Regular" panose="020B0600000101010101" charset="-127"/>
                <a:ea typeface="Pretendard Regular" panose="020B0600000101010101" charset="-127"/>
              </a:rPr>
              <a:t>▶ </a:t>
            </a:r>
            <a:r>
              <a:rPr lang="ko-KR" alt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rPr>
              <a:t>원하는 증명서 뽑기 </a:t>
            </a:r>
            <a:endParaRPr lang="ko-KR" sz="3000" b="1" i="0" u="none" strike="noStrike" dirty="0">
              <a:solidFill>
                <a:schemeClr val="tx1">
                  <a:lumMod val="95000"/>
                  <a:lumOff val="5000"/>
                </a:schemeClr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818CE-1DAE-4B3C-AE89-8EDC3924D782}"/>
              </a:ext>
            </a:extLst>
          </p:cNvPr>
          <p:cNvSpPr txBox="1"/>
          <p:nvPr/>
        </p:nvSpPr>
        <p:spPr>
          <a:xfrm>
            <a:off x="114708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825DF6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825DF6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EA6E2-9C2D-46E4-981A-77D8823D33DF}"/>
              </a:ext>
            </a:extLst>
          </p:cNvPr>
          <p:cNvSpPr txBox="1"/>
          <p:nvPr/>
        </p:nvSpPr>
        <p:spPr>
          <a:xfrm>
            <a:off x="139250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82EA1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82EA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52EF9-67EA-4685-A308-95F5378A7CC3}"/>
              </a:ext>
            </a:extLst>
          </p:cNvPr>
          <p:cNvSpPr txBox="1"/>
          <p:nvPr/>
        </p:nvSpPr>
        <p:spPr>
          <a:xfrm>
            <a:off x="1637921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FD3D8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FD3D8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KakaoTalk_20240905_151718148">
            <a:hlinkClick r:id="" action="ppaction://media"/>
            <a:extLst>
              <a:ext uri="{FF2B5EF4-FFF2-40B4-BE49-F238E27FC236}">
                <a16:creationId xmlns:a16="http://schemas.microsoft.com/office/drawing/2014/main" id="{B9416483-219B-4800-8329-1C598067A3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30363" y="1834158"/>
            <a:ext cx="15027275" cy="828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7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365FBA91-8E92-4559-AE9B-27F52CDB0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03700" y="-67310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10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0FC9918C-0BE3-4B67-95A8-5F1FC53389C4}"/>
              </a:ext>
            </a:extLst>
          </p:cNvPr>
          <p:cNvSpPr txBox="1"/>
          <p:nvPr/>
        </p:nvSpPr>
        <p:spPr>
          <a:xfrm>
            <a:off x="1147083" y="909556"/>
            <a:ext cx="5185478" cy="81098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3600" b="0" i="0" u="none" strike="noStrike" dirty="0">
                <a:solidFill>
                  <a:srgbClr val="323232"/>
                </a:solidFill>
                <a:ea typeface="Pretendard SemiBold"/>
              </a:rPr>
              <a:t>증명서 출력 시 화면</a:t>
            </a:r>
            <a:endParaRPr lang="ko-KR" sz="36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818CE-1DAE-4B3C-AE89-8EDC3924D782}"/>
              </a:ext>
            </a:extLst>
          </p:cNvPr>
          <p:cNvSpPr txBox="1"/>
          <p:nvPr/>
        </p:nvSpPr>
        <p:spPr>
          <a:xfrm>
            <a:off x="114708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825DF6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825DF6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7EA6E2-9C2D-46E4-981A-77D8823D33DF}"/>
              </a:ext>
            </a:extLst>
          </p:cNvPr>
          <p:cNvSpPr txBox="1"/>
          <p:nvPr/>
        </p:nvSpPr>
        <p:spPr>
          <a:xfrm>
            <a:off x="1392502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82EA1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82EA1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52EF9-67EA-4685-A308-95F5378A7CC3}"/>
              </a:ext>
            </a:extLst>
          </p:cNvPr>
          <p:cNvSpPr txBox="1"/>
          <p:nvPr/>
        </p:nvSpPr>
        <p:spPr>
          <a:xfrm>
            <a:off x="1637921" y="589943"/>
            <a:ext cx="490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3FD3D8"/>
                </a:solidFill>
                <a:latin typeface="Arial Black" panose="020B0A04020102020204" pitchFamily="34" charset="0"/>
              </a:rPr>
              <a:t>+ </a:t>
            </a:r>
            <a:endParaRPr lang="ko-KR" altLang="en-US" sz="2400" dirty="0">
              <a:solidFill>
                <a:srgbClr val="3FD3D8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4379E0-E0A1-48FC-B67E-D8C51EC5B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572" y="2143768"/>
            <a:ext cx="14476857" cy="814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2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>
            <a:extLst>
              <a:ext uri="{FF2B5EF4-FFF2-40B4-BE49-F238E27FC236}">
                <a16:creationId xmlns:a16="http://schemas.microsoft.com/office/drawing/2014/main" id="{A07C68E5-1F01-4153-B161-B5C91E24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89406" y="-5635625"/>
            <a:ext cx="13373100" cy="13373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37327" y="1308100"/>
            <a:ext cx="10621818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팀원들 자체평가의견 </a:t>
            </a:r>
            <a:r>
              <a:rPr lang="en-US" altLang="ko-KR" sz="6500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TIME</a:t>
            </a:r>
            <a:endParaRPr lang="ko-KR" altLang="ko-KR" sz="6500" b="0" i="0" u="none" strike="noStrike" dirty="0">
              <a:solidFill>
                <a:srgbClr val="32323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4CB77EE-74DB-4266-8429-D0C20CAE0679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420E55-AA85-4755-8023-7E8E46DD68B0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7B15F9-42E0-4D6B-9F96-C586ADBD4575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43D620-A064-4E3D-8C10-D2FACBD2C53E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7B7883A0-0369-4EBB-9EBF-54F0BB81C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90" y="7251338"/>
            <a:ext cx="3120075" cy="3035662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DDE81F0A-A51D-4032-8A13-AD6A9B80C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168" y="7251338"/>
            <a:ext cx="3120075" cy="303566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06F1606-8B35-427C-839D-BDC9834445D8}"/>
              </a:ext>
            </a:extLst>
          </p:cNvPr>
          <p:cNvGrpSpPr/>
          <p:nvPr/>
        </p:nvGrpSpPr>
        <p:grpSpPr>
          <a:xfrm>
            <a:off x="503975" y="2959100"/>
            <a:ext cx="241300" cy="1367970"/>
            <a:chOff x="503975" y="2959100"/>
            <a:chExt cx="241300" cy="1367970"/>
          </a:xfrm>
        </p:grpSpPr>
        <p:pic>
          <p:nvPicPr>
            <p:cNvPr id="64" name="Picture 9">
              <a:extLst>
                <a:ext uri="{FF2B5EF4-FFF2-40B4-BE49-F238E27FC236}">
                  <a16:creationId xmlns:a16="http://schemas.microsoft.com/office/drawing/2014/main" id="{60A18474-3504-4A17-9579-A0A7930E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65" name="Picture 10">
              <a:extLst>
                <a:ext uri="{FF2B5EF4-FFF2-40B4-BE49-F238E27FC236}">
                  <a16:creationId xmlns:a16="http://schemas.microsoft.com/office/drawing/2014/main" id="{651550D1-71F9-49BD-AAE6-6EF8009E0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A15A913-E9C7-4F0F-8845-52C3D55E573B}"/>
              </a:ext>
            </a:extLst>
          </p:cNvPr>
          <p:cNvSpPr txBox="1"/>
          <p:nvPr/>
        </p:nvSpPr>
        <p:spPr>
          <a:xfrm>
            <a:off x="892530" y="2905267"/>
            <a:ext cx="989405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개선점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</a:p>
          <a:p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email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이외에 다른 방식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카카오톡 같은 </a:t>
            </a:r>
            <a:r>
              <a:rPr lang="en-US" altLang="ko-KR" sz="1800" dirty="0" err="1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sns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통한 인증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 필요하지 않은가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?</a:t>
            </a:r>
          </a:p>
          <a:p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현재는 관련 정보에 대한 조사 부족으로 진료비 증명서 쪽 빈 정보가 많아 보완해 채우려고 함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en-US" altLang="ko-KR" sz="1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보완점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SNS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를 통한 인증번호 얻기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현재 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pdf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파일로 저장 기능을 넣었는데 출력할지 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pdf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로 저장할지 선택하는 기능</a:t>
            </a:r>
            <a:r>
              <a:rPr lang="ko-KR" altLang="en-US" sz="1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en-US" altLang="ko-KR" sz="1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ko-KR" altLang="en-US" sz="1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하면서 느낀 점 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테이블을 구성하고 서로 연결함에 있어 논리적으로 고려해야할 부분이 많아 생각하는 시간이 많이 필요했으며</a:t>
            </a:r>
            <a:endParaRPr lang="en-US" altLang="ko-KR" sz="1800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이런 분야가 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ai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가 할 수 없는 세부적인 부분이라 생각하게 됨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쿼리의 중요성을 체감함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en-US" sz="18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ko-KR" altLang="en-US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8524597-076B-4893-80B2-9C0FE316C42F}"/>
              </a:ext>
            </a:extLst>
          </p:cNvPr>
          <p:cNvGrpSpPr/>
          <p:nvPr/>
        </p:nvGrpSpPr>
        <p:grpSpPr>
          <a:xfrm>
            <a:off x="503975" y="4206441"/>
            <a:ext cx="241300" cy="1367970"/>
            <a:chOff x="503975" y="2959100"/>
            <a:chExt cx="241300" cy="1367970"/>
          </a:xfrm>
        </p:grpSpPr>
        <p:pic>
          <p:nvPicPr>
            <p:cNvPr id="68" name="Picture 9">
              <a:extLst>
                <a:ext uri="{FF2B5EF4-FFF2-40B4-BE49-F238E27FC236}">
                  <a16:creationId xmlns:a16="http://schemas.microsoft.com/office/drawing/2014/main" id="{89D1046B-27D7-4D61-87EE-2397058CE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69" name="Picture 10">
              <a:extLst>
                <a:ext uri="{FF2B5EF4-FFF2-40B4-BE49-F238E27FC236}">
                  <a16:creationId xmlns:a16="http://schemas.microsoft.com/office/drawing/2014/main" id="{44DD1184-A9F8-425A-92FE-3EB6218D9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FAF70AA-84B2-4596-8412-F8C8C25AF8C1}"/>
              </a:ext>
            </a:extLst>
          </p:cNvPr>
          <p:cNvGrpSpPr/>
          <p:nvPr/>
        </p:nvGrpSpPr>
        <p:grpSpPr>
          <a:xfrm>
            <a:off x="503975" y="5596710"/>
            <a:ext cx="241300" cy="905691"/>
            <a:chOff x="503975" y="2959100"/>
            <a:chExt cx="241300" cy="905691"/>
          </a:xfrm>
        </p:grpSpPr>
        <p:pic>
          <p:nvPicPr>
            <p:cNvPr id="71" name="Picture 9">
              <a:extLst>
                <a:ext uri="{FF2B5EF4-FFF2-40B4-BE49-F238E27FC236}">
                  <a16:creationId xmlns:a16="http://schemas.microsoft.com/office/drawing/2014/main" id="{0DC5C8FB-38BA-45D0-8E9E-BADA1AA45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" r="33318" b="-1954"/>
            <a:stretch/>
          </p:blipFill>
          <p:spPr>
            <a:xfrm rot="5400000">
              <a:off x="177048" y="3404515"/>
              <a:ext cx="873940" cy="46612"/>
            </a:xfrm>
            <a:prstGeom prst="rect">
              <a:avLst/>
            </a:prstGeom>
          </p:spPr>
        </p:pic>
        <p:pic>
          <p:nvPicPr>
            <p:cNvPr id="72" name="Picture 10">
              <a:extLst>
                <a:ext uri="{FF2B5EF4-FFF2-40B4-BE49-F238E27FC236}">
                  <a16:creationId xmlns:a16="http://schemas.microsoft.com/office/drawing/2014/main" id="{5A1AD777-0749-4197-8E3E-F0742E62F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A361E24-1BE8-4ADC-96AF-A3172C26D810}"/>
              </a:ext>
            </a:extLst>
          </p:cNvPr>
          <p:cNvSpPr txBox="1"/>
          <p:nvPr/>
        </p:nvSpPr>
        <p:spPr>
          <a:xfrm>
            <a:off x="10507046" y="6995270"/>
            <a:ext cx="688842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잘했던 점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끝까지 무언가 하려고 한 점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endParaRPr lang="en-US" altLang="ko-KR" sz="1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보완점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수업에서 배운 내용을 많이 적용하지 못하고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기본기가 부족한 점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(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기본기 보완 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endParaRPr lang="ko-KR" altLang="en-US" sz="1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하면서 느낀 점 </a:t>
            </a:r>
            <a:r>
              <a:rPr lang="en-US" altLang="ko-KR" sz="24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1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차 프로젝트는 짧았지만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직접 찾아보면서</a:t>
            </a:r>
            <a:endParaRPr lang="en-US" altLang="ko-KR" sz="1800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한 점에서 기존에 배웠던 내용을 복습하는 점이 머리 속에</a:t>
            </a:r>
            <a:r>
              <a:rPr lang="en-US" altLang="ko-KR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ko-KR" altLang="en-US" sz="18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더 잘 들어온 느낌</a:t>
            </a:r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9D0F71E-F7B2-4F65-A771-35DC5163C8F5}"/>
              </a:ext>
            </a:extLst>
          </p:cNvPr>
          <p:cNvGrpSpPr/>
          <p:nvPr/>
        </p:nvGrpSpPr>
        <p:grpSpPr>
          <a:xfrm>
            <a:off x="10023844" y="6995270"/>
            <a:ext cx="241300" cy="1367970"/>
            <a:chOff x="503975" y="2959100"/>
            <a:chExt cx="241300" cy="1367970"/>
          </a:xfrm>
        </p:grpSpPr>
        <p:pic>
          <p:nvPicPr>
            <p:cNvPr id="74" name="Picture 9">
              <a:extLst>
                <a:ext uri="{FF2B5EF4-FFF2-40B4-BE49-F238E27FC236}">
                  <a16:creationId xmlns:a16="http://schemas.microsoft.com/office/drawing/2014/main" id="{1C2C1FEE-6B30-4E94-9C16-E29FA1AC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75" name="Picture 10">
              <a:extLst>
                <a:ext uri="{FF2B5EF4-FFF2-40B4-BE49-F238E27FC236}">
                  <a16:creationId xmlns:a16="http://schemas.microsoft.com/office/drawing/2014/main" id="{B46815E6-178C-4848-9D6E-F6696807A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299316B-7313-487F-9FB0-079DDB93AA4D}"/>
              </a:ext>
            </a:extLst>
          </p:cNvPr>
          <p:cNvGrpSpPr/>
          <p:nvPr/>
        </p:nvGrpSpPr>
        <p:grpSpPr>
          <a:xfrm>
            <a:off x="10023844" y="8030773"/>
            <a:ext cx="241300" cy="1367970"/>
            <a:chOff x="503975" y="2959100"/>
            <a:chExt cx="241300" cy="1367970"/>
          </a:xfrm>
        </p:grpSpPr>
        <p:pic>
          <p:nvPicPr>
            <p:cNvPr id="77" name="Picture 9">
              <a:extLst>
                <a:ext uri="{FF2B5EF4-FFF2-40B4-BE49-F238E27FC236}">
                  <a16:creationId xmlns:a16="http://schemas.microsoft.com/office/drawing/2014/main" id="{A59AA1F5-D006-4251-90D3-80B31AC08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78" name="Picture 10">
              <a:extLst>
                <a:ext uri="{FF2B5EF4-FFF2-40B4-BE49-F238E27FC236}">
                  <a16:creationId xmlns:a16="http://schemas.microsoft.com/office/drawing/2014/main" id="{D1ED4601-493A-4CB1-9FAC-AECE21EDD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38D34BFD-20E6-4C88-9E54-10C3A712876F}"/>
              </a:ext>
            </a:extLst>
          </p:cNvPr>
          <p:cNvGrpSpPr/>
          <p:nvPr/>
        </p:nvGrpSpPr>
        <p:grpSpPr>
          <a:xfrm>
            <a:off x="10023844" y="9283630"/>
            <a:ext cx="241300" cy="1367970"/>
            <a:chOff x="503975" y="2959100"/>
            <a:chExt cx="241300" cy="1367970"/>
          </a:xfrm>
        </p:grpSpPr>
        <p:pic>
          <p:nvPicPr>
            <p:cNvPr id="80" name="Picture 9">
              <a:extLst>
                <a:ext uri="{FF2B5EF4-FFF2-40B4-BE49-F238E27FC236}">
                  <a16:creationId xmlns:a16="http://schemas.microsoft.com/office/drawing/2014/main" id="{71C86949-43C9-4509-B52E-CA16322C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81" name="Picture 10">
              <a:extLst>
                <a:ext uri="{FF2B5EF4-FFF2-40B4-BE49-F238E27FC236}">
                  <a16:creationId xmlns:a16="http://schemas.microsoft.com/office/drawing/2014/main" id="{F58CB870-02AC-4772-9FE7-C0A2C3ED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4657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>
            <a:extLst>
              <a:ext uri="{FF2B5EF4-FFF2-40B4-BE49-F238E27FC236}">
                <a16:creationId xmlns:a16="http://schemas.microsoft.com/office/drawing/2014/main" id="{A07C68E5-1F01-4153-B161-B5C91E24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89406" y="-5635625"/>
            <a:ext cx="13373100" cy="13373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37327" y="1308100"/>
            <a:ext cx="10621818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팀원들 자체평가의견 </a:t>
            </a:r>
            <a:r>
              <a:rPr lang="en-US" altLang="ko-KR" sz="6500" dirty="0">
                <a:solidFill>
                  <a:srgbClr val="323232"/>
                </a:solidFill>
                <a:latin typeface="Pretendard Bold" panose="020B0600000101010101" charset="-127"/>
                <a:ea typeface="Pretendard Bold" panose="020B0600000101010101" charset="-127"/>
              </a:rPr>
              <a:t>TIME</a:t>
            </a:r>
            <a:endParaRPr lang="ko-KR" altLang="ko-KR" sz="6500" b="0" i="0" u="none" strike="noStrike" dirty="0">
              <a:solidFill>
                <a:srgbClr val="32323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 dirty="0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4CB77EE-74DB-4266-8429-D0C20CAE0679}"/>
              </a:ext>
            </a:extLst>
          </p:cNvPr>
          <p:cNvGrpSpPr/>
          <p:nvPr/>
        </p:nvGrpSpPr>
        <p:grpSpPr>
          <a:xfrm>
            <a:off x="637327" y="793750"/>
            <a:ext cx="1298864" cy="514350"/>
            <a:chOff x="1371600" y="4558725"/>
            <a:chExt cx="1506069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8420E55-AA85-4755-8023-7E8E46DD68B0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7B15F9-42E0-4D6B-9F96-C586ADBD4575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43D620-A064-4E3D-8C10-D2FACBD2C53E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06F1606-8B35-427C-839D-BDC9834445D8}"/>
              </a:ext>
            </a:extLst>
          </p:cNvPr>
          <p:cNvGrpSpPr/>
          <p:nvPr/>
        </p:nvGrpSpPr>
        <p:grpSpPr>
          <a:xfrm>
            <a:off x="503975" y="2959100"/>
            <a:ext cx="241300" cy="1367970"/>
            <a:chOff x="503975" y="2959100"/>
            <a:chExt cx="241300" cy="1367970"/>
          </a:xfrm>
        </p:grpSpPr>
        <p:pic>
          <p:nvPicPr>
            <p:cNvPr id="64" name="Picture 9">
              <a:extLst>
                <a:ext uri="{FF2B5EF4-FFF2-40B4-BE49-F238E27FC236}">
                  <a16:creationId xmlns:a16="http://schemas.microsoft.com/office/drawing/2014/main" id="{60A18474-3504-4A17-9579-A0A7930E4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65" name="Picture 10">
              <a:extLst>
                <a:ext uri="{FF2B5EF4-FFF2-40B4-BE49-F238E27FC236}">
                  <a16:creationId xmlns:a16="http://schemas.microsoft.com/office/drawing/2014/main" id="{651550D1-71F9-49BD-AAE6-6EF8009E0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A15A913-E9C7-4F0F-8845-52C3D55E573B}"/>
              </a:ext>
            </a:extLst>
          </p:cNvPr>
          <p:cNvSpPr txBox="1"/>
          <p:nvPr/>
        </p:nvSpPr>
        <p:spPr>
          <a:xfrm>
            <a:off x="892530" y="2905267"/>
            <a:ext cx="9836347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잘했던 점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서로 소통하며 역할 분담이 잘 되었다고 생각합니다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  <a:p>
            <a:endParaRPr lang="en-US" altLang="ko-KR" sz="20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보완점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Modal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을 이용한 </a:t>
            </a:r>
            <a:r>
              <a:rPr lang="ko-KR" altLang="en-US" sz="2000" dirty="0" err="1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알림창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구현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로그인 한 사람에 따라 다른 역할 및 화면 구현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의사 환자 간호사 등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)</a:t>
            </a:r>
          </a:p>
          <a:p>
            <a:endParaRPr lang="ko-KR" altLang="en-US" sz="20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하면서 느낀 점 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팀으로서 프로젝트를 작업할 때 의사소통이 생각보다도 더 많이 필요하다고 느꼈습니다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en-US" sz="2000" dirty="0"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ko-KR" altLang="en-US" sz="1600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08524597-076B-4893-80B2-9C0FE316C42F}"/>
              </a:ext>
            </a:extLst>
          </p:cNvPr>
          <p:cNvGrpSpPr/>
          <p:nvPr/>
        </p:nvGrpSpPr>
        <p:grpSpPr>
          <a:xfrm>
            <a:off x="493368" y="4006305"/>
            <a:ext cx="241300" cy="1367970"/>
            <a:chOff x="503975" y="2959100"/>
            <a:chExt cx="241300" cy="1367970"/>
          </a:xfrm>
        </p:grpSpPr>
        <p:pic>
          <p:nvPicPr>
            <p:cNvPr id="68" name="Picture 9">
              <a:extLst>
                <a:ext uri="{FF2B5EF4-FFF2-40B4-BE49-F238E27FC236}">
                  <a16:creationId xmlns:a16="http://schemas.microsoft.com/office/drawing/2014/main" id="{89D1046B-27D7-4D61-87EE-2397058CE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69" name="Picture 10">
              <a:extLst>
                <a:ext uri="{FF2B5EF4-FFF2-40B4-BE49-F238E27FC236}">
                  <a16:creationId xmlns:a16="http://schemas.microsoft.com/office/drawing/2014/main" id="{44DD1184-A9F8-425A-92FE-3EB6218D9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FAF70AA-84B2-4596-8412-F8C8C25AF8C1}"/>
              </a:ext>
            </a:extLst>
          </p:cNvPr>
          <p:cNvGrpSpPr/>
          <p:nvPr/>
        </p:nvGrpSpPr>
        <p:grpSpPr>
          <a:xfrm>
            <a:off x="459455" y="5077471"/>
            <a:ext cx="241300" cy="905691"/>
            <a:chOff x="503975" y="2959100"/>
            <a:chExt cx="241300" cy="905691"/>
          </a:xfrm>
        </p:grpSpPr>
        <p:pic>
          <p:nvPicPr>
            <p:cNvPr id="71" name="Picture 9">
              <a:extLst>
                <a:ext uri="{FF2B5EF4-FFF2-40B4-BE49-F238E27FC236}">
                  <a16:creationId xmlns:a16="http://schemas.microsoft.com/office/drawing/2014/main" id="{0DC5C8FB-38BA-45D0-8E9E-BADA1AA45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33318" b="-1954"/>
            <a:stretch/>
          </p:blipFill>
          <p:spPr>
            <a:xfrm rot="5400000">
              <a:off x="177048" y="3404515"/>
              <a:ext cx="873940" cy="46612"/>
            </a:xfrm>
            <a:prstGeom prst="rect">
              <a:avLst/>
            </a:prstGeom>
          </p:spPr>
        </p:pic>
        <p:pic>
          <p:nvPicPr>
            <p:cNvPr id="72" name="Picture 10">
              <a:extLst>
                <a:ext uri="{FF2B5EF4-FFF2-40B4-BE49-F238E27FC236}">
                  <a16:creationId xmlns:a16="http://schemas.microsoft.com/office/drawing/2014/main" id="{5A1AD777-0749-4197-8E3E-F0742E62F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A361E24-1BE8-4ADC-96AF-A3172C26D810}"/>
              </a:ext>
            </a:extLst>
          </p:cNvPr>
          <p:cNvSpPr txBox="1"/>
          <p:nvPr/>
        </p:nvSpPr>
        <p:spPr>
          <a:xfrm>
            <a:off x="9727767" y="6534910"/>
            <a:ext cx="856023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잘했던 점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 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팀원들과 소통하며 무사히 프로젝트를 해냈다는 것</a:t>
            </a:r>
            <a:endParaRPr lang="en-US" altLang="ko-KR" sz="2000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0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보완점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스스로의 부족함을 느끼고 공부를 많이 </a:t>
            </a:r>
            <a:r>
              <a:rPr lang="ko-KR" altLang="en-US" sz="2000" dirty="0" err="1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해야겠다고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생각했으며 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API</a:t>
            </a:r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에 대해</a:t>
            </a:r>
            <a:endParaRPr lang="en-US" altLang="ko-KR" sz="2000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더 자세히 알아보고 싶어 졌습니다</a:t>
            </a:r>
            <a:r>
              <a:rPr lang="en-US" altLang="ko-KR" sz="2000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endParaRPr lang="en-US" altLang="ko-KR" sz="2800" b="1" dirty="0">
              <a:solidFill>
                <a:schemeClr val="tx1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  <a:p>
            <a:r>
              <a:rPr lang="ko-KR" altLang="en-US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하면서 느낀 점 </a:t>
            </a:r>
            <a:r>
              <a:rPr lang="en-US" altLang="ko-KR" sz="2800" b="1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: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하나부터 열까지 신경 써야할 부분이 많다는 걸 느꼈고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</a:p>
          <a:p>
            <a:r>
              <a:rPr lang="ko-KR" altLang="en-US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초반에 설계를 잘해야한다는걸 </a:t>
            </a:r>
            <a:r>
              <a:rPr lang="ko-KR" altLang="en-US" sz="2000" dirty="0" err="1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깨달았습니다</a:t>
            </a:r>
            <a:r>
              <a:rPr lang="en-US" altLang="ko-KR" sz="2000" dirty="0">
                <a:solidFill>
                  <a:schemeClr val="tx1"/>
                </a:solidFill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9D0F71E-F7B2-4F65-A771-35DC5163C8F5}"/>
              </a:ext>
            </a:extLst>
          </p:cNvPr>
          <p:cNvGrpSpPr/>
          <p:nvPr/>
        </p:nvGrpSpPr>
        <p:grpSpPr>
          <a:xfrm>
            <a:off x="9327158" y="6669623"/>
            <a:ext cx="241300" cy="1367970"/>
            <a:chOff x="503975" y="2959100"/>
            <a:chExt cx="241300" cy="1367970"/>
          </a:xfrm>
        </p:grpSpPr>
        <p:pic>
          <p:nvPicPr>
            <p:cNvPr id="74" name="Picture 9">
              <a:extLst>
                <a:ext uri="{FF2B5EF4-FFF2-40B4-BE49-F238E27FC236}">
                  <a16:creationId xmlns:a16="http://schemas.microsoft.com/office/drawing/2014/main" id="{1C2C1FEE-6B30-4E94-9C16-E29FA1ACF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75" name="Picture 10">
              <a:extLst>
                <a:ext uri="{FF2B5EF4-FFF2-40B4-BE49-F238E27FC236}">
                  <a16:creationId xmlns:a16="http://schemas.microsoft.com/office/drawing/2014/main" id="{B46815E6-178C-4848-9D6E-F6696807A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299316B-7313-487F-9FB0-079DDB93AA4D}"/>
              </a:ext>
            </a:extLst>
          </p:cNvPr>
          <p:cNvGrpSpPr/>
          <p:nvPr/>
        </p:nvGrpSpPr>
        <p:grpSpPr>
          <a:xfrm>
            <a:off x="9327158" y="7744988"/>
            <a:ext cx="241300" cy="1367970"/>
            <a:chOff x="503975" y="2959100"/>
            <a:chExt cx="241300" cy="1367970"/>
          </a:xfrm>
        </p:grpSpPr>
        <p:pic>
          <p:nvPicPr>
            <p:cNvPr id="77" name="Picture 9">
              <a:extLst>
                <a:ext uri="{FF2B5EF4-FFF2-40B4-BE49-F238E27FC236}">
                  <a16:creationId xmlns:a16="http://schemas.microsoft.com/office/drawing/2014/main" id="{A59AA1F5-D006-4251-90D3-80B31AC08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78" name="Picture 10">
              <a:extLst>
                <a:ext uri="{FF2B5EF4-FFF2-40B4-BE49-F238E27FC236}">
                  <a16:creationId xmlns:a16="http://schemas.microsoft.com/office/drawing/2014/main" id="{D1ED4601-493A-4CB1-9FAC-AECE21EDD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38D34BFD-20E6-4C88-9E54-10C3A712876F}"/>
              </a:ext>
            </a:extLst>
          </p:cNvPr>
          <p:cNvGrpSpPr/>
          <p:nvPr/>
        </p:nvGrpSpPr>
        <p:grpSpPr>
          <a:xfrm>
            <a:off x="9327158" y="9149192"/>
            <a:ext cx="241300" cy="1367970"/>
            <a:chOff x="503975" y="2959100"/>
            <a:chExt cx="241300" cy="1367970"/>
          </a:xfrm>
        </p:grpSpPr>
        <p:pic>
          <p:nvPicPr>
            <p:cNvPr id="80" name="Picture 9">
              <a:extLst>
                <a:ext uri="{FF2B5EF4-FFF2-40B4-BE49-F238E27FC236}">
                  <a16:creationId xmlns:a16="http://schemas.microsoft.com/office/drawing/2014/main" id="{71C86949-43C9-4509-B52E-CA16322C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54092" y="3635654"/>
              <a:ext cx="1336221" cy="46612"/>
            </a:xfrm>
            <a:prstGeom prst="rect">
              <a:avLst/>
            </a:prstGeom>
          </p:spPr>
        </p:pic>
        <p:pic>
          <p:nvPicPr>
            <p:cNvPr id="81" name="Picture 10">
              <a:extLst>
                <a:ext uri="{FF2B5EF4-FFF2-40B4-BE49-F238E27FC236}">
                  <a16:creationId xmlns:a16="http://schemas.microsoft.com/office/drawing/2014/main" id="{F58CB870-02AC-4772-9FE7-C0A2C3ED6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975" y="2959100"/>
              <a:ext cx="241300" cy="241300"/>
            </a:xfrm>
            <a:prstGeom prst="rect">
              <a:avLst/>
            </a:prstGeom>
          </p:spPr>
        </p:pic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46B7E205-6776-4C90-862D-5ECD596CD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6977" y="7251338"/>
            <a:ext cx="3035662" cy="303566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9256E74-D713-4914-81B2-38F3FAF4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016" y="7251338"/>
            <a:ext cx="3035662" cy="303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98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72821" y="-9592130"/>
            <a:ext cx="13373100" cy="133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19500" y="1308100"/>
            <a:ext cx="570995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자체평가 </a:t>
            </a: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총 </a:t>
            </a:r>
            <a:r>
              <a:rPr lang="ko-KR" altLang="en-US" sz="6500" b="0" i="0" u="none" strike="noStrike" dirty="0">
                <a:solidFill>
                  <a:srgbClr val="323232"/>
                </a:solidFill>
                <a:ea typeface="Pretendard SemiBold"/>
              </a:rPr>
              <a:t>의견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9500" y="2514600"/>
            <a:ext cx="6337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en-US" sz="2400" b="0" i="1" u="none" strike="noStrike" dirty="0">
                <a:solidFill>
                  <a:srgbClr val="323232"/>
                </a:solidFill>
                <a:latin typeface="Baskerville Old Face"/>
              </a:rPr>
              <a:t>Background Factors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Pretendard Medium"/>
              </a:rPr>
              <a:t>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62733" y="5415467"/>
            <a:ext cx="1336221" cy="4661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4738913"/>
            <a:ext cx="241300" cy="2413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648837" y="4573813"/>
            <a:ext cx="62230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000" dirty="0">
                <a:solidFill>
                  <a:srgbClr val="323232"/>
                </a:solidFill>
                <a:ea typeface="Pretendard Bold"/>
              </a:rPr>
              <a:t>잘 했는 점</a:t>
            </a:r>
            <a:r>
              <a:rPr lang="en-US" altLang="ko-KR" sz="3000" dirty="0">
                <a:solidFill>
                  <a:srgbClr val="323232"/>
                </a:solidFill>
                <a:ea typeface="Pretendard Bold"/>
              </a:rPr>
              <a:t>?</a:t>
            </a:r>
            <a:endParaRPr lang="ko-KR" sz="3000" b="0" i="0" u="none" strike="noStrike" dirty="0">
              <a:solidFill>
                <a:srgbClr val="323232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76399" y="5219699"/>
            <a:ext cx="9627157" cy="104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병원 측에서는 업무 </a:t>
            </a:r>
            <a:r>
              <a:rPr lang="ko-KR" altLang="en-US" b="1" dirty="0">
                <a:solidFill>
                  <a:srgbClr val="382EA1"/>
                </a:solidFill>
                <a:latin typeface="Pretendard Regular" panose="020B0600000101010101" charset="-127"/>
                <a:ea typeface="Pretendard Regular" panose="020B0600000101010101" charset="-127"/>
              </a:rPr>
              <a:t>효율성을 극대화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할 수 있고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자동화된 시스템은 </a:t>
            </a:r>
            <a:r>
              <a:rPr lang="ko-KR" altLang="en-US" b="1" dirty="0">
                <a:latin typeface="Pretendard Regular" panose="020B0600000101010101" charset="-127"/>
                <a:ea typeface="Pretendard Regular" panose="020B0600000101010101" charset="-127"/>
              </a:rPr>
              <a:t>반복적인 작업과 번거로운 절차를 최소화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하여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보다 </a:t>
            </a:r>
            <a:r>
              <a:rPr lang="ko-KR" altLang="en-US" b="1" dirty="0">
                <a:solidFill>
                  <a:schemeClr val="bg1"/>
                </a:solidFill>
                <a:highlight>
                  <a:srgbClr val="3FD3D8"/>
                </a:highlight>
                <a:latin typeface="Pretendard Regular" panose="020B0600000101010101" charset="-127"/>
                <a:ea typeface="Pretendard Regular" panose="020B0600000101010101" charset="-127"/>
              </a:rPr>
              <a:t>신속하고 정확한 처리가 </a:t>
            </a:r>
            <a:r>
              <a:rPr lang="ko-KR" altLang="en-US" b="1" dirty="0">
                <a:latin typeface="Pretendard Regular" panose="020B0600000101010101" charset="-127"/>
                <a:ea typeface="Pretendard Regular" panose="020B0600000101010101" charset="-127"/>
              </a:rPr>
              <a:t>가능</a:t>
            </a:r>
            <a:r>
              <a:rPr lang="ko-KR" altLang="en-US" dirty="0">
                <a:latin typeface="Pretendard Regular" panose="020B0600000101010101" charset="-127"/>
                <a:ea typeface="Pretendard Regular" panose="020B0600000101010101" charset="-127"/>
              </a:rPr>
              <a:t>합니다</a:t>
            </a:r>
            <a:r>
              <a:rPr lang="en-US" altLang="ko-KR" dirty="0">
                <a:latin typeface="Pretendard Regular" panose="020B0600000101010101" charset="-127"/>
                <a:ea typeface="Pretendard Regular" panose="020B0600000101010101" charset="-127"/>
              </a:rPr>
              <a:t>.</a:t>
            </a:r>
            <a:r>
              <a:rPr lang="ko-KR" altLang="en-US" sz="1800" b="0" i="0" u="none" strike="noStrike" dirty="0"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endParaRPr lang="en-US" sz="1800" b="0" i="0" u="none" strike="noStrike" dirty="0"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9000" y="7124700"/>
            <a:ext cx="1092200" cy="38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6565900"/>
            <a:ext cx="241300" cy="2413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9000" y="8763000"/>
            <a:ext cx="10922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8204200"/>
            <a:ext cx="241300" cy="241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676400" y="8039100"/>
            <a:ext cx="62230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000" dirty="0">
                <a:solidFill>
                  <a:srgbClr val="323232"/>
                </a:solidFill>
                <a:ea typeface="Pretendard Bold"/>
              </a:rPr>
              <a:t>하면서 느낀 점 </a:t>
            </a:r>
            <a:r>
              <a:rPr lang="en-US" altLang="ko-KR" sz="3000" dirty="0">
                <a:solidFill>
                  <a:srgbClr val="323232"/>
                </a:solidFill>
                <a:ea typeface="Pretendard Bold"/>
              </a:rPr>
              <a:t>?</a:t>
            </a:r>
            <a:endParaRPr lang="ko-KR" sz="3000" b="0" i="0" u="none" strike="noStrike" dirty="0">
              <a:solidFill>
                <a:srgbClr val="323232"/>
              </a:solidFill>
              <a:ea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62100" y="8737581"/>
            <a:ext cx="10225314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테이블을 구성하고 서로 연결함에 있어 논리적으로 고려해야할 부분이 많아 생각하는 시간이 많이 필요했으며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,</a:t>
            </a:r>
          </a:p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이런 분야가 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ai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가 할 수 없는 세부적인 부분이라 생각하게 됨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. </a:t>
            </a:r>
            <a:r>
              <a:rPr lang="ko-KR" altLang="en-US" sz="1800" b="1" i="0" u="none" strike="noStrike" dirty="0">
                <a:solidFill>
                  <a:srgbClr val="382EA1"/>
                </a:solidFill>
                <a:ea typeface="Pretendard Regular"/>
              </a:rPr>
              <a:t>쿼리가 중요하다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는 걸 체감함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.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3B32098-44C1-43F8-90F3-00BF282BACD7}"/>
              </a:ext>
            </a:extLst>
          </p:cNvPr>
          <p:cNvGrpSpPr/>
          <p:nvPr/>
        </p:nvGrpSpPr>
        <p:grpSpPr>
          <a:xfrm>
            <a:off x="16865599" y="9404349"/>
            <a:ext cx="1209675" cy="595993"/>
            <a:chOff x="1371600" y="4558725"/>
            <a:chExt cx="1506069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C80217-7908-4129-8DF3-E85C6CD1C949}"/>
                </a:ext>
              </a:extLst>
            </p:cNvPr>
            <p:cNvSpPr txBox="1"/>
            <p:nvPr/>
          </p:nvSpPr>
          <p:spPr>
            <a:xfrm>
              <a:off x="137160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B3FFC7-E410-4ECC-9801-D6D9646E3E2F}"/>
                </a:ext>
              </a:extLst>
            </p:cNvPr>
            <p:cNvSpPr txBox="1"/>
            <p:nvPr/>
          </p:nvSpPr>
          <p:spPr>
            <a:xfrm>
              <a:off x="182872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7E9353-B870-41DF-96E6-3585D524D611}"/>
                </a:ext>
              </a:extLst>
            </p:cNvPr>
            <p:cNvSpPr txBox="1"/>
            <p:nvPr/>
          </p:nvSpPr>
          <p:spPr>
            <a:xfrm>
              <a:off x="2285840" y="4558725"/>
              <a:ext cx="59182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F797117-7BAF-46FE-995F-8CE97447DDD3}"/>
              </a:ext>
            </a:extLst>
          </p:cNvPr>
          <p:cNvGrpSpPr/>
          <p:nvPr/>
        </p:nvGrpSpPr>
        <p:grpSpPr>
          <a:xfrm>
            <a:off x="1319500" y="793750"/>
            <a:ext cx="1298864" cy="514350"/>
            <a:chOff x="1371600" y="4558725"/>
            <a:chExt cx="1506069" cy="5847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A1CF6D5-73D8-44B7-991F-952921AF1210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63F358-1910-4B09-B91A-A9A1E1EA0628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8FA219-F574-4346-871C-3B5B5830211D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36" name="TextBox 11">
            <a:extLst>
              <a:ext uri="{FF2B5EF4-FFF2-40B4-BE49-F238E27FC236}">
                <a16:creationId xmlns:a16="http://schemas.microsoft.com/office/drawing/2014/main" id="{8876D099-6957-4466-A6C6-3AF5029A7FFC}"/>
              </a:ext>
            </a:extLst>
          </p:cNvPr>
          <p:cNvSpPr txBox="1"/>
          <p:nvPr/>
        </p:nvSpPr>
        <p:spPr>
          <a:xfrm>
            <a:off x="1683657" y="6438895"/>
            <a:ext cx="62230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000" dirty="0">
                <a:solidFill>
                  <a:srgbClr val="323232"/>
                </a:solidFill>
                <a:ea typeface="Pretendard Bold"/>
              </a:rPr>
              <a:t>보완해야 될 점은</a:t>
            </a:r>
            <a:r>
              <a:rPr lang="en-US" altLang="ko-KR" sz="3000" dirty="0">
                <a:solidFill>
                  <a:srgbClr val="323232"/>
                </a:solidFill>
                <a:ea typeface="Pretendard Bold"/>
              </a:rPr>
              <a:t>?</a:t>
            </a:r>
            <a:endParaRPr lang="ko-KR" sz="3000" b="0" i="0" u="none" strike="noStrike" dirty="0">
              <a:solidFill>
                <a:srgbClr val="323232"/>
              </a:solidFill>
              <a:ea typeface="Pretendard Bold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15AFF728-B990-483A-B42D-7EC81887D9FC}"/>
              </a:ext>
            </a:extLst>
          </p:cNvPr>
          <p:cNvSpPr txBox="1"/>
          <p:nvPr/>
        </p:nvSpPr>
        <p:spPr>
          <a:xfrm>
            <a:off x="1683656" y="7084781"/>
            <a:ext cx="9627157" cy="71301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이메일 인증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외에 </a:t>
            </a:r>
            <a:r>
              <a:rPr lang="ko-KR" altLang="en-US" sz="1800" b="1" i="0" u="none" strike="noStrike" dirty="0">
                <a:solidFill>
                  <a:srgbClr val="382EA1"/>
                </a:solidFill>
                <a:ea typeface="Pretendard Regular"/>
              </a:rPr>
              <a:t>다른 방식</a:t>
            </a:r>
            <a:r>
              <a:rPr lang="en-US" altLang="ko-KR" sz="1800" b="1" i="0" u="none" strike="noStrike" dirty="0">
                <a:solidFill>
                  <a:srgbClr val="382EA1"/>
                </a:solidFill>
                <a:ea typeface="Pretendard Regular"/>
              </a:rPr>
              <a:t>(SNS</a:t>
            </a:r>
            <a:r>
              <a:rPr lang="ko-KR" altLang="en-US" sz="1800" b="1" i="0" u="none" strike="noStrike" dirty="0">
                <a:solidFill>
                  <a:srgbClr val="382EA1"/>
                </a:solidFill>
                <a:ea typeface="Pretendard Regular"/>
              </a:rPr>
              <a:t>인증</a:t>
            </a:r>
            <a:r>
              <a:rPr lang="en-US" altLang="ko-KR" sz="1800" b="1" i="0" u="none" strike="noStrike" dirty="0">
                <a:solidFill>
                  <a:srgbClr val="382EA1"/>
                </a:solidFill>
                <a:ea typeface="Pretendard Regular"/>
              </a:rPr>
              <a:t>)</a:t>
            </a:r>
            <a:r>
              <a:rPr lang="ko-KR" altLang="en-US" sz="1800" b="1" i="0" u="none" strike="noStrike" dirty="0">
                <a:solidFill>
                  <a:srgbClr val="382EA1"/>
                </a:solidFill>
                <a:ea typeface="Pretendard Regular"/>
              </a:rPr>
              <a:t>를 통한 인증이 필요하지 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않은가 생각하게 되며</a:t>
            </a:r>
            <a:endParaRPr lang="en-US" altLang="ko-KR" sz="1800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현재는 관련 정보에 대한 조사 부족으로 진료비</a:t>
            </a:r>
            <a:r>
              <a:rPr lang="en-US" altLang="ko-KR" sz="1800" b="0" i="0" u="none" strike="noStrike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ko-KR" altLang="en-US" sz="1800" b="0" i="0" u="none" strike="noStrike" dirty="0">
                <a:solidFill>
                  <a:srgbClr val="323232"/>
                </a:solidFill>
                <a:ea typeface="Pretendard Regular"/>
              </a:rPr>
              <a:t>증명서 쪽 빈 정보가 많아 </a:t>
            </a:r>
            <a:r>
              <a:rPr lang="ko-KR" altLang="en-US" sz="1800" b="0" i="0" u="none" strike="noStrike" dirty="0" err="1">
                <a:solidFill>
                  <a:srgbClr val="323232"/>
                </a:solidFill>
                <a:ea typeface="Pretendard Regular"/>
              </a:rPr>
              <a:t>보완해야겠다고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altLang="en-US" dirty="0">
                <a:solidFill>
                  <a:srgbClr val="323232"/>
                </a:solidFill>
                <a:ea typeface="Pretendard Regular"/>
              </a:rPr>
              <a:t>생각함</a:t>
            </a:r>
            <a:r>
              <a:rPr lang="en-US" altLang="ko-KR" dirty="0">
                <a:solidFill>
                  <a:srgbClr val="323232"/>
                </a:solidFill>
                <a:ea typeface="Pretendard Regular"/>
              </a:rPr>
              <a:t>.</a:t>
            </a:r>
            <a:endParaRPr lang="en-US" sz="1800" b="0" i="0" u="none" strike="noStrike" dirty="0">
              <a:solidFill>
                <a:srgbClr val="323232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-1835150"/>
            <a:ext cx="13373100" cy="133731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5762625" y="4559300"/>
            <a:ext cx="676275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질문해주세요🙋🏻‍♀️🙋🏻‍♂️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Pretendard Medium"/>
              </a:rPr>
              <a:t>8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3D3D977-317E-49F1-A9AE-1BCCA2E1029F}"/>
              </a:ext>
            </a:extLst>
          </p:cNvPr>
          <p:cNvGrpSpPr/>
          <p:nvPr/>
        </p:nvGrpSpPr>
        <p:grpSpPr>
          <a:xfrm>
            <a:off x="8494568" y="4044950"/>
            <a:ext cx="1298864" cy="514350"/>
            <a:chOff x="1371600" y="4558725"/>
            <a:chExt cx="1506069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CFEFC5-7F25-4D4B-9CAE-B060261408F2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CAEB95-D897-4AFF-AE8D-2D736C82D57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2FA6DB-E9F0-416D-AF4E-56C479F0106D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-1835150"/>
            <a:ext cx="13373100" cy="133731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6115050" y="4559300"/>
            <a:ext cx="60579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ko-KR" altLang="en-US" sz="6500" dirty="0">
                <a:solidFill>
                  <a:srgbClr val="323232"/>
                </a:solidFill>
                <a:ea typeface="Pretendard SemiBold"/>
              </a:rPr>
              <a:t>감사합니다 🙇🏻‍♀️🙇🏻‍♂️</a:t>
            </a:r>
            <a:endParaRPr lang="ko-KR" sz="6500" b="0" i="0" u="none" strike="noStrike" dirty="0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60900" y="368300"/>
            <a:ext cx="5461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5449"/>
              </a:lnSpc>
            </a:pPr>
            <a:r>
              <a:rPr lang="en-US" sz="1600" b="0" i="0" u="none" strike="noStrike">
                <a:solidFill>
                  <a:srgbClr val="787878"/>
                </a:solidFill>
                <a:latin typeface="Pretendard Medium"/>
              </a:rPr>
              <a:t>8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3D3D977-317E-49F1-A9AE-1BCCA2E1029F}"/>
              </a:ext>
            </a:extLst>
          </p:cNvPr>
          <p:cNvGrpSpPr/>
          <p:nvPr/>
        </p:nvGrpSpPr>
        <p:grpSpPr>
          <a:xfrm>
            <a:off x="8494568" y="4044950"/>
            <a:ext cx="1298864" cy="514350"/>
            <a:chOff x="1371600" y="4558725"/>
            <a:chExt cx="1506069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CFEFC5-7F25-4D4B-9CAE-B060261408F2}"/>
                </a:ext>
              </a:extLst>
            </p:cNvPr>
            <p:cNvSpPr txBox="1"/>
            <p:nvPr/>
          </p:nvSpPr>
          <p:spPr>
            <a:xfrm>
              <a:off x="137160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825DF6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825DF6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CAEB95-D897-4AFF-AE8D-2D736C82D572}"/>
                </a:ext>
              </a:extLst>
            </p:cNvPr>
            <p:cNvSpPr txBox="1"/>
            <p:nvPr/>
          </p:nvSpPr>
          <p:spPr>
            <a:xfrm>
              <a:off x="1828720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82EA1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82EA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2FA6DB-E9F0-416D-AF4E-56C479F0106D}"/>
                </a:ext>
              </a:extLst>
            </p:cNvPr>
            <p:cNvSpPr txBox="1"/>
            <p:nvPr/>
          </p:nvSpPr>
          <p:spPr>
            <a:xfrm>
              <a:off x="2285839" y="4558725"/>
              <a:ext cx="59183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solidFill>
                    <a:srgbClr val="3FD3D8"/>
                  </a:solidFill>
                  <a:latin typeface="Arial Black" panose="020B0A04020102020204" pitchFamily="34" charset="0"/>
                </a:rPr>
                <a:t>+ </a:t>
              </a:r>
              <a:endParaRPr lang="ko-KR" altLang="en-US" sz="3200" dirty="0">
                <a:solidFill>
                  <a:srgbClr val="3FD3D8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33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845</Words>
  <Application>Microsoft Office PowerPoint</Application>
  <PresentationFormat>사용자 지정</PresentationFormat>
  <Paragraphs>275</Paragraphs>
  <Slides>23</Slides>
  <Notes>3</Notes>
  <HiddenSlides>0</HiddenSlides>
  <MMClips>3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Arial</vt:lpstr>
      <vt:lpstr>Arial Black</vt:lpstr>
      <vt:lpstr>Pretendard Bold</vt:lpstr>
      <vt:lpstr>Pretendard Regular</vt:lpstr>
      <vt:lpstr>Baskerville Old Face</vt:lpstr>
      <vt:lpstr>Pretendard Medium</vt:lpstr>
      <vt:lpstr>Calibri</vt:lpstr>
      <vt:lpstr>Pretendard SemiBold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GRS</dc:creator>
  <cp:lastModifiedBy>GRS</cp:lastModifiedBy>
  <cp:revision>18</cp:revision>
  <dcterms:created xsi:type="dcterms:W3CDTF">2006-08-16T00:00:00Z</dcterms:created>
  <dcterms:modified xsi:type="dcterms:W3CDTF">2024-09-06T02:22:09Z</dcterms:modified>
</cp:coreProperties>
</file>