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8288000" cy="10287000"/>
  <p:notesSz cx="6858000" cy="9144000"/>
  <p:embeddedFontLst>
    <p:embeddedFont>
      <p:font typeface="210 밀레니얼" panose="020B0600000101010101" charset="-127"/>
      <p:regular r:id="rId18"/>
    </p:embeddedFont>
    <p:embeddedFont>
      <p:font typeface="Archivo Black" panose="020B0600000101010101" charset="0"/>
      <p:regular r:id="rId19"/>
    </p:embeddedFont>
    <p:embeddedFont>
      <p:font typeface="Calibri" panose="020F0502020204030204" pitchFamily="34" charset="0"/>
      <p:regular r:id="rId20"/>
      <p:bold r:id="rId21"/>
      <p:italic r:id="rId22"/>
      <p:boldItalic r:id="rId23"/>
    </p:embeddedFont>
    <p:embeddedFont>
      <p:font typeface="Montserrat Classic Bold" panose="020B0600000101010101" charset="0"/>
      <p:regular r:id="rId24"/>
    </p:embeddedFont>
    <p:embeddedFont>
      <p:font typeface="Montserrat Light" panose="00000400000000000000" pitchFamily="2" charset="0"/>
      <p:regular r:id="rId25"/>
      <p:italic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2" d="100"/>
          <a:sy n="72" d="100"/>
        </p:scale>
        <p:origin x="654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14.05.2024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3차 프로젝트 </a:t>
            </a:r>
          </a:p>
          <a:p>
            <a:r>
              <a:rPr lang="en-US"/>
              <a:t>1. review (변경된 내용)</a:t>
            </a:r>
          </a:p>
          <a:p>
            <a:r>
              <a:rPr lang="en-US"/>
              <a:t>2. 3차 프로젝트의 목표, 개요</a:t>
            </a:r>
          </a:p>
          <a:p>
            <a:r>
              <a:rPr lang="en-US"/>
              <a:t>3.역할 분담 </a:t>
            </a:r>
          </a:p>
          <a:p>
            <a:r>
              <a:rPr lang="en-US"/>
              <a:t>4. 테이블 설계</a:t>
            </a:r>
          </a:p>
          <a:p>
            <a:r>
              <a:rPr lang="en-US"/>
              <a:t>5. 결과 설명</a:t>
            </a:r>
          </a:p>
          <a:p>
            <a:r>
              <a:rPr lang="en-US"/>
              <a:t>6. 느낀점 및 개선사항</a:t>
            </a:r>
          </a:p>
          <a:p>
            <a:r>
              <a:rPr lang="en-US"/>
              <a:t>7. 프로젝트 시연</a:t>
            </a:r>
          </a:p>
          <a:p>
            <a:endParaRPr lang="en-US"/>
          </a:p>
          <a:p>
            <a:r>
              <a:rPr lang="en-US"/>
              <a:t>한국마사회 실내 센서 데이터 </a:t>
            </a:r>
          </a:p>
          <a:p>
            <a:r>
              <a:rPr lang="en-US"/>
              <a:t>3차 프로젝트 발표를 진행을 맡게된 주진솔이라고 합니다</a:t>
            </a:r>
          </a:p>
          <a:p>
            <a:endParaRPr lang="en-US"/>
          </a:p>
          <a:p>
            <a:r>
              <a:rPr lang="en-US"/>
              <a:t>저희 야생마팀에서는 한국마사회 화재발생여부에 대하여 데이터 조사를 하였는데요</a:t>
            </a:r>
          </a:p>
          <a:p>
            <a:r>
              <a:rPr lang="en-US"/>
              <a:t>1차와 2차 프로젝트에 이어</a:t>
            </a:r>
          </a:p>
          <a:p>
            <a:r>
              <a:rPr lang="en-US"/>
              <a:t>대망의 3차 최종 프로젝트를 발표하게 되었습니다 </a:t>
            </a:r>
          </a:p>
          <a:p>
            <a:r>
              <a:rPr lang="en-US"/>
              <a:t>이번 3차에서는 저희가 조사한 1,2차 프로젝트에 조사한 데이터들의 결과물을 페이지로 보여드리겠습니다</a:t>
            </a:r>
          </a:p>
          <a:p>
            <a:endParaRPr lang="en-US"/>
          </a:p>
          <a:p>
            <a:r>
              <a:rPr lang="en-US"/>
              <a:t>먼저 저희 프로젝트 목차에 대해 보여드리겠습니다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첫 번째로 3차 프로젝트 설명 전에 간단하게 1차 2차프로젝트에 대해 설명하고 넘어가겠습니다</a:t>
            </a:r>
          </a:p>
          <a:p>
            <a:endParaRPr lang="en-US"/>
          </a:p>
          <a:p>
            <a:r>
              <a:rPr lang="en-US"/>
              <a:t>그리고 이번 3차프로젝트의 목표 및 개요에 대해 설명 드리겠습니다</a:t>
            </a:r>
          </a:p>
          <a:p>
            <a:endParaRPr lang="en-US"/>
          </a:p>
          <a:p>
            <a:r>
              <a:rPr lang="en-US"/>
              <a:t>다음으로 저희 팀원들이 각자 어떤 역할을 나눠서 하였는지도 살펴보겠습니다</a:t>
            </a:r>
          </a:p>
          <a:p>
            <a:endParaRPr lang="en-US"/>
          </a:p>
          <a:p>
            <a:r>
              <a:rPr lang="en-US"/>
              <a:t>그리고 저희가 만든 테이블설계와 프로젝트결과, 그리고</a:t>
            </a:r>
          </a:p>
          <a:p>
            <a:r>
              <a:rPr lang="en-US"/>
              <a:t>느낀점 및 개선사항을 설명드리겠습니다</a:t>
            </a:r>
          </a:p>
          <a:p>
            <a:endParaRPr lang="en-US"/>
          </a:p>
          <a:p>
            <a:r>
              <a:rPr lang="en-US"/>
              <a:t>마지막으로 저희가 제작한 3차 프로젝트를 하나하나 보여드리는 시간 갖도록 하겠습니다.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3차 프로젝트 </a:t>
            </a:r>
          </a:p>
          <a:p>
            <a:r>
              <a:rPr lang="en-US"/>
              <a:t>1. review (변경된 내용)</a:t>
            </a:r>
          </a:p>
          <a:p>
            <a:r>
              <a:rPr lang="en-US"/>
              <a:t>2. 3차 프로젝트의 목표, 개요</a:t>
            </a:r>
          </a:p>
          <a:p>
            <a:r>
              <a:rPr lang="en-US"/>
              <a:t>- 개발환경 소개(TOOL)</a:t>
            </a:r>
          </a:p>
          <a:p>
            <a:r>
              <a:rPr lang="en-US"/>
              <a:t>- </a:t>
            </a:r>
          </a:p>
          <a:p>
            <a:endParaRPr lang="en-US"/>
          </a:p>
          <a:p>
            <a:r>
              <a:rPr lang="en-US"/>
              <a:t>3.역할 분담 </a:t>
            </a:r>
          </a:p>
          <a:p>
            <a:r>
              <a:rPr lang="en-US"/>
              <a:t>4. 테이블 설계</a:t>
            </a:r>
          </a:p>
          <a:p>
            <a:r>
              <a:rPr lang="en-US"/>
              <a:t>- 연관되는 테이블 없으면 연결 고리 넣지 않아도 됨</a:t>
            </a:r>
          </a:p>
          <a:p>
            <a:r>
              <a:rPr lang="en-US"/>
              <a:t>어떤 테이블에 어떤 내용있는 걸 보여주기 </a:t>
            </a:r>
          </a:p>
          <a:p>
            <a:endParaRPr lang="en-US"/>
          </a:p>
          <a:p>
            <a:r>
              <a:rPr lang="en-US"/>
              <a:t>5. 결과 설명</a:t>
            </a:r>
          </a:p>
          <a:p>
            <a:r>
              <a:rPr lang="en-US"/>
              <a:t>- 메인 페이지 상세 페이지 등등 </a:t>
            </a:r>
          </a:p>
          <a:p>
            <a:r>
              <a:rPr lang="en-US"/>
              <a:t>캡쳐본 넣어주기</a:t>
            </a:r>
          </a:p>
          <a:p>
            <a:endParaRPr lang="en-US"/>
          </a:p>
          <a:p>
            <a:r>
              <a:rPr lang="en-US"/>
              <a:t>6. 느낀점 및 개선사항</a:t>
            </a:r>
          </a:p>
          <a:p>
            <a:r>
              <a:rPr lang="en-US"/>
              <a:t>- </a:t>
            </a:r>
          </a:p>
          <a:p>
            <a:r>
              <a:rPr lang="en-US"/>
              <a:t>7. 프로젝트 시연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저희는 지난 1차와 2차 프로젝트에서 공공데이터포탈 사이트를 이용하여 마사회 실내센서데이터들을 수집해 왔습니다. 그래서 그 수집한 데이터들을 파이썬프로그램을 활용하여 데이터들을 가공하였고 3차 프로젝트에 활용하기 위하여 데이터베이스에 데이터들을 저장하였습니다.</a:t>
            </a:r>
          </a:p>
          <a:p>
            <a:endParaRPr lang="en-US"/>
          </a:p>
          <a:p>
            <a:r>
              <a:rPr lang="en-US"/>
              <a:t>지난 프로젝트에서는 저희가 12월~2월의 짧은 데이터들로 가공하였습니다.</a:t>
            </a:r>
          </a:p>
          <a:p>
            <a:r>
              <a:rPr lang="en-US"/>
              <a:t>하지만 3차를 진행함에 있어서 이 실효습도와 불쾌지수 데이터들을 더 수집하기 위하여</a:t>
            </a:r>
          </a:p>
          <a:p>
            <a:r>
              <a:rPr lang="en-US"/>
              <a:t>2021년8월~2022년2월로 데이터를 대폭 늘려서 수집하고 가공 하여 이번 프로젝트를 진행하게 되었습니다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저희는 지난 1차와 2차 프로젝트에서 공공데이터포탈 사이트를 이용하여 마사회 실내센서데이터들을 수집해 왔습니다. 그래서 그 수집한 데이터들을 파이썬프로그램을 활용하여 데이터들을 가공하였고 3차 프로젝트에 활용하기 위하여 데이터베이스에 데이터들을 저장하였습니다.</a:t>
            </a:r>
          </a:p>
          <a:p>
            <a:endParaRPr lang="en-US"/>
          </a:p>
          <a:p>
            <a:r>
              <a:rPr lang="en-US"/>
              <a:t>지난 프로젝트에서는 저희가 12월~2월의 짧은 데이터들로 가공하였습니다.</a:t>
            </a:r>
          </a:p>
          <a:p>
            <a:r>
              <a:rPr lang="en-US"/>
              <a:t>하지만 3차를 진행함에 있어서 이 실효습도와 불쾌지수 데이터들을 더 수집하기 위하여</a:t>
            </a:r>
          </a:p>
          <a:p>
            <a:r>
              <a:rPr lang="en-US"/>
              <a:t>2021년8월~2022년2월로 데이터를 대폭 늘려서 수집하고 가공 하여 이번 프로젝트를 진행하게 되었습니다</a:t>
            </a:r>
          </a:p>
          <a:p>
            <a:r>
              <a:rPr lang="en-US"/>
              <a:t>----------------------------</a:t>
            </a:r>
          </a:p>
          <a:p>
            <a:endParaRPr lang="en-US"/>
          </a:p>
          <a:p>
            <a:r>
              <a:rPr lang="en-US"/>
              <a:t> 프로젝트의 최종 목표 </a:t>
            </a:r>
          </a:p>
          <a:p>
            <a:r>
              <a:rPr lang="en-US"/>
              <a:t>이 사이트로 보여주고 싶은 게 뭐냐면~~~</a:t>
            </a:r>
          </a:p>
          <a:p>
            <a:endParaRPr lang="en-US"/>
          </a:p>
          <a:p>
            <a:r>
              <a:rPr lang="en-US"/>
              <a:t>1. 쾌적한 실내 환경 유지</a:t>
            </a:r>
          </a:p>
          <a:p>
            <a:endParaRPr lang="en-US"/>
          </a:p>
          <a:p>
            <a:r>
              <a:rPr lang="en-US"/>
              <a:t>2.기계장치의 과열을 방지</a:t>
            </a:r>
          </a:p>
          <a:p>
            <a:endParaRPr lang="en-US"/>
          </a:p>
          <a:p>
            <a:r>
              <a:rPr lang="en-US"/>
              <a:t>3. 화재 위험성 여부 체크 및 예방</a:t>
            </a:r>
          </a:p>
          <a:p>
            <a:endParaRPr lang="en-US"/>
          </a:p>
          <a:p>
            <a:r>
              <a:rPr lang="en-US"/>
              <a:t>4. 불쾌지수를 활용한 말들의 컨디션 관리</a:t>
            </a:r>
          </a:p>
          <a:p>
            <a:endParaRPr lang="en-US"/>
          </a:p>
          <a:p>
            <a:endParaRPr lang="en-US"/>
          </a:p>
          <a:p>
            <a:r>
              <a:rPr lang="en-US"/>
              <a:t>저희 프로젝트에서는 </a:t>
            </a:r>
          </a:p>
          <a:p>
            <a:r>
              <a:rPr lang="en-US"/>
              <a:t>한국 마사회 실내센서 데이터를 활용한 실내환경 개선 및 안전관리 시스템 구축이라는 주제를 가지고 프로젝트를 수행하였습니다. </a:t>
            </a:r>
          </a:p>
          <a:p>
            <a:endParaRPr lang="en-US"/>
          </a:p>
          <a:p>
            <a:r>
              <a:rPr lang="en-US"/>
              <a:t>이런 정보를 보여주기 위한 웹 페이지 구현을 해보았습니다. </a:t>
            </a:r>
          </a:p>
          <a:p>
            <a:endParaRPr lang="en-US"/>
          </a:p>
          <a:p>
            <a:endParaRPr lang="en-US"/>
          </a:p>
          <a:p>
            <a:r>
              <a:rPr lang="en-US"/>
              <a:t>------------------------</a:t>
            </a:r>
          </a:p>
          <a:p>
            <a:r>
              <a:rPr lang="en-US"/>
              <a:t>3차 프로젝트 주제 및 목표에 대한 설명입니다. </a:t>
            </a:r>
          </a:p>
          <a:p>
            <a:endParaRPr lang="en-US"/>
          </a:p>
          <a:p>
            <a:r>
              <a:rPr lang="en-US"/>
              <a:t>3차 프로젝트에서는 실내환경 개선과 안전관리 시스템 구축을 위해 각 세부 목표에 필요한 데이터를 시각화하여 웹 페이지를 제작하였습니다. </a:t>
            </a:r>
          </a:p>
          <a:p>
            <a:endParaRPr lang="en-US"/>
          </a:p>
          <a:p>
            <a:r>
              <a:rPr lang="en-US"/>
              <a:t>실내공기질 향상, 말들의 컨디션 관리, 화재 예방 등 다양한 측면에서 실내환경 개선과 안전성 제고를 위한 노력을 기울였습니다. </a:t>
            </a:r>
          </a:p>
          <a:p>
            <a:endParaRPr lang="en-US"/>
          </a:p>
          <a:p>
            <a:r>
              <a:rPr lang="en-US"/>
              <a:t>수집된 데이터를 효과적으로 시각화하여 웹페이지를 구현함으로써 사용자들이 보다 직관적으로 정보를 파악할 수 있도록 하였습니다. 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지난 프로젝트에서는 파이썬과 마리아디비 정도만 저희가 사용하였습니다</a:t>
            </a:r>
          </a:p>
          <a:p>
            <a:endParaRPr lang="en-US"/>
          </a:p>
          <a:p>
            <a:r>
              <a:rPr lang="en-US"/>
              <a:t>하지만 이번 프로젝트에서는 수집 가공한 데이터들을 웹페이지로 보여드리기 위하여</a:t>
            </a:r>
          </a:p>
          <a:p>
            <a:r>
              <a:rPr lang="en-US"/>
              <a:t>자바 html, 자바스크립트, css 등을 이용하여 웹페이지를 구현하게 되었습니다.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다음으로 팀구성 및 역할을 살펴보겠습니다.</a:t>
            </a:r>
          </a:p>
          <a:p>
            <a:endParaRPr lang="en-US"/>
          </a:p>
          <a:p>
            <a:r>
              <a:rPr lang="en-US"/>
              <a:t>저희 팀장님이신 곽전규님께서는 메인페이지 데이터가공과 실효습도 페이지의 데이터 가공과 디자인을 맡으셨구요</a:t>
            </a:r>
          </a:p>
          <a:p>
            <a:endParaRPr lang="en-US"/>
          </a:p>
          <a:p>
            <a:r>
              <a:rPr lang="en-US"/>
              <a:t>저는 불쾌지수 페이지의 디자인과 데이터를 맡게 되었습니다</a:t>
            </a:r>
          </a:p>
          <a:p>
            <a:endParaRPr lang="en-US"/>
          </a:p>
          <a:p>
            <a:r>
              <a:rPr lang="en-US"/>
              <a:t>그리고 최혜빈님은 전규님과 같이 메인페이지 데이터 가공과 함께 디자인을 맡으셨고 이번</a:t>
            </a:r>
          </a:p>
          <a:p>
            <a:r>
              <a:rPr lang="en-US"/>
              <a:t>PPT를 제작하게 되셨습니다.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이번 저희가 데이터를 가공하며 만든 테이블은 총 4가지입니다</a:t>
            </a:r>
          </a:p>
          <a:p>
            <a:endParaRPr lang="en-US"/>
          </a:p>
          <a:p>
            <a:r>
              <a:rPr lang="en-US"/>
              <a:t>여기 보시면 실효습도테이블이구요 </a:t>
            </a:r>
          </a:p>
          <a:p>
            <a:r>
              <a:rPr lang="en-US"/>
              <a:t>최저,최고기온테이블입니다 </a:t>
            </a:r>
          </a:p>
          <a:p>
            <a:r>
              <a:rPr lang="en-US"/>
              <a:t>이건 온습도 평균테이블 이구</a:t>
            </a:r>
          </a:p>
          <a:p>
            <a:r>
              <a:rPr lang="en-US"/>
              <a:t>마지막으로 불쾌지수 테이블입니다.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dirty="0" err="1"/>
              <a:t>여기</a:t>
            </a:r>
            <a:r>
              <a:rPr lang="en-US" dirty="0"/>
              <a:t> </a:t>
            </a:r>
            <a:r>
              <a:rPr lang="en-US" dirty="0" err="1"/>
              <a:t>보이시는</a:t>
            </a:r>
            <a:r>
              <a:rPr lang="en-US" dirty="0"/>
              <a:t> 이 </a:t>
            </a:r>
            <a:r>
              <a:rPr lang="en-US" dirty="0" err="1"/>
              <a:t>페이지는</a:t>
            </a:r>
            <a:r>
              <a:rPr lang="en-US" dirty="0"/>
              <a:t> </a:t>
            </a:r>
            <a:r>
              <a:rPr lang="en-US" dirty="0" err="1"/>
              <a:t>저희의</a:t>
            </a:r>
            <a:r>
              <a:rPr lang="en-US" dirty="0"/>
              <a:t> </a:t>
            </a:r>
            <a:r>
              <a:rPr lang="en-US" dirty="0" err="1"/>
              <a:t>메인페이지입니다</a:t>
            </a:r>
            <a:r>
              <a:rPr lang="en-US" dirty="0"/>
              <a:t> </a:t>
            </a:r>
            <a:r>
              <a:rPr lang="en-US" dirty="0" err="1"/>
              <a:t>저희가</a:t>
            </a:r>
            <a:r>
              <a:rPr lang="en-US" dirty="0"/>
              <a:t> </a:t>
            </a:r>
            <a:r>
              <a:rPr lang="en-US" dirty="0" err="1"/>
              <a:t>구한</a:t>
            </a:r>
            <a:r>
              <a:rPr lang="en-US" dirty="0"/>
              <a:t> </a:t>
            </a:r>
            <a:r>
              <a:rPr lang="en-US" dirty="0" err="1"/>
              <a:t>종합데이터를</a:t>
            </a:r>
            <a:r>
              <a:rPr lang="en-US" dirty="0"/>
              <a:t> </a:t>
            </a:r>
            <a:r>
              <a:rPr lang="en-US" dirty="0" err="1"/>
              <a:t>구현해놓은곳입니다</a:t>
            </a:r>
            <a:endParaRPr lang="en-US" dirty="0"/>
          </a:p>
          <a:p>
            <a:r>
              <a:rPr lang="en-US" dirty="0" err="1"/>
              <a:t>위의</a:t>
            </a:r>
            <a:r>
              <a:rPr lang="en-US" dirty="0"/>
              <a:t> </a:t>
            </a:r>
            <a:r>
              <a:rPr lang="en-US" dirty="0" err="1"/>
              <a:t>셀렉트</a:t>
            </a:r>
            <a:r>
              <a:rPr lang="en-US" dirty="0"/>
              <a:t> </a:t>
            </a:r>
            <a:r>
              <a:rPr lang="en-US" dirty="0" err="1"/>
              <a:t>박스에서</a:t>
            </a:r>
            <a:r>
              <a:rPr lang="en-US" dirty="0"/>
              <a:t> </a:t>
            </a:r>
            <a:r>
              <a:rPr lang="en-US" dirty="0" err="1"/>
              <a:t>날짜를</a:t>
            </a:r>
            <a:r>
              <a:rPr lang="en-US" dirty="0"/>
              <a:t> </a:t>
            </a:r>
            <a:r>
              <a:rPr lang="en-US" dirty="0" err="1"/>
              <a:t>바꾸면</a:t>
            </a:r>
            <a:r>
              <a:rPr lang="en-US" dirty="0"/>
              <a:t> </a:t>
            </a:r>
            <a:r>
              <a:rPr lang="en-US" dirty="0" err="1"/>
              <a:t>바뀐날의</a:t>
            </a:r>
            <a:r>
              <a:rPr lang="en-US" dirty="0"/>
              <a:t> </a:t>
            </a:r>
            <a:r>
              <a:rPr lang="en-US" dirty="0" err="1"/>
              <a:t>데이터를</a:t>
            </a:r>
            <a:r>
              <a:rPr lang="en-US" dirty="0"/>
              <a:t> 볼 수 </a:t>
            </a:r>
            <a:r>
              <a:rPr lang="en-US" dirty="0" err="1"/>
              <a:t>있도록</a:t>
            </a:r>
            <a:r>
              <a:rPr lang="en-US" dirty="0"/>
              <a:t> </a:t>
            </a:r>
            <a:r>
              <a:rPr lang="en-US" dirty="0" err="1"/>
              <a:t>해놓았습니다</a:t>
            </a:r>
            <a:endParaRPr lang="en-US" dirty="0"/>
          </a:p>
          <a:p>
            <a:r>
              <a:rPr lang="en-US" dirty="0" err="1"/>
              <a:t>데이터는</a:t>
            </a:r>
            <a:endParaRPr lang="en-US" dirty="0"/>
          </a:p>
          <a:p>
            <a:r>
              <a:rPr lang="en-US" dirty="0" err="1"/>
              <a:t>일일</a:t>
            </a:r>
            <a:r>
              <a:rPr lang="en-US" dirty="0"/>
              <a:t> </a:t>
            </a:r>
            <a:r>
              <a:rPr lang="en-US" dirty="0" err="1"/>
              <a:t>평균온습도</a:t>
            </a:r>
            <a:r>
              <a:rPr lang="en-US" dirty="0"/>
              <a:t> </a:t>
            </a:r>
            <a:r>
              <a:rPr lang="en-US" dirty="0" err="1"/>
              <a:t>데이터</a:t>
            </a:r>
            <a:r>
              <a:rPr lang="en-US" dirty="0"/>
              <a:t> </a:t>
            </a:r>
            <a:r>
              <a:rPr lang="en-US" dirty="0" err="1"/>
              <a:t>불쾌지수</a:t>
            </a:r>
            <a:r>
              <a:rPr lang="en-US" dirty="0"/>
              <a:t> </a:t>
            </a:r>
            <a:r>
              <a:rPr lang="en-US" dirty="0" err="1"/>
              <a:t>데이터</a:t>
            </a:r>
            <a:r>
              <a:rPr lang="en-US" dirty="0"/>
              <a:t> </a:t>
            </a:r>
            <a:r>
              <a:rPr lang="en-US" dirty="0" err="1"/>
              <a:t>실효습도데이터</a:t>
            </a:r>
            <a:r>
              <a:rPr lang="en-US" dirty="0"/>
              <a:t> </a:t>
            </a:r>
            <a:r>
              <a:rPr lang="en-US" dirty="0" err="1"/>
              <a:t>최고최저기온</a:t>
            </a:r>
            <a:r>
              <a:rPr lang="en-US" dirty="0"/>
              <a:t> </a:t>
            </a:r>
            <a:r>
              <a:rPr lang="en-US" dirty="0" err="1"/>
              <a:t>데이터를</a:t>
            </a:r>
            <a:r>
              <a:rPr lang="en-US" dirty="0"/>
              <a:t> </a:t>
            </a:r>
            <a:r>
              <a:rPr lang="en-US" dirty="0" err="1"/>
              <a:t>구하였습니다</a:t>
            </a:r>
            <a:endParaRPr lang="en-US" dirty="0"/>
          </a:p>
          <a:p>
            <a:endParaRPr lang="en-US" dirty="0"/>
          </a:p>
          <a:p>
            <a:r>
              <a:rPr lang="en-US" dirty="0" err="1"/>
              <a:t>아래에는</a:t>
            </a:r>
            <a:r>
              <a:rPr lang="en-US" dirty="0"/>
              <a:t> </a:t>
            </a:r>
            <a:r>
              <a:rPr lang="en-US" dirty="0" err="1"/>
              <a:t>위의</a:t>
            </a:r>
            <a:r>
              <a:rPr lang="en-US" dirty="0"/>
              <a:t> </a:t>
            </a:r>
            <a:r>
              <a:rPr lang="en-US" dirty="0" err="1"/>
              <a:t>온도와</a:t>
            </a:r>
            <a:r>
              <a:rPr lang="en-US" dirty="0"/>
              <a:t> </a:t>
            </a:r>
            <a:r>
              <a:rPr lang="en-US" dirty="0" err="1"/>
              <a:t>습도</a:t>
            </a:r>
            <a:r>
              <a:rPr lang="en-US" dirty="0"/>
              <a:t>, </a:t>
            </a:r>
            <a:r>
              <a:rPr lang="en-US" dirty="0" err="1"/>
              <a:t>그리고</a:t>
            </a:r>
            <a:r>
              <a:rPr lang="en-US" dirty="0"/>
              <a:t> </a:t>
            </a:r>
            <a:r>
              <a:rPr lang="en-US" dirty="0" err="1"/>
              <a:t>불쾌지수의</a:t>
            </a:r>
            <a:r>
              <a:rPr lang="en-US" dirty="0"/>
              <a:t> </a:t>
            </a:r>
            <a:r>
              <a:rPr lang="en-US" dirty="0" err="1"/>
              <a:t>하루치를</a:t>
            </a:r>
            <a:r>
              <a:rPr lang="en-US" dirty="0"/>
              <a:t> </a:t>
            </a:r>
            <a:r>
              <a:rPr lang="en-US" dirty="0" err="1"/>
              <a:t>시간별로</a:t>
            </a:r>
            <a:r>
              <a:rPr lang="en-US" dirty="0"/>
              <a:t> </a:t>
            </a:r>
            <a:r>
              <a:rPr lang="en-US" dirty="0" err="1"/>
              <a:t>나누어</a:t>
            </a:r>
            <a:r>
              <a:rPr lang="en-US" dirty="0"/>
              <a:t> </a:t>
            </a:r>
            <a:r>
              <a:rPr lang="en-US" dirty="0" err="1"/>
              <a:t>차트로</a:t>
            </a:r>
            <a:r>
              <a:rPr lang="en-US" dirty="0"/>
              <a:t> </a:t>
            </a:r>
            <a:r>
              <a:rPr lang="en-US" dirty="0" err="1"/>
              <a:t>나타내었습니다</a:t>
            </a:r>
            <a:endParaRPr lang="en-US" dirty="0"/>
          </a:p>
          <a:p>
            <a:r>
              <a:rPr lang="en-US" dirty="0" err="1"/>
              <a:t>보시는</a:t>
            </a:r>
            <a:r>
              <a:rPr lang="en-US" dirty="0"/>
              <a:t> </a:t>
            </a:r>
            <a:r>
              <a:rPr lang="en-US" dirty="0" err="1"/>
              <a:t>대로</a:t>
            </a:r>
            <a:r>
              <a:rPr lang="en-US" dirty="0"/>
              <a:t> </a:t>
            </a:r>
            <a:r>
              <a:rPr lang="en-US" dirty="0" err="1"/>
              <a:t>시간별</a:t>
            </a:r>
            <a:r>
              <a:rPr lang="en-US" dirty="0"/>
              <a:t> </a:t>
            </a:r>
            <a:r>
              <a:rPr lang="en-US" dirty="0" err="1"/>
              <a:t>온도</a:t>
            </a:r>
            <a:r>
              <a:rPr lang="en-US" dirty="0"/>
              <a:t> </a:t>
            </a:r>
            <a:r>
              <a:rPr lang="en-US" dirty="0" err="1"/>
              <a:t>데이터이구</a:t>
            </a:r>
            <a:r>
              <a:rPr lang="en-US" dirty="0"/>
              <a:t>, </a:t>
            </a:r>
            <a:r>
              <a:rPr lang="en-US" dirty="0" err="1"/>
              <a:t>옆은</a:t>
            </a:r>
            <a:r>
              <a:rPr lang="en-US" dirty="0"/>
              <a:t> </a:t>
            </a:r>
            <a:r>
              <a:rPr lang="en-US" dirty="0" err="1"/>
              <a:t>습도</a:t>
            </a:r>
            <a:r>
              <a:rPr lang="en-US" dirty="0"/>
              <a:t> </a:t>
            </a:r>
            <a:r>
              <a:rPr lang="en-US" dirty="0" err="1"/>
              <a:t>데이터입니다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그리고 시간별 불쾌지수 데이터입니다 </a:t>
            </a:r>
          </a:p>
          <a:p>
            <a:r>
              <a:rPr lang="en-US"/>
              <a:t>옆에 보이시는건</a:t>
            </a:r>
          </a:p>
          <a:p>
            <a:r>
              <a:rPr lang="en-US"/>
              <a:t>새벽 오전 오후 야간으로 나누어 온습도 불쾌지수, 그리고 실효습도와 화재위험성까지 한번에 수치로 볼 수 있게 표로 나타내었습니다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두 번째 페이지에서는 메인에서는 일별로 보여주던 데이터를 월로 묶어서 나타내게 되었습니다.</a:t>
            </a:r>
          </a:p>
          <a:p>
            <a:r>
              <a:rPr lang="en-US"/>
              <a:t>여기 보시는 차트는 월평균 온습도 불쾌지수를 차트로 나타낸것이구 옆에는 월중 온습도 불쾌지수가 가장높은, 가장 낮은날의 수치와 평균수치를 한번에 볼 수 있게 나타내주었습니다</a:t>
            </a:r>
          </a:p>
          <a:p>
            <a:r>
              <a:rPr lang="en-US"/>
              <a:t>마찬가지로 셀렉트 박스로 월을 바꾸면 그 달의 데이터를 볼 수 있게 하였습니다.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불쾌지수 페이지의 아래쪽에는 온습도 불쾌지수의 데이터를 비교하여 볼 수 있는 차트를 나타내었고 마찬가지로 셀렉트 박스로 월을 바꿀 때 마다 차트와 함께 아래 나타낸 온습도 불쾌지수의 최고 최저 평균 데이터의 수치가 변경 되어 한눈에 비교하여 볼 수 있도록 하였습니다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5/14/2024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5/14/2024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jpe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jpe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jpeg"/><Relationship Id="rId3" Type="http://schemas.openxmlformats.org/officeDocument/2006/relationships/image" Target="../media/image34.jpeg"/><Relationship Id="rId7" Type="http://schemas.openxmlformats.org/officeDocument/2006/relationships/image" Target="../media/image37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jpeg"/><Relationship Id="rId5" Type="http://schemas.openxmlformats.org/officeDocument/2006/relationships/image" Target="../media/image35.jpeg"/><Relationship Id="rId4" Type="http://schemas.openxmlformats.org/officeDocument/2006/relationships/image" Target="../media/image19.jpeg"/><Relationship Id="rId9" Type="http://schemas.openxmlformats.org/officeDocument/2006/relationships/image" Target="../media/image3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9222" b="-9222"/>
            </a:stretch>
          </a:blipFill>
        </p:spPr>
      </p:sp>
      <p:sp>
        <p:nvSpPr>
          <p:cNvPr id="3" name="Freeform 3"/>
          <p:cNvSpPr/>
          <p:nvPr/>
        </p:nvSpPr>
        <p:spPr>
          <a:xfrm rot="-4521330">
            <a:off x="4940565" y="4414833"/>
            <a:ext cx="14167639" cy="7119239"/>
          </a:xfrm>
          <a:custGeom>
            <a:avLst/>
            <a:gdLst/>
            <a:ahLst/>
            <a:cxnLst/>
            <a:rect l="l" t="t" r="r" b="b"/>
            <a:pathLst>
              <a:path w="14167639" h="7119239">
                <a:moveTo>
                  <a:pt x="0" y="0"/>
                </a:moveTo>
                <a:lnTo>
                  <a:pt x="14167639" y="0"/>
                </a:lnTo>
                <a:lnTo>
                  <a:pt x="14167639" y="7119239"/>
                </a:lnTo>
                <a:lnTo>
                  <a:pt x="0" y="71192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9589607" y="3018193"/>
            <a:ext cx="8698393" cy="10400373"/>
            <a:chOff x="0" y="0"/>
            <a:chExt cx="8603361" cy="10286746"/>
          </a:xfrm>
        </p:grpSpPr>
        <p:sp>
          <p:nvSpPr>
            <p:cNvPr id="5" name="Freeform 5"/>
            <p:cNvSpPr/>
            <p:nvPr/>
          </p:nvSpPr>
          <p:spPr>
            <a:xfrm>
              <a:off x="-2794" y="-127"/>
              <a:ext cx="8606155" cy="10286873"/>
            </a:xfrm>
            <a:custGeom>
              <a:avLst/>
              <a:gdLst/>
              <a:ahLst/>
              <a:cxnLst/>
              <a:rect l="l" t="t" r="r" b="b"/>
              <a:pathLst>
                <a:path w="8606155" h="10286873">
                  <a:moveTo>
                    <a:pt x="8606155" y="10251440"/>
                  </a:moveTo>
                  <a:cubicBezTo>
                    <a:pt x="8606155" y="10284587"/>
                    <a:pt x="8595487" y="10286873"/>
                    <a:pt x="8567674" y="10286873"/>
                  </a:cubicBezTo>
                  <a:cubicBezTo>
                    <a:pt x="5713095" y="10286238"/>
                    <a:pt x="2858643" y="10286238"/>
                    <a:pt x="4064" y="10286238"/>
                  </a:cubicBezTo>
                  <a:cubicBezTo>
                    <a:pt x="0" y="10272395"/>
                    <a:pt x="6350" y="10259822"/>
                    <a:pt x="9271" y="10246995"/>
                  </a:cubicBezTo>
                  <a:cubicBezTo>
                    <a:pt x="134747" y="9685401"/>
                    <a:pt x="260350" y="9123934"/>
                    <a:pt x="386207" y="8562467"/>
                  </a:cubicBezTo>
                  <a:cubicBezTo>
                    <a:pt x="565658" y="7761986"/>
                    <a:pt x="745490" y="6961632"/>
                    <a:pt x="924814" y="6161151"/>
                  </a:cubicBezTo>
                  <a:cubicBezTo>
                    <a:pt x="1146302" y="5172583"/>
                    <a:pt x="1367282" y="4184015"/>
                    <a:pt x="1588643" y="3195574"/>
                  </a:cubicBezTo>
                  <a:cubicBezTo>
                    <a:pt x="1813560" y="2191385"/>
                    <a:pt x="2038604" y="1187323"/>
                    <a:pt x="2264156" y="183261"/>
                  </a:cubicBezTo>
                  <a:cubicBezTo>
                    <a:pt x="2277872" y="122174"/>
                    <a:pt x="2286635" y="59690"/>
                    <a:pt x="2308860" y="635"/>
                  </a:cubicBezTo>
                  <a:cubicBezTo>
                    <a:pt x="4395216" y="635"/>
                    <a:pt x="6481572" y="635"/>
                    <a:pt x="8567928" y="0"/>
                  </a:cubicBezTo>
                  <a:cubicBezTo>
                    <a:pt x="8596249" y="0"/>
                    <a:pt x="8605901" y="3429"/>
                    <a:pt x="8605901" y="35814"/>
                  </a:cubicBezTo>
                  <a:cubicBezTo>
                    <a:pt x="8605139" y="3441065"/>
                    <a:pt x="8605139" y="6846316"/>
                    <a:pt x="8606155" y="10251440"/>
                  </a:cubicBezTo>
                  <a:close/>
                </a:path>
              </a:pathLst>
            </a:custGeom>
            <a:blipFill>
              <a:blip r:embed="rId5">
                <a:alphaModFix amt="69000"/>
              </a:blip>
              <a:stretch>
                <a:fillRect l="-5823" r="-5823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3365024" y="2665025"/>
            <a:ext cx="10851819" cy="4006107"/>
            <a:chOff x="0" y="0"/>
            <a:chExt cx="2858092" cy="105510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858092" cy="1055106"/>
            </a:xfrm>
            <a:custGeom>
              <a:avLst/>
              <a:gdLst/>
              <a:ahLst/>
              <a:cxnLst/>
              <a:rect l="l" t="t" r="r" b="b"/>
              <a:pathLst>
                <a:path w="2858092" h="1055106">
                  <a:moveTo>
                    <a:pt x="0" y="0"/>
                  </a:moveTo>
                  <a:lnTo>
                    <a:pt x="2858092" y="0"/>
                  </a:lnTo>
                  <a:lnTo>
                    <a:pt x="2858092" y="1055106"/>
                  </a:lnTo>
                  <a:lnTo>
                    <a:pt x="0" y="10551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2858092" cy="10741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4191521" y="6937923"/>
            <a:ext cx="9904959" cy="680751"/>
          </a:xfrm>
          <a:custGeom>
            <a:avLst/>
            <a:gdLst/>
            <a:ahLst/>
            <a:cxnLst/>
            <a:rect l="l" t="t" r="r" b="b"/>
            <a:pathLst>
              <a:path w="9904959" h="680751">
                <a:moveTo>
                  <a:pt x="0" y="0"/>
                </a:moveTo>
                <a:lnTo>
                  <a:pt x="9904958" y="0"/>
                </a:lnTo>
                <a:lnTo>
                  <a:pt x="9904958" y="680752"/>
                </a:lnTo>
                <a:lnTo>
                  <a:pt x="0" y="68075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187363"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8109704" y="2311857"/>
            <a:ext cx="1362459" cy="706336"/>
          </a:xfrm>
          <a:custGeom>
            <a:avLst/>
            <a:gdLst/>
            <a:ahLst/>
            <a:cxnLst/>
            <a:rect l="l" t="t" r="r" b="b"/>
            <a:pathLst>
              <a:path w="1362459" h="706336">
                <a:moveTo>
                  <a:pt x="0" y="0"/>
                </a:moveTo>
                <a:lnTo>
                  <a:pt x="1362459" y="0"/>
                </a:lnTo>
                <a:lnTo>
                  <a:pt x="1362459" y="706336"/>
                </a:lnTo>
                <a:lnTo>
                  <a:pt x="0" y="70633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3706002" y="3213468"/>
            <a:ext cx="10624501" cy="3099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419"/>
              </a:lnSpc>
            </a:pPr>
            <a:r>
              <a:rPr lang="en-US" sz="9000" spc="126">
                <a:solidFill>
                  <a:srgbClr val="040506"/>
                </a:solidFill>
                <a:ea typeface="210 밀레니얼"/>
              </a:rPr>
              <a:t>한국마사회 </a:t>
            </a:r>
          </a:p>
          <a:p>
            <a:pPr algn="ctr">
              <a:lnSpc>
                <a:spcPts val="12419"/>
              </a:lnSpc>
            </a:pPr>
            <a:r>
              <a:rPr lang="en-US" sz="9000" spc="126">
                <a:solidFill>
                  <a:srgbClr val="040506"/>
                </a:solidFill>
                <a:ea typeface="210 밀레니얼"/>
              </a:rPr>
              <a:t>실내센서 데이터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5872820" y="8759942"/>
            <a:ext cx="2045196" cy="6267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69"/>
              </a:lnSpc>
              <a:spcBef>
                <a:spcPct val="0"/>
              </a:spcBef>
            </a:pPr>
            <a:r>
              <a:rPr lang="en-US" sz="3899">
                <a:solidFill>
                  <a:srgbClr val="040506"/>
                </a:solidFill>
                <a:ea typeface="210 밀레니얼"/>
              </a:rPr>
              <a:t>팀 야생마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381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3"/>
            <a:stretch>
              <a:fillRect t="-38888" b="-38888"/>
            </a:stretch>
          </a:blipFill>
        </p:spPr>
      </p:sp>
      <p:grpSp>
        <p:nvGrpSpPr>
          <p:cNvPr id="3" name="Group 3"/>
          <p:cNvGrpSpPr/>
          <p:nvPr/>
        </p:nvGrpSpPr>
        <p:grpSpPr>
          <a:xfrm rot="5400000">
            <a:off x="8599743" y="-4717334"/>
            <a:ext cx="1088513" cy="18288000"/>
            <a:chOff x="0" y="0"/>
            <a:chExt cx="286687" cy="481659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86687" cy="4816592"/>
            </a:xfrm>
            <a:custGeom>
              <a:avLst/>
              <a:gdLst/>
              <a:ahLst/>
              <a:cxnLst/>
              <a:rect l="l" t="t" r="r" b="b"/>
              <a:pathLst>
                <a:path w="286687" h="4816592">
                  <a:moveTo>
                    <a:pt x="0" y="0"/>
                  </a:moveTo>
                  <a:lnTo>
                    <a:pt x="286687" y="0"/>
                  </a:lnTo>
                  <a:lnTo>
                    <a:pt x="286687" y="4816592"/>
                  </a:lnTo>
                  <a:lnTo>
                    <a:pt x="0" y="4816592"/>
                  </a:lnTo>
                  <a:close/>
                </a:path>
              </a:pathLst>
            </a:custGeom>
            <a:gradFill rotWithShape="1">
              <a:gsLst>
                <a:gs pos="0">
                  <a:srgbClr val="696969">
                    <a:alpha val="72000"/>
                  </a:srgbClr>
                </a:gs>
                <a:gs pos="33333">
                  <a:srgbClr val="B4B4B4">
                    <a:alpha val="82500"/>
                  </a:srgbClr>
                </a:gs>
                <a:gs pos="66667">
                  <a:srgbClr val="EEEEEE">
                    <a:alpha val="70500"/>
                  </a:srgbClr>
                </a:gs>
                <a:gs pos="100000">
                  <a:srgbClr val="FBFBFB">
                    <a:alpha val="22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19050"/>
              <a:ext cx="286687" cy="4835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0" y="0"/>
            <a:ext cx="18288000" cy="3882410"/>
          </a:xfrm>
          <a:custGeom>
            <a:avLst/>
            <a:gdLst/>
            <a:ahLst/>
            <a:cxnLst/>
            <a:rect l="l" t="t" r="r" b="b"/>
            <a:pathLst>
              <a:path w="18288000" h="3882410">
                <a:moveTo>
                  <a:pt x="0" y="0"/>
                </a:moveTo>
                <a:lnTo>
                  <a:pt x="18288000" y="0"/>
                </a:lnTo>
                <a:lnTo>
                  <a:pt x="18288000" y="3882410"/>
                </a:lnTo>
                <a:lnTo>
                  <a:pt x="0" y="388241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29538" b="-241509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4251937" y="1632437"/>
            <a:ext cx="9168362" cy="16958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774"/>
              </a:lnSpc>
            </a:pPr>
            <a:r>
              <a:rPr lang="en-US" sz="9981" spc="79">
                <a:solidFill>
                  <a:srgbClr val="FFFFFF"/>
                </a:solidFill>
                <a:latin typeface="Archivo Black"/>
              </a:rPr>
              <a:t>CONTENT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21282" y="4389388"/>
            <a:ext cx="1840320" cy="1048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627"/>
              </a:lnSpc>
              <a:spcBef>
                <a:spcPct val="0"/>
              </a:spcBef>
            </a:pPr>
            <a:r>
              <a:rPr lang="en-US" sz="6251" u="none" strike="noStrike" spc="331">
                <a:solidFill>
                  <a:srgbClr val="231F20"/>
                </a:solidFill>
                <a:latin typeface="Montserrat Classic Bold"/>
              </a:rPr>
              <a:t>01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69731" y="5646124"/>
            <a:ext cx="2743420" cy="8566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83"/>
              </a:lnSpc>
            </a:pPr>
            <a:r>
              <a:rPr lang="en-US" sz="2524" spc="247" dirty="0">
                <a:solidFill>
                  <a:srgbClr val="231F20"/>
                </a:solidFill>
                <a:latin typeface="Montserrat Light"/>
                <a:ea typeface="Montserrat Light"/>
              </a:rPr>
              <a:t>1, 2프로젝트 </a:t>
            </a:r>
          </a:p>
          <a:p>
            <a:pPr algn="ctr">
              <a:lnSpc>
                <a:spcPts val="3483"/>
              </a:lnSpc>
            </a:pPr>
            <a:r>
              <a:rPr lang="en-US" sz="2524" spc="247" dirty="0">
                <a:solidFill>
                  <a:srgbClr val="231F20"/>
                </a:solidFill>
                <a:latin typeface="Montserrat Light"/>
              </a:rPr>
              <a:t>Review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383247" y="4389388"/>
            <a:ext cx="1840320" cy="1048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627"/>
              </a:lnSpc>
              <a:spcBef>
                <a:spcPct val="0"/>
              </a:spcBef>
            </a:pPr>
            <a:r>
              <a:rPr lang="en-US" sz="6251" spc="331">
                <a:solidFill>
                  <a:srgbClr val="231F20"/>
                </a:solidFill>
                <a:latin typeface="Montserrat Classic Bold"/>
              </a:rPr>
              <a:t>02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826511" y="5819479"/>
            <a:ext cx="3133467" cy="8606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83"/>
              </a:lnSpc>
            </a:pPr>
            <a:r>
              <a:rPr lang="en-US" sz="2524" spc="247" dirty="0">
                <a:solidFill>
                  <a:srgbClr val="231F20"/>
                </a:solidFill>
                <a:latin typeface="Montserrat Light"/>
                <a:ea typeface="Montserrat Light"/>
              </a:rPr>
              <a:t>3차 </a:t>
            </a:r>
            <a:r>
              <a:rPr lang="en-US" sz="2524" spc="247" dirty="0" err="1">
                <a:solidFill>
                  <a:srgbClr val="231F20"/>
                </a:solidFill>
                <a:latin typeface="Montserrat Light"/>
                <a:ea typeface="Montserrat Light"/>
              </a:rPr>
              <a:t>프로젝트</a:t>
            </a:r>
            <a:r>
              <a:rPr lang="en-US" sz="2524" spc="247" dirty="0">
                <a:solidFill>
                  <a:srgbClr val="231F20"/>
                </a:solidFill>
                <a:latin typeface="Montserrat Light"/>
                <a:ea typeface="Montserrat Light"/>
              </a:rPr>
              <a:t> </a:t>
            </a:r>
            <a:r>
              <a:rPr lang="ko-KR" altLang="en-US" sz="2524" spc="247" dirty="0">
                <a:solidFill>
                  <a:srgbClr val="231F20"/>
                </a:solidFill>
                <a:latin typeface="Montserrat Light"/>
                <a:ea typeface="Montserrat Light"/>
              </a:rPr>
              <a:t>주제 및</a:t>
            </a:r>
            <a:r>
              <a:rPr lang="en-US" sz="2524" spc="247" dirty="0">
                <a:solidFill>
                  <a:srgbClr val="231F20"/>
                </a:solidFill>
                <a:latin typeface="Montserrat Light"/>
                <a:ea typeface="Montserrat Light"/>
              </a:rPr>
              <a:t> </a:t>
            </a:r>
            <a:r>
              <a:rPr lang="en-US" sz="2524" spc="247" dirty="0" err="1">
                <a:solidFill>
                  <a:srgbClr val="231F20"/>
                </a:solidFill>
                <a:latin typeface="Montserrat Light"/>
                <a:ea typeface="Montserrat Light"/>
              </a:rPr>
              <a:t>목표</a:t>
            </a:r>
            <a:r>
              <a:rPr lang="en-US" sz="2524" spc="247" dirty="0">
                <a:solidFill>
                  <a:srgbClr val="231F20"/>
                </a:solidFill>
                <a:latin typeface="Montserrat Light"/>
                <a:ea typeface="Montserrat Light"/>
              </a:rPr>
              <a:t>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545212" y="4389388"/>
            <a:ext cx="1840320" cy="1048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627"/>
              </a:lnSpc>
              <a:spcBef>
                <a:spcPct val="0"/>
              </a:spcBef>
            </a:pPr>
            <a:r>
              <a:rPr lang="en-US" sz="6251" spc="331">
                <a:solidFill>
                  <a:srgbClr val="231F20"/>
                </a:solidFill>
                <a:latin typeface="Montserrat Classic Bold"/>
              </a:rPr>
              <a:t>03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117734" y="5865199"/>
            <a:ext cx="2887857" cy="4185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83"/>
              </a:lnSpc>
            </a:pPr>
            <a:r>
              <a:rPr lang="en-US" sz="2524" spc="247" dirty="0" err="1">
                <a:solidFill>
                  <a:srgbClr val="231F20"/>
                </a:solidFill>
                <a:ea typeface="Montserrat Light"/>
              </a:rPr>
              <a:t>역할</a:t>
            </a:r>
            <a:r>
              <a:rPr lang="en-US" sz="2524" spc="247" dirty="0">
                <a:solidFill>
                  <a:srgbClr val="231F20"/>
                </a:solidFill>
                <a:ea typeface="Montserrat Light"/>
              </a:rPr>
              <a:t> </a:t>
            </a:r>
            <a:r>
              <a:rPr lang="en-US" sz="2524" spc="247" dirty="0" err="1">
                <a:solidFill>
                  <a:srgbClr val="231F20"/>
                </a:solidFill>
                <a:ea typeface="Montserrat Light"/>
              </a:rPr>
              <a:t>분담</a:t>
            </a:r>
            <a:endParaRPr lang="en-US" sz="2524" spc="247" dirty="0">
              <a:solidFill>
                <a:srgbClr val="231F20"/>
              </a:solidFill>
              <a:ea typeface="Montserrat Light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5483550" y="7007647"/>
            <a:ext cx="1840320" cy="1048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627"/>
              </a:lnSpc>
              <a:spcBef>
                <a:spcPct val="0"/>
              </a:spcBef>
            </a:pPr>
            <a:r>
              <a:rPr lang="en-US" sz="6251" spc="331">
                <a:solidFill>
                  <a:srgbClr val="231F20"/>
                </a:solidFill>
                <a:latin typeface="Montserrat Classic Bold"/>
              </a:rPr>
              <a:t>04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040024" y="8266536"/>
            <a:ext cx="2919954" cy="4185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83"/>
              </a:lnSpc>
            </a:pPr>
            <a:r>
              <a:rPr lang="en-US" sz="2524" spc="247" dirty="0">
                <a:solidFill>
                  <a:srgbClr val="231F20"/>
                </a:solidFill>
                <a:latin typeface="Montserrat Light"/>
                <a:ea typeface="Montserrat Light"/>
              </a:rPr>
              <a:t> </a:t>
            </a:r>
            <a:r>
              <a:rPr lang="en-US" sz="2524" spc="247" dirty="0" err="1">
                <a:solidFill>
                  <a:srgbClr val="231F20"/>
                </a:solidFill>
                <a:latin typeface="Montserrat Light"/>
                <a:ea typeface="Montserrat Light"/>
              </a:rPr>
              <a:t>테이블</a:t>
            </a:r>
            <a:r>
              <a:rPr lang="en-US" sz="2524" spc="247" dirty="0">
                <a:solidFill>
                  <a:srgbClr val="231F20"/>
                </a:solidFill>
                <a:latin typeface="Montserrat Light"/>
                <a:ea typeface="Montserrat Light"/>
              </a:rPr>
              <a:t> </a:t>
            </a:r>
            <a:r>
              <a:rPr lang="en-US" sz="2524" spc="247" dirty="0" err="1">
                <a:solidFill>
                  <a:srgbClr val="231F20"/>
                </a:solidFill>
                <a:latin typeface="Montserrat Light"/>
                <a:ea typeface="Montserrat Light"/>
              </a:rPr>
              <a:t>설계</a:t>
            </a:r>
            <a:endParaRPr lang="en-US" sz="2524" spc="247" dirty="0">
              <a:solidFill>
                <a:srgbClr val="231F20"/>
              </a:solidFill>
              <a:latin typeface="Montserrat Light"/>
              <a:ea typeface="Montserrat Light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9641503" y="6894702"/>
            <a:ext cx="1840320" cy="1048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627"/>
              </a:lnSpc>
              <a:spcBef>
                <a:spcPct val="0"/>
              </a:spcBef>
            </a:pPr>
            <a:r>
              <a:rPr lang="en-US" sz="6251" spc="331">
                <a:solidFill>
                  <a:srgbClr val="231F20"/>
                </a:solidFill>
                <a:latin typeface="Montserrat Classic Bold"/>
              </a:rPr>
              <a:t>05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144000" y="8266536"/>
            <a:ext cx="2919954" cy="4185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83"/>
              </a:lnSpc>
            </a:pPr>
            <a:r>
              <a:rPr lang="en-US" sz="2524" spc="247">
                <a:solidFill>
                  <a:srgbClr val="231F20"/>
                </a:solidFill>
                <a:ea typeface="Montserrat Light"/>
              </a:rPr>
              <a:t>프로젝트 결과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757317" y="6894702"/>
            <a:ext cx="1840320" cy="1048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627"/>
              </a:lnSpc>
              <a:spcBef>
                <a:spcPct val="0"/>
              </a:spcBef>
            </a:pPr>
            <a:r>
              <a:rPr lang="en-US" sz="6251" spc="331">
                <a:solidFill>
                  <a:srgbClr val="231F20"/>
                </a:solidFill>
                <a:latin typeface="Montserrat Classic Bold"/>
              </a:rPr>
              <a:t>06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420299" y="8266536"/>
            <a:ext cx="2919954" cy="4185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83"/>
              </a:lnSpc>
            </a:pPr>
            <a:r>
              <a:rPr lang="en-US" sz="2524" spc="247">
                <a:solidFill>
                  <a:srgbClr val="231F20"/>
                </a:solidFill>
                <a:ea typeface="Montserrat Light"/>
              </a:rPr>
              <a:t>팀원 별 느낀점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-1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3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 rot="2925483">
            <a:off x="5978889" y="4633519"/>
            <a:ext cx="15026802" cy="1591351"/>
          </a:xfrm>
          <a:custGeom>
            <a:avLst/>
            <a:gdLst/>
            <a:ahLst/>
            <a:cxnLst/>
            <a:rect l="l" t="t" r="r" b="b"/>
            <a:pathLst>
              <a:path w="15026802" h="1591351">
                <a:moveTo>
                  <a:pt x="0" y="0"/>
                </a:moveTo>
                <a:lnTo>
                  <a:pt x="15026802" y="0"/>
                </a:lnTo>
                <a:lnTo>
                  <a:pt x="15026802" y="1591350"/>
                </a:lnTo>
                <a:lnTo>
                  <a:pt x="0" y="15913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86495"/>
            </a:stretch>
          </a:blipFill>
        </p:spPr>
      </p: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9056504" y="0"/>
            <a:ext cx="9241021" cy="10396149"/>
            <a:chOff x="0" y="0"/>
            <a:chExt cx="5370413" cy="604171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370413" cy="6041715"/>
            </a:xfrm>
            <a:custGeom>
              <a:avLst/>
              <a:gdLst/>
              <a:ahLst/>
              <a:cxnLst/>
              <a:rect l="l" t="t" r="r" b="b"/>
              <a:pathLst>
                <a:path w="5370413" h="6041715">
                  <a:moveTo>
                    <a:pt x="5370413" y="0"/>
                  </a:moveTo>
                  <a:lnTo>
                    <a:pt x="5370413" y="6041715"/>
                  </a:lnTo>
                  <a:cubicBezTo>
                    <a:pt x="3580275" y="4027810"/>
                    <a:pt x="1790138" y="2013905"/>
                    <a:pt x="0" y="0"/>
                  </a:cubicBezTo>
                  <a:lnTo>
                    <a:pt x="5370413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0" y="0"/>
              <a:ext cx="5370413" cy="6041715"/>
            </a:xfrm>
            <a:custGeom>
              <a:avLst/>
              <a:gdLst/>
              <a:ahLst/>
              <a:cxnLst/>
              <a:rect l="l" t="t" r="r" b="b"/>
              <a:pathLst>
                <a:path w="5370413" h="6041715">
                  <a:moveTo>
                    <a:pt x="5370413" y="0"/>
                  </a:moveTo>
                  <a:lnTo>
                    <a:pt x="5370413" y="6041715"/>
                  </a:lnTo>
                  <a:cubicBezTo>
                    <a:pt x="3580275" y="4027810"/>
                    <a:pt x="1790138" y="2013905"/>
                    <a:pt x="0" y="0"/>
                  </a:cubicBezTo>
                  <a:lnTo>
                    <a:pt x="5370413" y="0"/>
                  </a:lnTo>
                  <a:close/>
                </a:path>
              </a:pathLst>
            </a:custGeom>
            <a:blipFill>
              <a:blip r:embed="rId5"/>
              <a:stretch>
                <a:fillRect l="-34427" r="-34427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1992833" y="3942594"/>
            <a:ext cx="1954227" cy="1954227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10101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2726334" y="6778312"/>
            <a:ext cx="2023009" cy="2023009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10101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-3950263" y="803081"/>
            <a:ext cx="15795132" cy="2258023"/>
            <a:chOff x="0" y="0"/>
            <a:chExt cx="1530989" cy="218865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530989" cy="218865"/>
            </a:xfrm>
            <a:custGeom>
              <a:avLst/>
              <a:gdLst/>
              <a:ahLst/>
              <a:cxnLst/>
              <a:rect l="l" t="t" r="r" b="b"/>
              <a:pathLst>
                <a:path w="1530989" h="218865">
                  <a:moveTo>
                    <a:pt x="1327789" y="0"/>
                  </a:moveTo>
                  <a:lnTo>
                    <a:pt x="0" y="0"/>
                  </a:lnTo>
                  <a:lnTo>
                    <a:pt x="203200" y="218865"/>
                  </a:lnTo>
                  <a:lnTo>
                    <a:pt x="1530989" y="218865"/>
                  </a:lnTo>
                  <a:lnTo>
                    <a:pt x="1327789" y="0"/>
                  </a:lnTo>
                  <a:close/>
                </a:path>
              </a:pathLst>
            </a:custGeom>
            <a:solidFill>
              <a:srgbClr val="010101"/>
            </a:solidFill>
            <a:ln cap="sq">
              <a:noFill/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01600" y="-19050"/>
              <a:ext cx="1327789" cy="2379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3693430" y="4059278"/>
            <a:ext cx="7132181" cy="3732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50"/>
              </a:lnSpc>
              <a:spcBef>
                <a:spcPct val="0"/>
              </a:spcBef>
            </a:pPr>
            <a:endParaRPr/>
          </a:p>
        </p:txBody>
      </p:sp>
      <p:sp>
        <p:nvSpPr>
          <p:cNvPr id="17" name="TextBox 17"/>
          <p:cNvSpPr txBox="1"/>
          <p:nvPr/>
        </p:nvSpPr>
        <p:spPr>
          <a:xfrm>
            <a:off x="2122031" y="1304859"/>
            <a:ext cx="7416941" cy="1132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286"/>
              </a:lnSpc>
              <a:spcBef>
                <a:spcPct val="0"/>
              </a:spcBef>
            </a:pPr>
            <a:r>
              <a:rPr lang="en-US" sz="6729" spc="53">
                <a:solidFill>
                  <a:srgbClr val="FFFFFF"/>
                </a:solidFill>
                <a:latin typeface="Archivo Black"/>
              </a:rPr>
              <a:t>REVIEW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545743" y="4284701"/>
            <a:ext cx="7132181" cy="1240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20408" lvl="1" indent="-260204" algn="l">
              <a:lnSpc>
                <a:spcPts val="3326"/>
              </a:lnSpc>
              <a:buAutoNum type="arabicPeriod"/>
            </a:pPr>
            <a:r>
              <a:rPr lang="en-US" sz="2410" spc="236" dirty="0" err="1">
                <a:solidFill>
                  <a:srgbClr val="231F20"/>
                </a:solidFill>
                <a:ea typeface="210 밀레니얼"/>
              </a:rPr>
              <a:t>공공데이터포털</a:t>
            </a:r>
            <a:r>
              <a:rPr lang="en-US" sz="2410" spc="236" dirty="0">
                <a:solidFill>
                  <a:srgbClr val="231F20"/>
                </a:solidFill>
                <a:ea typeface="210 밀레니얼"/>
              </a:rPr>
              <a:t> </a:t>
            </a:r>
            <a:r>
              <a:rPr lang="en-US" sz="2410" spc="236" dirty="0" err="1">
                <a:solidFill>
                  <a:srgbClr val="231F20"/>
                </a:solidFill>
                <a:ea typeface="210 밀레니얼"/>
              </a:rPr>
              <a:t>사이트로부터</a:t>
            </a:r>
            <a:r>
              <a:rPr lang="en-US" sz="2410" spc="236" dirty="0">
                <a:solidFill>
                  <a:srgbClr val="231F20"/>
                </a:solidFill>
                <a:ea typeface="210 밀레니얼"/>
              </a:rPr>
              <a:t> </a:t>
            </a:r>
            <a:r>
              <a:rPr lang="en-US" sz="2410" spc="236" dirty="0" err="1">
                <a:solidFill>
                  <a:srgbClr val="231F20"/>
                </a:solidFill>
                <a:ea typeface="210 밀레니얼"/>
              </a:rPr>
              <a:t>데이터</a:t>
            </a:r>
            <a:r>
              <a:rPr lang="en-US" sz="2410" spc="236" dirty="0">
                <a:solidFill>
                  <a:srgbClr val="231F20"/>
                </a:solidFill>
                <a:ea typeface="210 밀레니얼"/>
              </a:rPr>
              <a:t> </a:t>
            </a:r>
            <a:r>
              <a:rPr lang="en-US" sz="2410" spc="236" dirty="0" err="1">
                <a:solidFill>
                  <a:srgbClr val="231F20"/>
                </a:solidFill>
                <a:ea typeface="210 밀레니얼"/>
              </a:rPr>
              <a:t>수집</a:t>
            </a:r>
            <a:endParaRPr lang="en-US" sz="2410" spc="236" dirty="0">
              <a:solidFill>
                <a:srgbClr val="231F20"/>
              </a:solidFill>
              <a:ea typeface="210 밀레니얼"/>
            </a:endParaRPr>
          </a:p>
          <a:p>
            <a:pPr marL="520408" lvl="1" indent="-260204" algn="l">
              <a:lnSpc>
                <a:spcPts val="3326"/>
              </a:lnSpc>
              <a:buAutoNum type="arabicPeriod"/>
            </a:pPr>
            <a:r>
              <a:rPr lang="en-US" sz="2410" spc="236" dirty="0" err="1">
                <a:solidFill>
                  <a:srgbClr val="231F20"/>
                </a:solidFill>
                <a:ea typeface="210 밀레니얼"/>
              </a:rPr>
              <a:t>수집한</a:t>
            </a:r>
            <a:r>
              <a:rPr lang="en-US" sz="2410" spc="236" dirty="0">
                <a:solidFill>
                  <a:srgbClr val="231F20"/>
                </a:solidFill>
                <a:ea typeface="210 밀레니얼"/>
              </a:rPr>
              <a:t> </a:t>
            </a:r>
            <a:r>
              <a:rPr lang="en-US" sz="2410" spc="236" dirty="0" err="1">
                <a:solidFill>
                  <a:srgbClr val="231F20"/>
                </a:solidFill>
                <a:ea typeface="210 밀레니얼"/>
              </a:rPr>
              <a:t>데이터</a:t>
            </a:r>
            <a:r>
              <a:rPr lang="en-US" sz="2410" spc="236" dirty="0">
                <a:solidFill>
                  <a:srgbClr val="231F20"/>
                </a:solidFill>
                <a:ea typeface="210 밀레니얼"/>
              </a:rPr>
              <a:t> </a:t>
            </a:r>
            <a:r>
              <a:rPr lang="en-US" sz="2410" spc="236" dirty="0" err="1">
                <a:solidFill>
                  <a:srgbClr val="231F20"/>
                </a:solidFill>
                <a:ea typeface="210 밀레니얼"/>
              </a:rPr>
              <a:t>가공</a:t>
            </a:r>
            <a:endParaRPr lang="en-US" sz="2410" spc="236" dirty="0">
              <a:solidFill>
                <a:srgbClr val="231F20"/>
              </a:solidFill>
              <a:ea typeface="210 밀레니얼"/>
            </a:endParaRPr>
          </a:p>
          <a:p>
            <a:pPr marL="520408" lvl="1" indent="-260204" algn="l">
              <a:lnSpc>
                <a:spcPts val="3326"/>
              </a:lnSpc>
              <a:spcBef>
                <a:spcPct val="0"/>
              </a:spcBef>
              <a:buAutoNum type="arabicPeriod"/>
            </a:pPr>
            <a:r>
              <a:rPr lang="en-US" sz="2410" spc="236" dirty="0" err="1">
                <a:solidFill>
                  <a:srgbClr val="231F20"/>
                </a:solidFill>
                <a:ea typeface="210 밀레니얼"/>
              </a:rPr>
              <a:t>데이터베이스에</a:t>
            </a:r>
            <a:r>
              <a:rPr lang="en-US" sz="2410" spc="236" dirty="0">
                <a:solidFill>
                  <a:srgbClr val="231F20"/>
                </a:solidFill>
                <a:ea typeface="210 밀레니얼"/>
              </a:rPr>
              <a:t> </a:t>
            </a:r>
            <a:r>
              <a:rPr lang="en-US" sz="2410" spc="236" dirty="0" err="1">
                <a:solidFill>
                  <a:srgbClr val="231F20"/>
                </a:solidFill>
                <a:ea typeface="210 밀레니얼"/>
              </a:rPr>
              <a:t>저장</a:t>
            </a:r>
            <a:endParaRPr lang="en-US" sz="2410" spc="236" dirty="0">
              <a:solidFill>
                <a:srgbClr val="231F20"/>
              </a:solidFill>
              <a:ea typeface="210 밀레니얼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2929935" y="7505019"/>
            <a:ext cx="1615808" cy="5124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140"/>
              </a:lnSpc>
              <a:spcBef>
                <a:spcPct val="0"/>
              </a:spcBef>
            </a:pPr>
            <a:r>
              <a:rPr lang="en-US" sz="3000" spc="294">
                <a:solidFill>
                  <a:srgbClr val="FFFFFF"/>
                </a:solidFill>
                <a:ea typeface="210 밀레니얼"/>
              </a:rPr>
              <a:t>변경사항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298345" y="4576679"/>
            <a:ext cx="1535785" cy="621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037"/>
              </a:lnSpc>
              <a:spcBef>
                <a:spcPct val="0"/>
              </a:spcBef>
            </a:pPr>
            <a:r>
              <a:rPr lang="en-US" sz="3650" spc="357">
                <a:solidFill>
                  <a:srgbClr val="FFFFFF"/>
                </a:solidFill>
                <a:latin typeface="210 밀레니얼"/>
                <a:ea typeface="210 밀레니얼"/>
              </a:rPr>
              <a:t>1, 2차 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577909" y="7277044"/>
            <a:ext cx="7132181" cy="8211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20408" lvl="1" indent="-260204" algn="l">
              <a:lnSpc>
                <a:spcPts val="3326"/>
              </a:lnSpc>
              <a:buAutoNum type="arabicPeriod"/>
            </a:pPr>
            <a:r>
              <a:rPr lang="en-US" sz="2410" spc="236" dirty="0" err="1">
                <a:solidFill>
                  <a:srgbClr val="231F20"/>
                </a:solidFill>
                <a:ea typeface="210 밀레니얼"/>
              </a:rPr>
              <a:t>날짜</a:t>
            </a:r>
            <a:r>
              <a:rPr lang="en-US" sz="2410" spc="236" dirty="0">
                <a:solidFill>
                  <a:srgbClr val="231F20"/>
                </a:solidFill>
                <a:ea typeface="210 밀레니얼"/>
              </a:rPr>
              <a:t> </a:t>
            </a:r>
            <a:r>
              <a:rPr lang="en-US" sz="2410" spc="236" dirty="0" err="1">
                <a:solidFill>
                  <a:srgbClr val="231F20"/>
                </a:solidFill>
                <a:ea typeface="210 밀레니얼"/>
              </a:rPr>
              <a:t>변경으로</a:t>
            </a:r>
            <a:r>
              <a:rPr lang="en-US" sz="2410" spc="236" dirty="0">
                <a:solidFill>
                  <a:srgbClr val="231F20"/>
                </a:solidFill>
                <a:ea typeface="210 밀레니얼"/>
              </a:rPr>
              <a:t> </a:t>
            </a:r>
            <a:r>
              <a:rPr lang="en-US" sz="2410" spc="236" dirty="0" err="1">
                <a:solidFill>
                  <a:srgbClr val="231F20"/>
                </a:solidFill>
                <a:ea typeface="210 밀레니얼"/>
              </a:rPr>
              <a:t>인한</a:t>
            </a:r>
            <a:r>
              <a:rPr lang="en-US" sz="2410" spc="236" dirty="0">
                <a:solidFill>
                  <a:srgbClr val="231F20"/>
                </a:solidFill>
                <a:ea typeface="210 밀레니얼"/>
              </a:rPr>
              <a:t> </a:t>
            </a:r>
            <a:r>
              <a:rPr lang="en-US" sz="2410" spc="236" dirty="0" err="1">
                <a:solidFill>
                  <a:srgbClr val="231F20"/>
                </a:solidFill>
                <a:ea typeface="210 밀레니얼"/>
              </a:rPr>
              <a:t>데이터</a:t>
            </a:r>
            <a:r>
              <a:rPr lang="en-US" sz="2410" spc="236" dirty="0">
                <a:solidFill>
                  <a:srgbClr val="231F20"/>
                </a:solidFill>
                <a:ea typeface="210 밀레니얼"/>
              </a:rPr>
              <a:t> </a:t>
            </a:r>
            <a:r>
              <a:rPr lang="en-US" sz="2410" spc="236" dirty="0" err="1">
                <a:solidFill>
                  <a:srgbClr val="231F20"/>
                </a:solidFill>
                <a:ea typeface="210 밀레니얼"/>
              </a:rPr>
              <a:t>재수집</a:t>
            </a:r>
            <a:endParaRPr lang="en-US" sz="2410" spc="236" dirty="0">
              <a:solidFill>
                <a:srgbClr val="231F20"/>
              </a:solidFill>
              <a:ea typeface="210 밀레니얼"/>
            </a:endParaRPr>
          </a:p>
          <a:p>
            <a:pPr marL="520408" lvl="1" indent="-260204" algn="l">
              <a:lnSpc>
                <a:spcPts val="3326"/>
              </a:lnSpc>
              <a:spcBef>
                <a:spcPct val="0"/>
              </a:spcBef>
              <a:buAutoNum type="arabicPeriod"/>
            </a:pPr>
            <a:r>
              <a:rPr lang="en-US" sz="2410" spc="236" dirty="0" err="1">
                <a:solidFill>
                  <a:srgbClr val="231F20"/>
                </a:solidFill>
                <a:ea typeface="210 밀레니얼"/>
              </a:rPr>
              <a:t>수집한</a:t>
            </a:r>
            <a:r>
              <a:rPr lang="en-US" sz="2410" spc="236" dirty="0">
                <a:solidFill>
                  <a:srgbClr val="231F20"/>
                </a:solidFill>
                <a:ea typeface="210 밀레니얼"/>
              </a:rPr>
              <a:t> </a:t>
            </a:r>
            <a:r>
              <a:rPr lang="en-US" sz="2410" spc="236" dirty="0" err="1">
                <a:solidFill>
                  <a:srgbClr val="231F20"/>
                </a:solidFill>
                <a:ea typeface="210 밀레니얼"/>
              </a:rPr>
              <a:t>데이터</a:t>
            </a:r>
            <a:r>
              <a:rPr lang="en-US" sz="2410" spc="236" dirty="0">
                <a:solidFill>
                  <a:srgbClr val="231F20"/>
                </a:solidFill>
                <a:ea typeface="210 밀레니얼"/>
              </a:rPr>
              <a:t> </a:t>
            </a:r>
            <a:r>
              <a:rPr lang="en-US" sz="2410" spc="236" dirty="0" err="1">
                <a:solidFill>
                  <a:srgbClr val="231F20"/>
                </a:solidFill>
                <a:ea typeface="210 밀레니얼"/>
              </a:rPr>
              <a:t>재가공</a:t>
            </a:r>
            <a:r>
              <a:rPr lang="en-US" sz="2410" spc="236" dirty="0">
                <a:solidFill>
                  <a:srgbClr val="231F20"/>
                </a:solidFill>
                <a:ea typeface="210 밀레니얼"/>
              </a:rPr>
              <a:t> 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FCEBCF4B-1CD9-4B4B-A140-B2CBCAA140E2}"/>
              </a:ext>
            </a:extLst>
          </p:cNvPr>
          <p:cNvSpPr/>
          <p:nvPr/>
        </p:nvSpPr>
        <p:spPr>
          <a:xfrm>
            <a:off x="5577909" y="6667500"/>
            <a:ext cx="2362950" cy="45720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2021.12~2022.02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84684757-B4D4-4E39-A9D5-BFEB00FF0619}"/>
              </a:ext>
            </a:extLst>
          </p:cNvPr>
          <p:cNvSpPr/>
          <p:nvPr/>
        </p:nvSpPr>
        <p:spPr>
          <a:xfrm>
            <a:off x="8743142" y="6675986"/>
            <a:ext cx="2362950" cy="45720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2021.08~2022.02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612B5507-63A7-4F6B-9995-F050723828F3}"/>
              </a:ext>
            </a:extLst>
          </p:cNvPr>
          <p:cNvCxnSpPr/>
          <p:nvPr/>
        </p:nvCxnSpPr>
        <p:spPr>
          <a:xfrm>
            <a:off x="8111833" y="6896100"/>
            <a:ext cx="44165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3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 rot="2925483">
            <a:off x="5978889" y="4633519"/>
            <a:ext cx="15026802" cy="1591351"/>
          </a:xfrm>
          <a:custGeom>
            <a:avLst/>
            <a:gdLst/>
            <a:ahLst/>
            <a:cxnLst/>
            <a:rect l="l" t="t" r="r" b="b"/>
            <a:pathLst>
              <a:path w="15026802" h="1591351">
                <a:moveTo>
                  <a:pt x="0" y="0"/>
                </a:moveTo>
                <a:lnTo>
                  <a:pt x="15026802" y="0"/>
                </a:lnTo>
                <a:lnTo>
                  <a:pt x="15026802" y="1591350"/>
                </a:lnTo>
                <a:lnTo>
                  <a:pt x="0" y="15913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86495"/>
            </a:stretch>
          </a:blipFill>
        </p:spPr>
      </p: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9056504" y="0"/>
            <a:ext cx="9241021" cy="10396149"/>
            <a:chOff x="0" y="0"/>
            <a:chExt cx="5370413" cy="604171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370413" cy="6041715"/>
            </a:xfrm>
            <a:custGeom>
              <a:avLst/>
              <a:gdLst/>
              <a:ahLst/>
              <a:cxnLst/>
              <a:rect l="l" t="t" r="r" b="b"/>
              <a:pathLst>
                <a:path w="5370413" h="6041715">
                  <a:moveTo>
                    <a:pt x="5370413" y="0"/>
                  </a:moveTo>
                  <a:lnTo>
                    <a:pt x="5370413" y="6041715"/>
                  </a:lnTo>
                  <a:cubicBezTo>
                    <a:pt x="3580275" y="4027810"/>
                    <a:pt x="1790138" y="2013905"/>
                    <a:pt x="0" y="0"/>
                  </a:cubicBezTo>
                  <a:lnTo>
                    <a:pt x="5370413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0" y="0"/>
              <a:ext cx="5370413" cy="6041715"/>
            </a:xfrm>
            <a:custGeom>
              <a:avLst/>
              <a:gdLst/>
              <a:ahLst/>
              <a:cxnLst/>
              <a:rect l="l" t="t" r="r" b="b"/>
              <a:pathLst>
                <a:path w="5370413" h="6041715">
                  <a:moveTo>
                    <a:pt x="5370413" y="0"/>
                  </a:moveTo>
                  <a:lnTo>
                    <a:pt x="5370413" y="6041715"/>
                  </a:lnTo>
                  <a:cubicBezTo>
                    <a:pt x="3580275" y="4027810"/>
                    <a:pt x="1790138" y="2013905"/>
                    <a:pt x="0" y="0"/>
                  </a:cubicBezTo>
                  <a:lnTo>
                    <a:pt x="5370413" y="0"/>
                  </a:lnTo>
                  <a:close/>
                </a:path>
              </a:pathLst>
            </a:custGeom>
            <a:blipFill>
              <a:blip r:embed="rId5"/>
              <a:stretch>
                <a:fillRect l="-34427" r="-34427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-3950263" y="803081"/>
            <a:ext cx="15795132" cy="2258023"/>
            <a:chOff x="0" y="0"/>
            <a:chExt cx="1530989" cy="21886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530989" cy="218865"/>
            </a:xfrm>
            <a:custGeom>
              <a:avLst/>
              <a:gdLst/>
              <a:ahLst/>
              <a:cxnLst/>
              <a:rect l="l" t="t" r="r" b="b"/>
              <a:pathLst>
                <a:path w="1530989" h="218865">
                  <a:moveTo>
                    <a:pt x="1327789" y="0"/>
                  </a:moveTo>
                  <a:lnTo>
                    <a:pt x="0" y="0"/>
                  </a:lnTo>
                  <a:lnTo>
                    <a:pt x="203200" y="218865"/>
                  </a:lnTo>
                  <a:lnTo>
                    <a:pt x="1530989" y="218865"/>
                  </a:lnTo>
                  <a:lnTo>
                    <a:pt x="1327789" y="0"/>
                  </a:lnTo>
                  <a:close/>
                </a:path>
              </a:pathLst>
            </a:custGeom>
            <a:solidFill>
              <a:srgbClr val="010101"/>
            </a:solidFill>
            <a:ln cap="sq">
              <a:noFill/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1600" y="-19050"/>
              <a:ext cx="1327789" cy="2379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52400" y="1347095"/>
            <a:ext cx="10058400" cy="10912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8872"/>
              </a:lnSpc>
              <a:spcBef>
                <a:spcPct val="0"/>
              </a:spcBef>
            </a:pPr>
            <a:r>
              <a:rPr lang="en-US" sz="6429" spc="51" dirty="0">
                <a:solidFill>
                  <a:srgbClr val="FFFFFF"/>
                </a:solidFill>
                <a:latin typeface="Archivo Black"/>
                <a:ea typeface="Archivo Black"/>
              </a:rPr>
              <a:t>3차 </a:t>
            </a:r>
            <a:r>
              <a:rPr lang="en-US" sz="6429" spc="51" dirty="0" err="1">
                <a:solidFill>
                  <a:srgbClr val="FFFFFF"/>
                </a:solidFill>
                <a:latin typeface="Archivo Black"/>
                <a:ea typeface="Archivo Black"/>
              </a:rPr>
              <a:t>프로젝트</a:t>
            </a:r>
            <a:r>
              <a:rPr lang="en-US" sz="6429" spc="51" dirty="0">
                <a:solidFill>
                  <a:srgbClr val="FFFFFF"/>
                </a:solidFill>
                <a:latin typeface="Archivo Black"/>
                <a:ea typeface="Archivo Black"/>
              </a:rPr>
              <a:t> </a:t>
            </a:r>
            <a:r>
              <a:rPr lang="en-US" sz="6429" spc="51" dirty="0" err="1">
                <a:solidFill>
                  <a:srgbClr val="FFFFFF"/>
                </a:solidFill>
                <a:latin typeface="Archivo Black"/>
                <a:ea typeface="Archivo Black"/>
              </a:rPr>
              <a:t>주제</a:t>
            </a:r>
            <a:r>
              <a:rPr lang="en-US" sz="6429" spc="51" dirty="0">
                <a:solidFill>
                  <a:srgbClr val="FFFFFF"/>
                </a:solidFill>
                <a:latin typeface="Archivo Black"/>
                <a:ea typeface="Archivo Black"/>
              </a:rPr>
              <a:t> 및 </a:t>
            </a:r>
            <a:r>
              <a:rPr lang="en-US" sz="6429" spc="51" dirty="0" err="1">
                <a:solidFill>
                  <a:srgbClr val="FFFFFF"/>
                </a:solidFill>
                <a:latin typeface="Archivo Black"/>
                <a:ea typeface="Archivo Black"/>
              </a:rPr>
              <a:t>목표</a:t>
            </a:r>
            <a:endParaRPr lang="en-US" sz="6429" spc="51" dirty="0">
              <a:solidFill>
                <a:srgbClr val="FFFFFF"/>
              </a:solidFill>
              <a:latin typeface="Archivo Black"/>
              <a:ea typeface="Archivo Black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3517497" y="5729455"/>
            <a:ext cx="9873830" cy="33188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7"/>
              </a:lnSpc>
            </a:pPr>
            <a:r>
              <a:rPr lang="en-US" sz="2736" spc="268" dirty="0">
                <a:solidFill>
                  <a:srgbClr val="231F20"/>
                </a:solidFill>
                <a:latin typeface="210 밀레니얼"/>
                <a:ea typeface="210 밀레니얼"/>
              </a:rPr>
              <a:t> 1. </a:t>
            </a:r>
            <a:r>
              <a:rPr lang="en-US" sz="2736" spc="268" dirty="0" err="1">
                <a:solidFill>
                  <a:srgbClr val="231F20"/>
                </a:solidFill>
                <a:latin typeface="210 밀레니얼"/>
                <a:ea typeface="210 밀레니얼"/>
              </a:rPr>
              <a:t>쾌적한</a:t>
            </a:r>
            <a:r>
              <a:rPr lang="en-US" sz="2736" spc="268" dirty="0">
                <a:solidFill>
                  <a:srgbClr val="231F20"/>
                </a:solidFill>
                <a:latin typeface="210 밀레니얼"/>
                <a:ea typeface="210 밀레니얼"/>
              </a:rPr>
              <a:t> </a:t>
            </a:r>
            <a:r>
              <a:rPr lang="en-US" sz="2736" spc="268" dirty="0" err="1">
                <a:solidFill>
                  <a:srgbClr val="231F20"/>
                </a:solidFill>
                <a:latin typeface="210 밀레니얼"/>
                <a:ea typeface="210 밀레니얼"/>
              </a:rPr>
              <a:t>실내</a:t>
            </a:r>
            <a:r>
              <a:rPr lang="en-US" sz="2736" spc="268" dirty="0">
                <a:solidFill>
                  <a:srgbClr val="231F20"/>
                </a:solidFill>
                <a:latin typeface="210 밀레니얼"/>
                <a:ea typeface="210 밀레니얼"/>
              </a:rPr>
              <a:t> </a:t>
            </a:r>
            <a:r>
              <a:rPr lang="en-US" sz="2736" spc="268" dirty="0" err="1">
                <a:solidFill>
                  <a:srgbClr val="231F20"/>
                </a:solidFill>
                <a:latin typeface="210 밀레니얼"/>
                <a:ea typeface="210 밀레니얼"/>
              </a:rPr>
              <a:t>환경</a:t>
            </a:r>
            <a:r>
              <a:rPr lang="en-US" sz="2736" spc="268" dirty="0">
                <a:solidFill>
                  <a:srgbClr val="231F20"/>
                </a:solidFill>
                <a:latin typeface="210 밀레니얼"/>
                <a:ea typeface="210 밀레니얼"/>
              </a:rPr>
              <a:t> </a:t>
            </a:r>
            <a:r>
              <a:rPr lang="en-US" sz="2736" spc="268" dirty="0" err="1">
                <a:solidFill>
                  <a:srgbClr val="231F20"/>
                </a:solidFill>
                <a:latin typeface="210 밀레니얼"/>
                <a:ea typeface="210 밀레니얼"/>
              </a:rPr>
              <a:t>유지</a:t>
            </a:r>
            <a:endParaRPr lang="en-US" sz="2736" spc="268" dirty="0">
              <a:solidFill>
                <a:srgbClr val="231F20"/>
              </a:solidFill>
              <a:latin typeface="210 밀레니얼"/>
              <a:ea typeface="210 밀레니얼"/>
            </a:endParaRPr>
          </a:p>
          <a:p>
            <a:pPr algn="l">
              <a:lnSpc>
                <a:spcPts val="3777"/>
              </a:lnSpc>
            </a:pPr>
            <a:endParaRPr lang="en-US" sz="2736" spc="268" dirty="0">
              <a:solidFill>
                <a:srgbClr val="231F20"/>
              </a:solidFill>
              <a:latin typeface="210 밀레니얼"/>
              <a:ea typeface="210 밀레니얼"/>
            </a:endParaRPr>
          </a:p>
          <a:p>
            <a:pPr algn="l">
              <a:lnSpc>
                <a:spcPts val="3777"/>
              </a:lnSpc>
            </a:pPr>
            <a:r>
              <a:rPr lang="en-US" sz="2736" spc="268" dirty="0">
                <a:solidFill>
                  <a:srgbClr val="231F20"/>
                </a:solidFill>
                <a:latin typeface="210 밀레니얼"/>
                <a:ea typeface="210 밀레니얼"/>
              </a:rPr>
              <a:t>2.기계장치의 </a:t>
            </a:r>
            <a:r>
              <a:rPr lang="en-US" sz="2736" spc="268" dirty="0" err="1">
                <a:solidFill>
                  <a:srgbClr val="231F20"/>
                </a:solidFill>
                <a:latin typeface="210 밀레니얼"/>
                <a:ea typeface="210 밀레니얼"/>
              </a:rPr>
              <a:t>과열을</a:t>
            </a:r>
            <a:r>
              <a:rPr lang="en-US" sz="2736" spc="268" dirty="0">
                <a:solidFill>
                  <a:srgbClr val="231F20"/>
                </a:solidFill>
                <a:latin typeface="210 밀레니얼"/>
                <a:ea typeface="210 밀레니얼"/>
              </a:rPr>
              <a:t> </a:t>
            </a:r>
            <a:r>
              <a:rPr lang="en-US" sz="2736" spc="268" dirty="0" err="1">
                <a:solidFill>
                  <a:srgbClr val="231F20"/>
                </a:solidFill>
                <a:latin typeface="210 밀레니얼"/>
                <a:ea typeface="210 밀레니얼"/>
              </a:rPr>
              <a:t>방지</a:t>
            </a:r>
            <a:endParaRPr lang="en-US" sz="2736" spc="268" dirty="0">
              <a:solidFill>
                <a:srgbClr val="231F20"/>
              </a:solidFill>
              <a:latin typeface="210 밀레니얼"/>
              <a:ea typeface="210 밀레니얼"/>
            </a:endParaRPr>
          </a:p>
          <a:p>
            <a:pPr algn="l">
              <a:lnSpc>
                <a:spcPts val="3777"/>
              </a:lnSpc>
            </a:pPr>
            <a:endParaRPr lang="en-US" sz="2736" spc="268" dirty="0">
              <a:solidFill>
                <a:srgbClr val="231F20"/>
              </a:solidFill>
              <a:latin typeface="210 밀레니얼"/>
              <a:ea typeface="210 밀레니얼"/>
            </a:endParaRPr>
          </a:p>
          <a:p>
            <a:pPr algn="l">
              <a:lnSpc>
                <a:spcPts val="3777"/>
              </a:lnSpc>
            </a:pPr>
            <a:r>
              <a:rPr lang="en-US" sz="2736" spc="268" dirty="0">
                <a:solidFill>
                  <a:srgbClr val="231F20"/>
                </a:solidFill>
                <a:latin typeface="210 밀레니얼"/>
                <a:ea typeface="210 밀레니얼"/>
              </a:rPr>
              <a:t>3. </a:t>
            </a:r>
            <a:r>
              <a:rPr lang="en-US" sz="2736" spc="268" dirty="0" err="1">
                <a:solidFill>
                  <a:srgbClr val="231F20"/>
                </a:solidFill>
                <a:latin typeface="210 밀레니얼"/>
                <a:ea typeface="210 밀레니얼"/>
              </a:rPr>
              <a:t>화재</a:t>
            </a:r>
            <a:r>
              <a:rPr lang="en-US" sz="2736" spc="268" dirty="0">
                <a:solidFill>
                  <a:srgbClr val="231F20"/>
                </a:solidFill>
                <a:latin typeface="210 밀레니얼"/>
                <a:ea typeface="210 밀레니얼"/>
              </a:rPr>
              <a:t> </a:t>
            </a:r>
            <a:r>
              <a:rPr lang="en-US" sz="2736" spc="268" dirty="0" err="1">
                <a:solidFill>
                  <a:srgbClr val="231F20"/>
                </a:solidFill>
                <a:latin typeface="210 밀레니얼"/>
                <a:ea typeface="210 밀레니얼"/>
              </a:rPr>
              <a:t>위험성</a:t>
            </a:r>
            <a:r>
              <a:rPr lang="en-US" sz="2736" spc="268" dirty="0">
                <a:solidFill>
                  <a:srgbClr val="231F20"/>
                </a:solidFill>
                <a:latin typeface="210 밀레니얼"/>
                <a:ea typeface="210 밀레니얼"/>
              </a:rPr>
              <a:t> </a:t>
            </a:r>
            <a:r>
              <a:rPr lang="en-US" sz="2736" spc="268" dirty="0" err="1">
                <a:solidFill>
                  <a:srgbClr val="231F20"/>
                </a:solidFill>
                <a:latin typeface="210 밀레니얼"/>
                <a:ea typeface="210 밀레니얼"/>
              </a:rPr>
              <a:t>여부</a:t>
            </a:r>
            <a:r>
              <a:rPr lang="en-US" sz="2736" spc="268" dirty="0">
                <a:solidFill>
                  <a:srgbClr val="231F20"/>
                </a:solidFill>
                <a:latin typeface="210 밀레니얼"/>
                <a:ea typeface="210 밀레니얼"/>
              </a:rPr>
              <a:t> </a:t>
            </a:r>
            <a:r>
              <a:rPr lang="en-US" sz="2736" spc="268" dirty="0" err="1">
                <a:solidFill>
                  <a:srgbClr val="231F20"/>
                </a:solidFill>
                <a:latin typeface="210 밀레니얼"/>
                <a:ea typeface="210 밀레니얼"/>
              </a:rPr>
              <a:t>체크</a:t>
            </a:r>
            <a:r>
              <a:rPr lang="en-US" sz="2736" spc="268" dirty="0">
                <a:solidFill>
                  <a:srgbClr val="231F20"/>
                </a:solidFill>
                <a:latin typeface="210 밀레니얼"/>
                <a:ea typeface="210 밀레니얼"/>
              </a:rPr>
              <a:t> 및 </a:t>
            </a:r>
            <a:r>
              <a:rPr lang="en-US" sz="2736" spc="268" dirty="0" err="1">
                <a:solidFill>
                  <a:srgbClr val="231F20"/>
                </a:solidFill>
                <a:latin typeface="210 밀레니얼"/>
                <a:ea typeface="210 밀레니얼"/>
              </a:rPr>
              <a:t>예방</a:t>
            </a:r>
            <a:endParaRPr lang="en-US" sz="2736" spc="268" dirty="0">
              <a:solidFill>
                <a:srgbClr val="231F20"/>
              </a:solidFill>
              <a:latin typeface="210 밀레니얼"/>
              <a:ea typeface="210 밀레니얼"/>
            </a:endParaRPr>
          </a:p>
          <a:p>
            <a:pPr algn="l">
              <a:lnSpc>
                <a:spcPts val="3777"/>
              </a:lnSpc>
            </a:pPr>
            <a:endParaRPr lang="en-US" sz="2736" spc="268" dirty="0">
              <a:solidFill>
                <a:srgbClr val="231F20"/>
              </a:solidFill>
              <a:latin typeface="210 밀레니얼"/>
              <a:ea typeface="210 밀레니얼"/>
            </a:endParaRPr>
          </a:p>
          <a:p>
            <a:pPr algn="l">
              <a:lnSpc>
                <a:spcPts val="3777"/>
              </a:lnSpc>
              <a:spcBef>
                <a:spcPct val="0"/>
              </a:spcBef>
            </a:pPr>
            <a:r>
              <a:rPr lang="en-US" sz="2736" spc="268" dirty="0">
                <a:solidFill>
                  <a:srgbClr val="231F20"/>
                </a:solidFill>
                <a:latin typeface="210 밀레니얼"/>
                <a:ea typeface="210 밀레니얼"/>
              </a:rPr>
              <a:t>4. </a:t>
            </a:r>
            <a:r>
              <a:rPr lang="en-US" sz="2736" spc="268" dirty="0" err="1">
                <a:solidFill>
                  <a:srgbClr val="231F20"/>
                </a:solidFill>
                <a:latin typeface="210 밀레니얼"/>
                <a:ea typeface="210 밀레니얼"/>
              </a:rPr>
              <a:t>불쾌지수를</a:t>
            </a:r>
            <a:r>
              <a:rPr lang="en-US" sz="2736" spc="268" dirty="0">
                <a:solidFill>
                  <a:srgbClr val="231F20"/>
                </a:solidFill>
                <a:latin typeface="210 밀레니얼"/>
                <a:ea typeface="210 밀레니얼"/>
              </a:rPr>
              <a:t> </a:t>
            </a:r>
            <a:r>
              <a:rPr lang="en-US" sz="2736" spc="268" dirty="0" err="1">
                <a:solidFill>
                  <a:srgbClr val="231F20"/>
                </a:solidFill>
                <a:latin typeface="210 밀레니얼"/>
                <a:ea typeface="210 밀레니얼"/>
              </a:rPr>
              <a:t>활용한</a:t>
            </a:r>
            <a:r>
              <a:rPr lang="en-US" sz="2736" spc="268" dirty="0">
                <a:solidFill>
                  <a:srgbClr val="231F20"/>
                </a:solidFill>
                <a:latin typeface="210 밀레니얼"/>
                <a:ea typeface="210 밀레니얼"/>
              </a:rPr>
              <a:t> </a:t>
            </a:r>
            <a:r>
              <a:rPr lang="en-US" sz="2736" spc="268" dirty="0" err="1">
                <a:solidFill>
                  <a:srgbClr val="231F20"/>
                </a:solidFill>
                <a:latin typeface="210 밀레니얼"/>
                <a:ea typeface="210 밀레니얼"/>
              </a:rPr>
              <a:t>말들의</a:t>
            </a:r>
            <a:r>
              <a:rPr lang="en-US" sz="2736" spc="268" dirty="0">
                <a:solidFill>
                  <a:srgbClr val="231F20"/>
                </a:solidFill>
                <a:latin typeface="210 밀레니얼"/>
                <a:ea typeface="210 밀레니얼"/>
              </a:rPr>
              <a:t> </a:t>
            </a:r>
            <a:r>
              <a:rPr lang="en-US" sz="2736" spc="268" dirty="0" err="1">
                <a:solidFill>
                  <a:srgbClr val="231F20"/>
                </a:solidFill>
                <a:latin typeface="210 밀레니얼"/>
                <a:ea typeface="210 밀레니얼"/>
              </a:rPr>
              <a:t>컨디션</a:t>
            </a:r>
            <a:r>
              <a:rPr lang="en-US" sz="2736" spc="268" dirty="0">
                <a:solidFill>
                  <a:srgbClr val="231F20"/>
                </a:solidFill>
                <a:latin typeface="210 밀레니얼"/>
                <a:ea typeface="210 밀레니얼"/>
              </a:rPr>
              <a:t> </a:t>
            </a:r>
            <a:r>
              <a:rPr lang="en-US" sz="2736" spc="268" dirty="0" err="1">
                <a:solidFill>
                  <a:srgbClr val="231F20"/>
                </a:solidFill>
                <a:latin typeface="210 밀레니얼"/>
                <a:ea typeface="210 밀레니얼"/>
              </a:rPr>
              <a:t>관리</a:t>
            </a:r>
            <a:endParaRPr lang="en-US" sz="2736" spc="268" dirty="0">
              <a:solidFill>
                <a:srgbClr val="231F20"/>
              </a:solidFill>
              <a:latin typeface="210 밀레니얼"/>
              <a:ea typeface="210 밀레니얼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918395" y="3757836"/>
            <a:ext cx="11629063" cy="1173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79"/>
              </a:lnSpc>
              <a:spcBef>
                <a:spcPct val="0"/>
              </a:spcBef>
            </a:pPr>
            <a:r>
              <a:rPr lang="en-US" sz="3599">
                <a:solidFill>
                  <a:srgbClr val="000000"/>
                </a:solidFill>
                <a:latin typeface="210 밀레니얼"/>
                <a:ea typeface="210 밀레니얼"/>
              </a:rPr>
              <a:t>"한국 마사회 실내센서 데이터를 활용한 </a:t>
            </a:r>
          </a:p>
          <a:p>
            <a:pPr algn="l">
              <a:lnSpc>
                <a:spcPts val="4679"/>
              </a:lnSpc>
              <a:spcBef>
                <a:spcPct val="0"/>
              </a:spcBef>
            </a:pPr>
            <a:r>
              <a:rPr lang="en-US" sz="3599">
                <a:solidFill>
                  <a:srgbClr val="000000"/>
                </a:solidFill>
                <a:latin typeface="210 밀레니얼"/>
                <a:ea typeface="210 밀레니얼"/>
              </a:rPr>
              <a:t>                      실내환경 개선 및 안전관리 시스템 구축"</a:t>
            </a: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AF0580C8-F511-48BB-ABD9-FB07B44D545D}"/>
              </a:ext>
            </a:extLst>
          </p:cNvPr>
          <p:cNvCxnSpPr>
            <a:cxnSpLocks/>
          </p:cNvCxnSpPr>
          <p:nvPr/>
        </p:nvCxnSpPr>
        <p:spPr>
          <a:xfrm>
            <a:off x="4038600" y="6286500"/>
            <a:ext cx="3902259" cy="0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0422BF40-00A6-4E8E-83C6-A67320518534}"/>
              </a:ext>
            </a:extLst>
          </p:cNvPr>
          <p:cNvCxnSpPr>
            <a:cxnSpLocks/>
          </p:cNvCxnSpPr>
          <p:nvPr/>
        </p:nvCxnSpPr>
        <p:spPr>
          <a:xfrm>
            <a:off x="3962400" y="7277100"/>
            <a:ext cx="3978459" cy="0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EBBA69B2-A620-48C9-A047-4F959B0E42ED}"/>
              </a:ext>
            </a:extLst>
          </p:cNvPr>
          <p:cNvCxnSpPr>
            <a:cxnSpLocks/>
          </p:cNvCxnSpPr>
          <p:nvPr/>
        </p:nvCxnSpPr>
        <p:spPr>
          <a:xfrm>
            <a:off x="4038600" y="8191500"/>
            <a:ext cx="5181600" cy="0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33744BBC-BCC9-44E2-8B5D-A814133152A0}"/>
              </a:ext>
            </a:extLst>
          </p:cNvPr>
          <p:cNvCxnSpPr>
            <a:cxnSpLocks/>
          </p:cNvCxnSpPr>
          <p:nvPr/>
        </p:nvCxnSpPr>
        <p:spPr>
          <a:xfrm>
            <a:off x="4038600" y="9182100"/>
            <a:ext cx="6477000" cy="0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665084" y="4300495"/>
            <a:ext cx="2919001" cy="2919001"/>
          </a:xfrm>
          <a:custGeom>
            <a:avLst/>
            <a:gdLst/>
            <a:ahLst/>
            <a:cxnLst/>
            <a:rect l="l" t="t" r="r" b="b"/>
            <a:pathLst>
              <a:path w="2919001" h="2919001">
                <a:moveTo>
                  <a:pt x="0" y="0"/>
                </a:moveTo>
                <a:lnTo>
                  <a:pt x="2919001" y="0"/>
                </a:lnTo>
                <a:lnTo>
                  <a:pt x="2919001" y="2919000"/>
                </a:lnTo>
                <a:lnTo>
                  <a:pt x="0" y="2919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070215" y="2490746"/>
            <a:ext cx="2386507" cy="2386507"/>
          </a:xfrm>
          <a:custGeom>
            <a:avLst/>
            <a:gdLst/>
            <a:ahLst/>
            <a:cxnLst/>
            <a:rect l="l" t="t" r="r" b="b"/>
            <a:pathLst>
              <a:path w="2386507" h="2386507">
                <a:moveTo>
                  <a:pt x="0" y="0"/>
                </a:moveTo>
                <a:lnTo>
                  <a:pt x="2386508" y="0"/>
                </a:lnTo>
                <a:lnTo>
                  <a:pt x="2386508" y="2386507"/>
                </a:lnTo>
                <a:lnTo>
                  <a:pt x="0" y="23865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6790828" y="4877253"/>
            <a:ext cx="6184137" cy="2342242"/>
          </a:xfrm>
          <a:custGeom>
            <a:avLst/>
            <a:gdLst/>
            <a:ahLst/>
            <a:cxnLst/>
            <a:rect l="l" t="t" r="r" b="b"/>
            <a:pathLst>
              <a:path w="6184137" h="2342242">
                <a:moveTo>
                  <a:pt x="0" y="0"/>
                </a:moveTo>
                <a:lnTo>
                  <a:pt x="6184137" y="0"/>
                </a:lnTo>
                <a:lnTo>
                  <a:pt x="6184137" y="2342242"/>
                </a:lnTo>
                <a:lnTo>
                  <a:pt x="0" y="234224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908242" y="6664085"/>
            <a:ext cx="2942123" cy="2942123"/>
          </a:xfrm>
          <a:custGeom>
            <a:avLst/>
            <a:gdLst/>
            <a:ahLst/>
            <a:cxnLst/>
            <a:rect l="l" t="t" r="r" b="b"/>
            <a:pathLst>
              <a:path w="2942123" h="2942123">
                <a:moveTo>
                  <a:pt x="0" y="0"/>
                </a:moveTo>
                <a:lnTo>
                  <a:pt x="2942123" y="0"/>
                </a:lnTo>
                <a:lnTo>
                  <a:pt x="2942123" y="2942124"/>
                </a:lnTo>
                <a:lnTo>
                  <a:pt x="0" y="294212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3293443" y="8618312"/>
            <a:ext cx="1473702" cy="736851"/>
          </a:xfrm>
          <a:custGeom>
            <a:avLst/>
            <a:gdLst/>
            <a:ahLst/>
            <a:cxnLst/>
            <a:rect l="l" t="t" r="r" b="b"/>
            <a:pathLst>
              <a:path w="1473702" h="736851">
                <a:moveTo>
                  <a:pt x="0" y="0"/>
                </a:moveTo>
                <a:lnTo>
                  <a:pt x="1473702" y="0"/>
                </a:lnTo>
                <a:lnTo>
                  <a:pt x="1473702" y="736851"/>
                </a:lnTo>
                <a:lnTo>
                  <a:pt x="0" y="73685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2974965" y="6412359"/>
            <a:ext cx="2205953" cy="2205953"/>
          </a:xfrm>
          <a:custGeom>
            <a:avLst/>
            <a:gdLst/>
            <a:ahLst/>
            <a:cxnLst/>
            <a:rect l="l" t="t" r="r" b="b"/>
            <a:pathLst>
              <a:path w="2205953" h="2205953">
                <a:moveTo>
                  <a:pt x="0" y="0"/>
                </a:moveTo>
                <a:lnTo>
                  <a:pt x="2205953" y="0"/>
                </a:lnTo>
                <a:lnTo>
                  <a:pt x="2205953" y="2205953"/>
                </a:lnTo>
                <a:lnTo>
                  <a:pt x="0" y="220595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-4366934" y="0"/>
            <a:ext cx="28230571" cy="2051956"/>
            <a:chOff x="0" y="0"/>
            <a:chExt cx="1800222" cy="13085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800222" cy="130850"/>
            </a:xfrm>
            <a:custGeom>
              <a:avLst/>
              <a:gdLst/>
              <a:ahLst/>
              <a:cxnLst/>
              <a:rect l="l" t="t" r="r" b="b"/>
              <a:pathLst>
                <a:path w="1800222" h="130850">
                  <a:moveTo>
                    <a:pt x="1597022" y="0"/>
                  </a:moveTo>
                  <a:lnTo>
                    <a:pt x="0" y="0"/>
                  </a:lnTo>
                  <a:lnTo>
                    <a:pt x="203200" y="130850"/>
                  </a:lnTo>
                  <a:lnTo>
                    <a:pt x="1800222" y="130850"/>
                  </a:lnTo>
                  <a:lnTo>
                    <a:pt x="1597022" y="0"/>
                  </a:lnTo>
                  <a:close/>
                </a:path>
              </a:pathLst>
            </a:custGeom>
            <a:solidFill>
              <a:srgbClr val="010101"/>
            </a:solidFill>
            <a:ln cap="sq">
              <a:noFill/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1600" y="-19050"/>
              <a:ext cx="1597022" cy="149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6790828" y="7863667"/>
            <a:ext cx="4132547" cy="1123070"/>
          </a:xfrm>
          <a:custGeom>
            <a:avLst/>
            <a:gdLst/>
            <a:ahLst/>
            <a:cxnLst/>
            <a:rect l="l" t="t" r="r" b="b"/>
            <a:pathLst>
              <a:path w="4132547" h="1123070">
                <a:moveTo>
                  <a:pt x="0" y="0"/>
                </a:moveTo>
                <a:lnTo>
                  <a:pt x="4132547" y="0"/>
                </a:lnTo>
                <a:lnTo>
                  <a:pt x="4132547" y="1123070"/>
                </a:lnTo>
                <a:lnTo>
                  <a:pt x="0" y="112307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6541382" y="2741482"/>
            <a:ext cx="4035080" cy="1198353"/>
          </a:xfrm>
          <a:custGeom>
            <a:avLst/>
            <a:gdLst/>
            <a:ahLst/>
            <a:cxnLst/>
            <a:rect l="l" t="t" r="r" b="b"/>
            <a:pathLst>
              <a:path w="4035080" h="1198353">
                <a:moveTo>
                  <a:pt x="0" y="0"/>
                </a:moveTo>
                <a:lnTo>
                  <a:pt x="4035080" y="0"/>
                </a:lnTo>
                <a:lnTo>
                  <a:pt x="4035080" y="1198353"/>
                </a:lnTo>
                <a:lnTo>
                  <a:pt x="0" y="119835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2182461" y="2389590"/>
            <a:ext cx="2393684" cy="1940442"/>
          </a:xfrm>
          <a:custGeom>
            <a:avLst/>
            <a:gdLst/>
            <a:ahLst/>
            <a:cxnLst/>
            <a:rect l="l" t="t" r="r" b="b"/>
            <a:pathLst>
              <a:path w="2393684" h="1940442">
                <a:moveTo>
                  <a:pt x="0" y="0"/>
                </a:moveTo>
                <a:lnTo>
                  <a:pt x="2393685" y="0"/>
                </a:lnTo>
                <a:lnTo>
                  <a:pt x="2393685" y="1940443"/>
                </a:lnTo>
                <a:lnTo>
                  <a:pt x="0" y="194044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4843251" y="652874"/>
            <a:ext cx="7431342" cy="838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899"/>
              </a:lnSpc>
              <a:spcBef>
                <a:spcPct val="0"/>
              </a:spcBef>
            </a:pPr>
            <a:r>
              <a:rPr lang="en-US" sz="4999" spc="174">
                <a:solidFill>
                  <a:srgbClr val="FFFFFF"/>
                </a:solidFill>
                <a:ea typeface="210 밀레니얼"/>
              </a:rPr>
              <a:t>개발 환경 소개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764344">
            <a:off x="7499531" y="-923721"/>
            <a:ext cx="1088513" cy="11908815"/>
            <a:chOff x="0" y="0"/>
            <a:chExt cx="286687" cy="313647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6687" cy="3136478"/>
            </a:xfrm>
            <a:custGeom>
              <a:avLst/>
              <a:gdLst/>
              <a:ahLst/>
              <a:cxnLst/>
              <a:rect l="l" t="t" r="r" b="b"/>
              <a:pathLst>
                <a:path w="286687" h="3136478">
                  <a:moveTo>
                    <a:pt x="0" y="0"/>
                  </a:moveTo>
                  <a:lnTo>
                    <a:pt x="286687" y="0"/>
                  </a:lnTo>
                  <a:lnTo>
                    <a:pt x="286687" y="3136478"/>
                  </a:lnTo>
                  <a:lnTo>
                    <a:pt x="0" y="3136478"/>
                  </a:lnTo>
                  <a:close/>
                </a:path>
              </a:pathLst>
            </a:custGeom>
            <a:gradFill rotWithShape="1">
              <a:gsLst>
                <a:gs pos="0">
                  <a:srgbClr val="696969">
                    <a:alpha val="41040"/>
                  </a:srgbClr>
                </a:gs>
                <a:gs pos="33333">
                  <a:srgbClr val="B4B4B4">
                    <a:alpha val="47025"/>
                  </a:srgbClr>
                </a:gs>
                <a:gs pos="66667">
                  <a:srgbClr val="EEEEEE">
                    <a:alpha val="40185"/>
                  </a:srgbClr>
                </a:gs>
                <a:gs pos="100000">
                  <a:srgbClr val="FBFBFB">
                    <a:alpha val="1254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286687" cy="31555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42918" y="0"/>
            <a:ext cx="8585708" cy="10287000"/>
            <a:chOff x="0" y="0"/>
            <a:chExt cx="8585708" cy="10287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585708" cy="10287000"/>
            </a:xfrm>
            <a:custGeom>
              <a:avLst/>
              <a:gdLst/>
              <a:ahLst/>
              <a:cxnLst/>
              <a:rect l="l" t="t" r="r" b="b"/>
              <a:pathLst>
                <a:path w="8585708" h="10287000">
                  <a:moveTo>
                    <a:pt x="8585708" y="762"/>
                  </a:moveTo>
                  <a:cubicBezTo>
                    <a:pt x="8581644" y="20447"/>
                    <a:pt x="8577961" y="40132"/>
                    <a:pt x="8573515" y="59690"/>
                  </a:cubicBezTo>
                  <a:cubicBezTo>
                    <a:pt x="8478139" y="485521"/>
                    <a:pt x="8382635" y="911225"/>
                    <a:pt x="8287258" y="1337056"/>
                  </a:cubicBezTo>
                  <a:cubicBezTo>
                    <a:pt x="8146288" y="1966722"/>
                    <a:pt x="8005699" y="2596388"/>
                    <a:pt x="7864601" y="3225927"/>
                  </a:cubicBezTo>
                  <a:cubicBezTo>
                    <a:pt x="7691247" y="3999103"/>
                    <a:pt x="7517384" y="4772152"/>
                    <a:pt x="7344028" y="5545328"/>
                  </a:cubicBezTo>
                  <a:cubicBezTo>
                    <a:pt x="7194676" y="6211443"/>
                    <a:pt x="7045578" y="6877558"/>
                    <a:pt x="6896353" y="7543800"/>
                  </a:cubicBezTo>
                  <a:cubicBezTo>
                    <a:pt x="6765289" y="8129016"/>
                    <a:pt x="6634480" y="8714105"/>
                    <a:pt x="6503162" y="9299194"/>
                  </a:cubicBezTo>
                  <a:cubicBezTo>
                    <a:pt x="6429375" y="9628251"/>
                    <a:pt x="6354953" y="9957181"/>
                    <a:pt x="6280785" y="10286238"/>
                  </a:cubicBezTo>
                  <a:cubicBezTo>
                    <a:pt x="4199382" y="10286238"/>
                    <a:pt x="2118106" y="10286111"/>
                    <a:pt x="36830" y="10287000"/>
                  </a:cubicBezTo>
                  <a:cubicBezTo>
                    <a:pt x="6731" y="10287000"/>
                    <a:pt x="0" y="10280269"/>
                    <a:pt x="0" y="10250043"/>
                  </a:cubicBezTo>
                  <a:cubicBezTo>
                    <a:pt x="762" y="6845681"/>
                    <a:pt x="762" y="3441319"/>
                    <a:pt x="0" y="36957"/>
                  </a:cubicBezTo>
                  <a:cubicBezTo>
                    <a:pt x="0" y="6731"/>
                    <a:pt x="6731" y="0"/>
                    <a:pt x="36830" y="0"/>
                  </a:cubicBezTo>
                  <a:cubicBezTo>
                    <a:pt x="2886456" y="762"/>
                    <a:pt x="5736082" y="762"/>
                    <a:pt x="8585708" y="762"/>
                  </a:cubicBezTo>
                  <a:close/>
                </a:path>
              </a:pathLst>
            </a:custGeom>
            <a:blipFill>
              <a:blip r:embed="rId3"/>
              <a:stretch>
                <a:fillRect l="-39833" r="-39833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1398612" y="695956"/>
            <a:ext cx="16386022" cy="8562344"/>
            <a:chOff x="0" y="0"/>
            <a:chExt cx="4315660" cy="225510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315660" cy="2255103"/>
            </a:xfrm>
            <a:custGeom>
              <a:avLst/>
              <a:gdLst/>
              <a:ahLst/>
              <a:cxnLst/>
              <a:rect l="l" t="t" r="r" b="b"/>
              <a:pathLst>
                <a:path w="4315660" h="2255103">
                  <a:moveTo>
                    <a:pt x="12284" y="0"/>
                  </a:moveTo>
                  <a:lnTo>
                    <a:pt x="4303376" y="0"/>
                  </a:lnTo>
                  <a:cubicBezTo>
                    <a:pt x="4310161" y="0"/>
                    <a:pt x="4315660" y="5500"/>
                    <a:pt x="4315660" y="12284"/>
                  </a:cubicBezTo>
                  <a:lnTo>
                    <a:pt x="4315660" y="2242819"/>
                  </a:lnTo>
                  <a:cubicBezTo>
                    <a:pt x="4315660" y="2246077"/>
                    <a:pt x="4314366" y="2249201"/>
                    <a:pt x="4312062" y="2251505"/>
                  </a:cubicBezTo>
                  <a:cubicBezTo>
                    <a:pt x="4309759" y="2253809"/>
                    <a:pt x="4306634" y="2255103"/>
                    <a:pt x="4303376" y="2255103"/>
                  </a:cubicBezTo>
                  <a:lnTo>
                    <a:pt x="12284" y="2255103"/>
                  </a:lnTo>
                  <a:cubicBezTo>
                    <a:pt x="5500" y="2255103"/>
                    <a:pt x="0" y="2249603"/>
                    <a:pt x="0" y="2242819"/>
                  </a:cubicBezTo>
                  <a:lnTo>
                    <a:pt x="0" y="12284"/>
                  </a:lnTo>
                  <a:cubicBezTo>
                    <a:pt x="0" y="5500"/>
                    <a:pt x="5500" y="0"/>
                    <a:pt x="12284" y="0"/>
                  </a:cubicBezTo>
                  <a:close/>
                </a:path>
              </a:pathLst>
            </a:custGeom>
            <a:solidFill>
              <a:srgbClr val="FFFFFF">
                <a:alpha val="58824"/>
              </a:srgbClr>
            </a:solidFill>
            <a:ln w="38100" cap="rnd">
              <a:solidFill>
                <a:srgbClr val="000000">
                  <a:alpha val="58824"/>
                </a:srgbClr>
              </a:solidFill>
              <a:prstDash val="solid"/>
              <a:round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4315660" cy="22741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10182491" y="5388716"/>
            <a:ext cx="2226474" cy="2750351"/>
          </a:xfrm>
          <a:custGeom>
            <a:avLst/>
            <a:gdLst/>
            <a:ahLst/>
            <a:cxnLst/>
            <a:rect l="l" t="t" r="r" b="b"/>
            <a:pathLst>
              <a:path w="2226474" h="2750351">
                <a:moveTo>
                  <a:pt x="0" y="0"/>
                </a:moveTo>
                <a:lnTo>
                  <a:pt x="2226475" y="0"/>
                </a:lnTo>
                <a:lnTo>
                  <a:pt x="2226475" y="2750351"/>
                </a:lnTo>
                <a:lnTo>
                  <a:pt x="0" y="275035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7023819" y="2394812"/>
            <a:ext cx="1999896" cy="2748688"/>
          </a:xfrm>
          <a:custGeom>
            <a:avLst/>
            <a:gdLst/>
            <a:ahLst/>
            <a:cxnLst/>
            <a:rect l="l" t="t" r="r" b="b"/>
            <a:pathLst>
              <a:path w="1999896" h="2748688">
                <a:moveTo>
                  <a:pt x="0" y="0"/>
                </a:moveTo>
                <a:lnTo>
                  <a:pt x="1999895" y="0"/>
                </a:lnTo>
                <a:lnTo>
                  <a:pt x="1999895" y="2748688"/>
                </a:lnTo>
                <a:lnTo>
                  <a:pt x="0" y="274868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3498" b="-3498"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2596573" y="4977128"/>
            <a:ext cx="2429999" cy="3573527"/>
          </a:xfrm>
          <a:custGeom>
            <a:avLst/>
            <a:gdLst/>
            <a:ahLst/>
            <a:cxnLst/>
            <a:rect l="l" t="t" r="r" b="b"/>
            <a:pathLst>
              <a:path w="2429999" h="3573527">
                <a:moveTo>
                  <a:pt x="0" y="0"/>
                </a:moveTo>
                <a:lnTo>
                  <a:pt x="2429998" y="0"/>
                </a:lnTo>
                <a:lnTo>
                  <a:pt x="2429998" y="3573527"/>
                </a:lnTo>
                <a:lnTo>
                  <a:pt x="0" y="357352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7023819" y="1101867"/>
            <a:ext cx="5354541" cy="1015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280"/>
              </a:lnSpc>
              <a:spcBef>
                <a:spcPct val="0"/>
              </a:spcBef>
            </a:pPr>
            <a:r>
              <a:rPr lang="en-US" sz="6000" spc="210">
                <a:solidFill>
                  <a:srgbClr val="010101"/>
                </a:solidFill>
                <a:ea typeface="210 밀레니얼"/>
              </a:rPr>
              <a:t>팀 구성 및 역할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238356" y="3045121"/>
            <a:ext cx="2706695" cy="4179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8"/>
              </a:lnSpc>
            </a:pPr>
            <a:r>
              <a:rPr lang="en-US" sz="2416" spc="-48">
                <a:solidFill>
                  <a:srgbClr val="010101"/>
                </a:solidFill>
                <a:ea typeface="Montserrat Light Bold"/>
              </a:rPr>
              <a:t>팀장 곽전규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023713" y="3641450"/>
            <a:ext cx="4498429" cy="10233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43424" lvl="1" indent="-221712" algn="l">
              <a:lnSpc>
                <a:spcPts val="2731"/>
              </a:lnSpc>
              <a:buFont typeface="Arial"/>
              <a:buChar char="•"/>
            </a:pPr>
            <a:r>
              <a:rPr lang="en-US" sz="2053" spc="16" dirty="0" err="1">
                <a:solidFill>
                  <a:srgbClr val="010101"/>
                </a:solidFill>
                <a:ea typeface="Montserrat Light"/>
              </a:rPr>
              <a:t>프로젝트</a:t>
            </a:r>
            <a:r>
              <a:rPr lang="en-US" sz="2053" spc="16" dirty="0">
                <a:solidFill>
                  <a:srgbClr val="010101"/>
                </a:solidFill>
                <a:ea typeface="Montserrat Light"/>
              </a:rPr>
              <a:t> </a:t>
            </a:r>
            <a:r>
              <a:rPr lang="en-US" sz="2053" spc="16" dirty="0" err="1">
                <a:solidFill>
                  <a:srgbClr val="010101"/>
                </a:solidFill>
                <a:ea typeface="Montserrat Light"/>
              </a:rPr>
              <a:t>총괄</a:t>
            </a:r>
            <a:endParaRPr lang="en-US" sz="2053" spc="16" dirty="0">
              <a:solidFill>
                <a:srgbClr val="010101"/>
              </a:solidFill>
              <a:ea typeface="Montserrat Light"/>
            </a:endParaRPr>
          </a:p>
          <a:p>
            <a:pPr marL="443424" lvl="1" indent="-221712" algn="l">
              <a:lnSpc>
                <a:spcPts val="2731"/>
              </a:lnSpc>
              <a:buFont typeface="Arial"/>
              <a:buChar char="•"/>
            </a:pPr>
            <a:r>
              <a:rPr lang="en-US" sz="2053" spc="16" dirty="0" err="1">
                <a:solidFill>
                  <a:srgbClr val="010101"/>
                </a:solidFill>
                <a:ea typeface="Montserrat Light"/>
              </a:rPr>
              <a:t>메인화면</a:t>
            </a:r>
            <a:r>
              <a:rPr lang="en-US" sz="2053" spc="16" dirty="0">
                <a:solidFill>
                  <a:srgbClr val="010101"/>
                </a:solidFill>
                <a:ea typeface="Montserrat Light"/>
              </a:rPr>
              <a:t> </a:t>
            </a:r>
            <a:r>
              <a:rPr lang="en-US" sz="2053" spc="16" dirty="0" err="1">
                <a:solidFill>
                  <a:srgbClr val="010101"/>
                </a:solidFill>
                <a:ea typeface="Montserrat Light"/>
              </a:rPr>
              <a:t>레이아웃</a:t>
            </a:r>
            <a:r>
              <a:rPr lang="en-US" sz="2053" spc="16" dirty="0">
                <a:solidFill>
                  <a:srgbClr val="010101"/>
                </a:solidFill>
                <a:ea typeface="Montserrat Light"/>
              </a:rPr>
              <a:t> </a:t>
            </a:r>
            <a:r>
              <a:rPr lang="en-US" sz="2053" spc="16" dirty="0" err="1">
                <a:solidFill>
                  <a:srgbClr val="010101"/>
                </a:solidFill>
                <a:ea typeface="Montserrat Light"/>
              </a:rPr>
              <a:t>설계</a:t>
            </a:r>
            <a:endParaRPr lang="en-US" sz="2053" spc="16" dirty="0">
              <a:solidFill>
                <a:srgbClr val="010101"/>
              </a:solidFill>
              <a:ea typeface="Montserrat Light"/>
            </a:endParaRPr>
          </a:p>
          <a:p>
            <a:pPr marL="443424" lvl="1" indent="-221712" algn="l">
              <a:lnSpc>
                <a:spcPts val="2731"/>
              </a:lnSpc>
              <a:buFont typeface="Arial"/>
              <a:buChar char="•"/>
            </a:pPr>
            <a:r>
              <a:rPr lang="en-US" sz="2053" spc="16" dirty="0" err="1">
                <a:solidFill>
                  <a:srgbClr val="010101"/>
                </a:solidFill>
                <a:ea typeface="Montserrat Light"/>
              </a:rPr>
              <a:t>실효습도</a:t>
            </a:r>
            <a:r>
              <a:rPr lang="en-US" sz="2053" spc="16" dirty="0">
                <a:solidFill>
                  <a:srgbClr val="010101"/>
                </a:solidFill>
                <a:ea typeface="Montserrat Light"/>
              </a:rPr>
              <a:t> </a:t>
            </a:r>
            <a:r>
              <a:rPr lang="en-US" sz="2053" spc="16" dirty="0" err="1">
                <a:solidFill>
                  <a:srgbClr val="010101"/>
                </a:solidFill>
                <a:ea typeface="Montserrat Light"/>
              </a:rPr>
              <a:t>상세</a:t>
            </a:r>
            <a:r>
              <a:rPr lang="en-US" sz="2053" spc="16" dirty="0">
                <a:solidFill>
                  <a:srgbClr val="010101"/>
                </a:solidFill>
                <a:ea typeface="Montserrat Light"/>
              </a:rPr>
              <a:t> </a:t>
            </a:r>
            <a:r>
              <a:rPr lang="en-US" sz="2053" spc="16" dirty="0" err="1">
                <a:solidFill>
                  <a:srgbClr val="010101"/>
                </a:solidFill>
                <a:ea typeface="Montserrat Light"/>
              </a:rPr>
              <a:t>페이지</a:t>
            </a:r>
            <a:r>
              <a:rPr lang="en-US" sz="2053" spc="16" dirty="0">
                <a:solidFill>
                  <a:srgbClr val="010101"/>
                </a:solidFill>
                <a:ea typeface="Montserrat Light"/>
              </a:rPr>
              <a:t> </a:t>
            </a:r>
            <a:r>
              <a:rPr lang="en-US" sz="2053" spc="16" dirty="0" err="1">
                <a:solidFill>
                  <a:srgbClr val="010101"/>
                </a:solidFill>
                <a:ea typeface="Montserrat Light"/>
              </a:rPr>
              <a:t>구상</a:t>
            </a:r>
            <a:r>
              <a:rPr lang="en-US" sz="2053" spc="16" dirty="0">
                <a:solidFill>
                  <a:srgbClr val="010101"/>
                </a:solidFill>
                <a:ea typeface="Montserrat Light"/>
              </a:rPr>
              <a:t> 및 </a:t>
            </a:r>
            <a:r>
              <a:rPr lang="en-US" sz="2053" spc="16" dirty="0" err="1">
                <a:solidFill>
                  <a:srgbClr val="010101"/>
                </a:solidFill>
                <a:ea typeface="Montserrat Light"/>
              </a:rPr>
              <a:t>구현</a:t>
            </a:r>
            <a:endParaRPr lang="en-US" sz="2053" spc="16" dirty="0">
              <a:solidFill>
                <a:srgbClr val="010101"/>
              </a:solidFill>
              <a:ea typeface="Montserrat Light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5172810" y="5972653"/>
            <a:ext cx="2706695" cy="4179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8"/>
              </a:lnSpc>
            </a:pPr>
            <a:r>
              <a:rPr lang="en-US" sz="2416">
                <a:solidFill>
                  <a:srgbClr val="010101"/>
                </a:solidFill>
                <a:ea typeface="Montserrat Light Bold"/>
              </a:rPr>
              <a:t>팀원 주진솔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026570" y="6609669"/>
            <a:ext cx="4498429" cy="6804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43424" lvl="1" indent="-221712" algn="l">
              <a:lnSpc>
                <a:spcPts val="2731"/>
              </a:lnSpc>
              <a:buFont typeface="Arial"/>
              <a:buChar char="•"/>
            </a:pPr>
            <a:r>
              <a:rPr lang="en-US" sz="2053" spc="16" dirty="0" err="1">
                <a:solidFill>
                  <a:srgbClr val="010101"/>
                </a:solidFill>
                <a:ea typeface="Montserrat Light"/>
              </a:rPr>
              <a:t>불쾌지수</a:t>
            </a:r>
            <a:r>
              <a:rPr lang="en-US" sz="2053" spc="16" dirty="0">
                <a:solidFill>
                  <a:srgbClr val="010101"/>
                </a:solidFill>
                <a:ea typeface="Montserrat Light"/>
              </a:rPr>
              <a:t> </a:t>
            </a:r>
            <a:r>
              <a:rPr lang="en-US" sz="2053" spc="16" dirty="0" err="1">
                <a:solidFill>
                  <a:srgbClr val="010101"/>
                </a:solidFill>
                <a:ea typeface="Montserrat Light"/>
              </a:rPr>
              <a:t>상세</a:t>
            </a:r>
            <a:r>
              <a:rPr lang="en-US" sz="2053" spc="16" dirty="0">
                <a:solidFill>
                  <a:srgbClr val="010101"/>
                </a:solidFill>
                <a:ea typeface="Montserrat Light"/>
              </a:rPr>
              <a:t> </a:t>
            </a:r>
            <a:r>
              <a:rPr lang="en-US" sz="2053" spc="16" dirty="0" err="1">
                <a:solidFill>
                  <a:srgbClr val="010101"/>
                </a:solidFill>
                <a:ea typeface="Montserrat Light"/>
              </a:rPr>
              <a:t>페이지</a:t>
            </a:r>
            <a:r>
              <a:rPr lang="en-US" sz="2053" spc="16" dirty="0">
                <a:solidFill>
                  <a:srgbClr val="010101"/>
                </a:solidFill>
                <a:ea typeface="Montserrat Light"/>
              </a:rPr>
              <a:t> </a:t>
            </a:r>
            <a:r>
              <a:rPr lang="en-US" sz="2053" spc="16" dirty="0" err="1">
                <a:solidFill>
                  <a:srgbClr val="010101"/>
                </a:solidFill>
                <a:ea typeface="Montserrat Light"/>
              </a:rPr>
              <a:t>구상</a:t>
            </a:r>
            <a:r>
              <a:rPr lang="en-US" sz="2053" spc="16" dirty="0">
                <a:solidFill>
                  <a:srgbClr val="010101"/>
                </a:solidFill>
                <a:ea typeface="Montserrat Light"/>
              </a:rPr>
              <a:t> 및 </a:t>
            </a:r>
            <a:r>
              <a:rPr lang="en-US" sz="2053" spc="16" dirty="0" err="1">
                <a:solidFill>
                  <a:srgbClr val="010101"/>
                </a:solidFill>
                <a:ea typeface="Montserrat Light"/>
              </a:rPr>
              <a:t>구현</a:t>
            </a:r>
            <a:endParaRPr lang="en-US" sz="2053" spc="16" dirty="0">
              <a:solidFill>
                <a:srgbClr val="010101"/>
              </a:solidFill>
              <a:ea typeface="Montserrat Light"/>
            </a:endParaRPr>
          </a:p>
          <a:p>
            <a:pPr marL="443424" lvl="1" indent="-221712" algn="l">
              <a:lnSpc>
                <a:spcPts val="2731"/>
              </a:lnSpc>
              <a:buFont typeface="Arial"/>
              <a:buChar char="•"/>
            </a:pPr>
            <a:r>
              <a:rPr lang="en-US" sz="2053" spc="16" dirty="0" err="1">
                <a:solidFill>
                  <a:srgbClr val="010101"/>
                </a:solidFill>
                <a:ea typeface="Montserrat Light"/>
              </a:rPr>
              <a:t>발표준비</a:t>
            </a:r>
            <a:r>
              <a:rPr lang="en-US" sz="2053" spc="16" dirty="0">
                <a:solidFill>
                  <a:srgbClr val="010101"/>
                </a:solidFill>
                <a:ea typeface="Montserrat Light"/>
              </a:rPr>
              <a:t> 및 </a:t>
            </a:r>
            <a:r>
              <a:rPr lang="en-US" sz="2053" spc="16" dirty="0" err="1">
                <a:solidFill>
                  <a:srgbClr val="010101"/>
                </a:solidFill>
                <a:ea typeface="Montserrat Light"/>
              </a:rPr>
              <a:t>발표</a:t>
            </a:r>
            <a:endParaRPr lang="en-US" sz="2053" spc="16" dirty="0">
              <a:solidFill>
                <a:srgbClr val="010101"/>
              </a:solidFill>
              <a:ea typeface="Montserrat Light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2900829" y="6162574"/>
            <a:ext cx="2706695" cy="4179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8"/>
              </a:lnSpc>
            </a:pPr>
            <a:r>
              <a:rPr lang="en-US" sz="2416">
                <a:solidFill>
                  <a:srgbClr val="010101"/>
                </a:solidFill>
                <a:ea typeface="Montserrat Light Bold"/>
              </a:rPr>
              <a:t>팀원 최혜빈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900829" y="6935615"/>
            <a:ext cx="4069598" cy="6804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43424" lvl="1" indent="-221712" algn="l">
              <a:lnSpc>
                <a:spcPts val="2731"/>
              </a:lnSpc>
              <a:buFont typeface="Arial"/>
              <a:buChar char="•"/>
            </a:pPr>
            <a:r>
              <a:rPr lang="en-US" sz="2053" spc="16" dirty="0" err="1">
                <a:solidFill>
                  <a:srgbClr val="010101"/>
                </a:solidFill>
                <a:ea typeface="Montserrat Light"/>
              </a:rPr>
              <a:t>메인</a:t>
            </a:r>
            <a:r>
              <a:rPr lang="en-US" sz="2053" spc="16" dirty="0">
                <a:solidFill>
                  <a:srgbClr val="010101"/>
                </a:solidFill>
                <a:ea typeface="Montserrat Light"/>
              </a:rPr>
              <a:t> </a:t>
            </a:r>
            <a:r>
              <a:rPr lang="en-US" sz="2053" spc="16" dirty="0" err="1">
                <a:solidFill>
                  <a:srgbClr val="010101"/>
                </a:solidFill>
                <a:ea typeface="Montserrat Light"/>
              </a:rPr>
              <a:t>페이지</a:t>
            </a:r>
            <a:r>
              <a:rPr lang="en-US" sz="2053" spc="16" dirty="0">
                <a:solidFill>
                  <a:srgbClr val="010101"/>
                </a:solidFill>
                <a:ea typeface="Montserrat Light"/>
              </a:rPr>
              <a:t> </a:t>
            </a:r>
            <a:r>
              <a:rPr lang="en-US" sz="2053" spc="16" dirty="0" err="1">
                <a:solidFill>
                  <a:srgbClr val="010101"/>
                </a:solidFill>
                <a:ea typeface="Montserrat Light"/>
              </a:rPr>
              <a:t>구상</a:t>
            </a:r>
            <a:r>
              <a:rPr lang="en-US" sz="2053" spc="16" dirty="0">
                <a:solidFill>
                  <a:srgbClr val="010101"/>
                </a:solidFill>
                <a:ea typeface="Montserrat Light"/>
              </a:rPr>
              <a:t> 및 </a:t>
            </a:r>
            <a:r>
              <a:rPr lang="en-US" sz="2053" spc="16" dirty="0" err="1">
                <a:solidFill>
                  <a:srgbClr val="010101"/>
                </a:solidFill>
                <a:ea typeface="Montserrat Light"/>
              </a:rPr>
              <a:t>구현</a:t>
            </a:r>
            <a:endParaRPr lang="en-US" sz="2053" spc="16" dirty="0">
              <a:solidFill>
                <a:srgbClr val="010101"/>
              </a:solidFill>
              <a:ea typeface="Montserrat Light"/>
            </a:endParaRPr>
          </a:p>
          <a:p>
            <a:pPr marL="443424" lvl="1" indent="-221712" algn="l">
              <a:lnSpc>
                <a:spcPts val="2731"/>
              </a:lnSpc>
              <a:buFont typeface="Arial"/>
              <a:buChar char="•"/>
            </a:pPr>
            <a:r>
              <a:rPr lang="en-US" sz="2053" spc="16" dirty="0">
                <a:solidFill>
                  <a:srgbClr val="010101"/>
                </a:solidFill>
                <a:latin typeface="Montserrat Light"/>
                <a:ea typeface="Montserrat Light"/>
              </a:rPr>
              <a:t>ppt </a:t>
            </a:r>
            <a:r>
              <a:rPr lang="en-US" sz="2053" spc="16" dirty="0" err="1">
                <a:solidFill>
                  <a:srgbClr val="010101"/>
                </a:solidFill>
                <a:latin typeface="Montserrat Light"/>
                <a:ea typeface="Montserrat Light"/>
              </a:rPr>
              <a:t>제작</a:t>
            </a:r>
            <a:endParaRPr lang="en-US" sz="2053" spc="16" dirty="0">
              <a:solidFill>
                <a:srgbClr val="010101"/>
              </a:solidFill>
              <a:latin typeface="Montserrat Light"/>
              <a:ea typeface="Montserrat Ligh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3"/>
            <a:stretch>
              <a:fillRect t="-38888" b="-38888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4399429" y="809625"/>
            <a:ext cx="19354610" cy="1903445"/>
            <a:chOff x="0" y="0"/>
            <a:chExt cx="1876002" cy="18449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876002" cy="184497"/>
            </a:xfrm>
            <a:custGeom>
              <a:avLst/>
              <a:gdLst/>
              <a:ahLst/>
              <a:cxnLst/>
              <a:rect l="l" t="t" r="r" b="b"/>
              <a:pathLst>
                <a:path w="1876002" h="184497">
                  <a:moveTo>
                    <a:pt x="1672802" y="0"/>
                  </a:moveTo>
                  <a:lnTo>
                    <a:pt x="0" y="0"/>
                  </a:lnTo>
                  <a:lnTo>
                    <a:pt x="203200" y="184497"/>
                  </a:lnTo>
                  <a:lnTo>
                    <a:pt x="1876002" y="184497"/>
                  </a:lnTo>
                  <a:lnTo>
                    <a:pt x="1672802" y="0"/>
                  </a:lnTo>
                  <a:close/>
                </a:path>
              </a:pathLst>
            </a:custGeom>
            <a:solidFill>
              <a:srgbClr val="010101"/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01600" y="-19050"/>
              <a:ext cx="1672802" cy="2035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3779447" y="4906117"/>
            <a:ext cx="902910" cy="916237"/>
          </a:xfrm>
          <a:custGeom>
            <a:avLst/>
            <a:gdLst/>
            <a:ahLst/>
            <a:cxnLst/>
            <a:rect l="l" t="t" r="r" b="b"/>
            <a:pathLst>
              <a:path w="902910" h="916237">
                <a:moveTo>
                  <a:pt x="0" y="0"/>
                </a:moveTo>
                <a:lnTo>
                  <a:pt x="902910" y="0"/>
                </a:lnTo>
                <a:lnTo>
                  <a:pt x="902910" y="916237"/>
                </a:lnTo>
                <a:lnTo>
                  <a:pt x="0" y="91623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764601" y="883327"/>
            <a:ext cx="9308329" cy="23440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72"/>
              </a:lnSpc>
            </a:pPr>
            <a:r>
              <a:rPr lang="en-US" sz="4545" spc="36">
                <a:solidFill>
                  <a:srgbClr val="FFFFFF"/>
                </a:solidFill>
                <a:ea typeface="210 밀레니얼"/>
              </a:rPr>
              <a:t>수행 절차</a:t>
            </a:r>
          </a:p>
          <a:p>
            <a:pPr algn="l">
              <a:lnSpc>
                <a:spcPts val="6272"/>
              </a:lnSpc>
            </a:pPr>
            <a:r>
              <a:rPr lang="en-US" sz="4545" spc="36">
                <a:solidFill>
                  <a:srgbClr val="FFFFFF"/>
                </a:solidFill>
                <a:latin typeface="210 밀레니얼"/>
                <a:ea typeface="210 밀레니얼"/>
              </a:rPr>
              <a:t>1) 테이블 설계</a:t>
            </a:r>
          </a:p>
          <a:p>
            <a:pPr marL="0" lvl="0" indent="0" algn="l">
              <a:lnSpc>
                <a:spcPts val="6272"/>
              </a:lnSpc>
              <a:spcBef>
                <a:spcPct val="0"/>
              </a:spcBef>
            </a:pPr>
            <a:endParaRPr lang="en-US" sz="4545" spc="36">
              <a:solidFill>
                <a:srgbClr val="FFFFFF"/>
              </a:solidFill>
              <a:latin typeface="210 밀레니얼"/>
              <a:ea typeface="210 밀레니얼"/>
            </a:endParaRPr>
          </a:p>
        </p:txBody>
      </p:sp>
      <p:grpSp>
        <p:nvGrpSpPr>
          <p:cNvPr id="8" name="Group 8"/>
          <p:cNvGrpSpPr/>
          <p:nvPr/>
        </p:nvGrpSpPr>
        <p:grpSpPr>
          <a:xfrm>
            <a:off x="1558300" y="2575326"/>
            <a:ext cx="5689104" cy="275488"/>
            <a:chOff x="0" y="0"/>
            <a:chExt cx="4519796" cy="21886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519796" cy="218865"/>
            </a:xfrm>
            <a:custGeom>
              <a:avLst/>
              <a:gdLst/>
              <a:ahLst/>
              <a:cxnLst/>
              <a:rect l="l" t="t" r="r" b="b"/>
              <a:pathLst>
                <a:path w="4519796" h="218865">
                  <a:moveTo>
                    <a:pt x="4316596" y="0"/>
                  </a:moveTo>
                  <a:lnTo>
                    <a:pt x="0" y="0"/>
                  </a:lnTo>
                  <a:lnTo>
                    <a:pt x="203200" y="218865"/>
                  </a:lnTo>
                  <a:lnTo>
                    <a:pt x="4519796" y="218865"/>
                  </a:lnTo>
                  <a:lnTo>
                    <a:pt x="4316596" y="0"/>
                  </a:lnTo>
                  <a:close/>
                </a:path>
              </a:pathLst>
            </a:custGeom>
            <a:solidFill>
              <a:srgbClr val="727070"/>
            </a:solidFill>
            <a:ln cap="sq">
              <a:noFill/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1600" y="-19050"/>
              <a:ext cx="4316596" cy="2379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2085550" y="-131220"/>
            <a:ext cx="9534019" cy="855519"/>
            <a:chOff x="0" y="0"/>
            <a:chExt cx="1876002" cy="16834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876002" cy="168340"/>
            </a:xfrm>
            <a:custGeom>
              <a:avLst/>
              <a:gdLst/>
              <a:ahLst/>
              <a:cxnLst/>
              <a:rect l="l" t="t" r="r" b="b"/>
              <a:pathLst>
                <a:path w="1876002" h="168340">
                  <a:moveTo>
                    <a:pt x="1672802" y="0"/>
                  </a:moveTo>
                  <a:lnTo>
                    <a:pt x="0" y="0"/>
                  </a:lnTo>
                  <a:lnTo>
                    <a:pt x="203200" y="168340"/>
                  </a:lnTo>
                  <a:lnTo>
                    <a:pt x="1876002" y="168340"/>
                  </a:lnTo>
                  <a:lnTo>
                    <a:pt x="1672802" y="0"/>
                  </a:lnTo>
                  <a:close/>
                </a:path>
              </a:pathLst>
            </a:custGeom>
            <a:solidFill>
              <a:srgbClr val="363636"/>
            </a:solidFill>
            <a:ln cap="sq">
              <a:noFill/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01600" y="-19050"/>
              <a:ext cx="1672802" cy="1873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AutoShape 14"/>
          <p:cNvSpPr/>
          <p:nvPr/>
        </p:nvSpPr>
        <p:spPr>
          <a:xfrm>
            <a:off x="-835741" y="743349"/>
            <a:ext cx="12921291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" name="Freeform 15"/>
          <p:cNvSpPr/>
          <p:nvPr/>
        </p:nvSpPr>
        <p:spPr>
          <a:xfrm>
            <a:off x="3422143" y="3074282"/>
            <a:ext cx="10918631" cy="6667894"/>
          </a:xfrm>
          <a:custGeom>
            <a:avLst/>
            <a:gdLst/>
            <a:ahLst/>
            <a:cxnLst/>
            <a:rect l="l" t="t" r="r" b="b"/>
            <a:pathLst>
              <a:path w="10918631" h="6667894">
                <a:moveTo>
                  <a:pt x="0" y="0"/>
                </a:moveTo>
                <a:lnTo>
                  <a:pt x="10918631" y="0"/>
                </a:lnTo>
                <a:lnTo>
                  <a:pt x="10918631" y="6667895"/>
                </a:lnTo>
                <a:lnTo>
                  <a:pt x="0" y="666789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819" t="-3684" r="-1752" b="-2870"/>
            </a:stretch>
          </a:blipFill>
        </p:spPr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1FC8BAB1-19C3-4E79-B44C-96105D53C3AA}"/>
              </a:ext>
            </a:extLst>
          </p:cNvPr>
          <p:cNvSpPr/>
          <p:nvPr/>
        </p:nvSpPr>
        <p:spPr>
          <a:xfrm>
            <a:off x="4572000" y="3450808"/>
            <a:ext cx="2904004" cy="337140"/>
          </a:xfrm>
          <a:prstGeom prst="round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실효습도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8CF57AE3-240A-4ABA-BF63-2B01E66EB0D9}"/>
              </a:ext>
            </a:extLst>
          </p:cNvPr>
          <p:cNvSpPr/>
          <p:nvPr/>
        </p:nvSpPr>
        <p:spPr>
          <a:xfrm>
            <a:off x="10058400" y="3488212"/>
            <a:ext cx="2904004" cy="337140"/>
          </a:xfrm>
          <a:prstGeom prst="round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최고 최저기온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8F9D3D26-EDDC-4EA8-9533-3042120B9925}"/>
              </a:ext>
            </a:extLst>
          </p:cNvPr>
          <p:cNvSpPr/>
          <p:nvPr/>
        </p:nvSpPr>
        <p:spPr>
          <a:xfrm>
            <a:off x="9372600" y="5004131"/>
            <a:ext cx="2904004" cy="337140"/>
          </a:xfrm>
          <a:prstGeom prst="round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온습도평균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07992029-2421-4C00-85F3-CF00FB716CEA}"/>
              </a:ext>
            </a:extLst>
          </p:cNvPr>
          <p:cNvSpPr/>
          <p:nvPr/>
        </p:nvSpPr>
        <p:spPr>
          <a:xfrm>
            <a:off x="5486400" y="6797776"/>
            <a:ext cx="2904004" cy="337140"/>
          </a:xfrm>
          <a:prstGeom prst="round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불쾌지수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3"/>
            <a:stretch>
              <a:fillRect t="-38888" b="-38888"/>
            </a:stretch>
          </a:blipFill>
        </p:spPr>
        <p:txBody>
          <a:bodyPr/>
          <a:lstStyle/>
          <a:p>
            <a:endParaRPr lang="ko-KR" altLang="en-US" dirty="0"/>
          </a:p>
        </p:txBody>
      </p:sp>
      <p:grpSp>
        <p:nvGrpSpPr>
          <p:cNvPr id="3" name="Group 3"/>
          <p:cNvGrpSpPr/>
          <p:nvPr/>
        </p:nvGrpSpPr>
        <p:grpSpPr>
          <a:xfrm>
            <a:off x="-4399429" y="809625"/>
            <a:ext cx="19354610" cy="1903445"/>
            <a:chOff x="0" y="0"/>
            <a:chExt cx="1876002" cy="18449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876002" cy="184497"/>
            </a:xfrm>
            <a:custGeom>
              <a:avLst/>
              <a:gdLst/>
              <a:ahLst/>
              <a:cxnLst/>
              <a:rect l="l" t="t" r="r" b="b"/>
              <a:pathLst>
                <a:path w="1876002" h="184497">
                  <a:moveTo>
                    <a:pt x="1672802" y="0"/>
                  </a:moveTo>
                  <a:lnTo>
                    <a:pt x="0" y="0"/>
                  </a:lnTo>
                  <a:lnTo>
                    <a:pt x="203200" y="184497"/>
                  </a:lnTo>
                  <a:lnTo>
                    <a:pt x="1876002" y="184497"/>
                  </a:lnTo>
                  <a:lnTo>
                    <a:pt x="1672802" y="0"/>
                  </a:lnTo>
                  <a:close/>
                </a:path>
              </a:pathLst>
            </a:custGeom>
            <a:solidFill>
              <a:srgbClr val="010101"/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01600" y="-19050"/>
              <a:ext cx="1672802" cy="2035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3779447" y="4906117"/>
            <a:ext cx="902910" cy="916237"/>
          </a:xfrm>
          <a:custGeom>
            <a:avLst/>
            <a:gdLst/>
            <a:ahLst/>
            <a:cxnLst/>
            <a:rect l="l" t="t" r="r" b="b"/>
            <a:pathLst>
              <a:path w="902910" h="916237">
                <a:moveTo>
                  <a:pt x="0" y="0"/>
                </a:moveTo>
                <a:lnTo>
                  <a:pt x="902910" y="0"/>
                </a:lnTo>
                <a:lnTo>
                  <a:pt x="902910" y="916237"/>
                </a:lnTo>
                <a:lnTo>
                  <a:pt x="0" y="91623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764601" y="883327"/>
            <a:ext cx="9308329" cy="23440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72"/>
              </a:lnSpc>
            </a:pPr>
            <a:r>
              <a:rPr lang="en-US" sz="4545" spc="36">
                <a:solidFill>
                  <a:srgbClr val="FFFFFF"/>
                </a:solidFill>
                <a:ea typeface="210 밀레니얼"/>
              </a:rPr>
              <a:t>수행결과</a:t>
            </a:r>
          </a:p>
          <a:p>
            <a:pPr algn="l">
              <a:lnSpc>
                <a:spcPts val="6272"/>
              </a:lnSpc>
            </a:pPr>
            <a:r>
              <a:rPr lang="en-US" sz="4545" spc="36">
                <a:solidFill>
                  <a:srgbClr val="FFFFFF"/>
                </a:solidFill>
                <a:latin typeface="210 밀레니얼"/>
                <a:ea typeface="210 밀레니얼"/>
              </a:rPr>
              <a:t>3) 페이지 별 화면- 메인 화면 </a:t>
            </a:r>
          </a:p>
          <a:p>
            <a:pPr marL="0" lvl="0" indent="0" algn="l">
              <a:lnSpc>
                <a:spcPts val="6272"/>
              </a:lnSpc>
              <a:spcBef>
                <a:spcPct val="0"/>
              </a:spcBef>
            </a:pPr>
            <a:endParaRPr lang="en-US" sz="4545" spc="36">
              <a:solidFill>
                <a:srgbClr val="FFFFFF"/>
              </a:solidFill>
              <a:latin typeface="210 밀레니얼"/>
              <a:ea typeface="210 밀레니얼"/>
            </a:endParaRPr>
          </a:p>
        </p:txBody>
      </p:sp>
      <p:grpSp>
        <p:nvGrpSpPr>
          <p:cNvPr id="8" name="Group 8"/>
          <p:cNvGrpSpPr/>
          <p:nvPr/>
        </p:nvGrpSpPr>
        <p:grpSpPr>
          <a:xfrm>
            <a:off x="1558300" y="2575326"/>
            <a:ext cx="5689104" cy="275488"/>
            <a:chOff x="0" y="0"/>
            <a:chExt cx="4519796" cy="21886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519796" cy="218865"/>
            </a:xfrm>
            <a:custGeom>
              <a:avLst/>
              <a:gdLst/>
              <a:ahLst/>
              <a:cxnLst/>
              <a:rect l="l" t="t" r="r" b="b"/>
              <a:pathLst>
                <a:path w="4519796" h="218865">
                  <a:moveTo>
                    <a:pt x="4316596" y="0"/>
                  </a:moveTo>
                  <a:lnTo>
                    <a:pt x="0" y="0"/>
                  </a:lnTo>
                  <a:lnTo>
                    <a:pt x="203200" y="218865"/>
                  </a:lnTo>
                  <a:lnTo>
                    <a:pt x="4519796" y="218865"/>
                  </a:lnTo>
                  <a:lnTo>
                    <a:pt x="4316596" y="0"/>
                  </a:lnTo>
                  <a:close/>
                </a:path>
              </a:pathLst>
            </a:custGeom>
            <a:solidFill>
              <a:srgbClr val="727070"/>
            </a:solidFill>
            <a:ln cap="sq">
              <a:noFill/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1600" y="-19050"/>
              <a:ext cx="4316596" cy="2379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2085550" y="-131220"/>
            <a:ext cx="9534019" cy="855519"/>
            <a:chOff x="0" y="0"/>
            <a:chExt cx="1876002" cy="16834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876002" cy="168340"/>
            </a:xfrm>
            <a:custGeom>
              <a:avLst/>
              <a:gdLst/>
              <a:ahLst/>
              <a:cxnLst/>
              <a:rect l="l" t="t" r="r" b="b"/>
              <a:pathLst>
                <a:path w="1876002" h="168340">
                  <a:moveTo>
                    <a:pt x="1672802" y="0"/>
                  </a:moveTo>
                  <a:lnTo>
                    <a:pt x="0" y="0"/>
                  </a:lnTo>
                  <a:lnTo>
                    <a:pt x="203200" y="168340"/>
                  </a:lnTo>
                  <a:lnTo>
                    <a:pt x="1876002" y="168340"/>
                  </a:lnTo>
                  <a:lnTo>
                    <a:pt x="1672802" y="0"/>
                  </a:lnTo>
                  <a:close/>
                </a:path>
              </a:pathLst>
            </a:custGeom>
            <a:solidFill>
              <a:srgbClr val="363636"/>
            </a:solidFill>
            <a:ln cap="sq">
              <a:noFill/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01600" y="-19050"/>
              <a:ext cx="1672802" cy="1873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AutoShape 14"/>
          <p:cNvSpPr/>
          <p:nvPr/>
        </p:nvSpPr>
        <p:spPr>
          <a:xfrm>
            <a:off x="-835741" y="743349"/>
            <a:ext cx="12921291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1" name="Rectangle 1">
            <a:extLst>
              <a:ext uri="{FF2B5EF4-FFF2-40B4-BE49-F238E27FC236}">
                <a16:creationId xmlns:a16="http://schemas.microsoft.com/office/drawing/2014/main" id="{56349616-4C86-4971-A087-E3046EDDDF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84F28518-C75E-4E28-A499-7C97BDD70D7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24386" y="2947963"/>
            <a:ext cx="14039227" cy="7168425"/>
          </a:xfrm>
          <a:prstGeom prst="rect">
            <a:avLst/>
          </a:prstGeom>
        </p:spPr>
      </p:pic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396BFF63-3B55-4B02-B11E-5B9AAA5FD63D}"/>
              </a:ext>
            </a:extLst>
          </p:cNvPr>
          <p:cNvSpPr/>
          <p:nvPr/>
        </p:nvSpPr>
        <p:spPr>
          <a:xfrm>
            <a:off x="9143999" y="5554679"/>
            <a:ext cx="1689847" cy="555315"/>
          </a:xfrm>
          <a:prstGeom prst="round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3611E5BC-B6BE-4AE1-885A-1F9814C0CE58}"/>
              </a:ext>
            </a:extLst>
          </p:cNvPr>
          <p:cNvSpPr/>
          <p:nvPr/>
        </p:nvSpPr>
        <p:spPr>
          <a:xfrm>
            <a:off x="2577353" y="5534714"/>
            <a:ext cx="1689847" cy="575280"/>
          </a:xfrm>
          <a:prstGeom prst="round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8A616091-3905-4012-8967-4CD4E240F4D3}"/>
              </a:ext>
            </a:extLst>
          </p:cNvPr>
          <p:cNvSpPr/>
          <p:nvPr/>
        </p:nvSpPr>
        <p:spPr>
          <a:xfrm>
            <a:off x="2577353" y="4403549"/>
            <a:ext cx="12725400" cy="916237"/>
          </a:xfrm>
          <a:prstGeom prst="round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4B95D695-B299-41DF-A716-0FBE69FD6CB6}"/>
              </a:ext>
            </a:extLst>
          </p:cNvPr>
          <p:cNvSpPr/>
          <p:nvPr/>
        </p:nvSpPr>
        <p:spPr>
          <a:xfrm>
            <a:off x="2590800" y="4076700"/>
            <a:ext cx="3505200" cy="304391"/>
          </a:xfrm>
          <a:prstGeom prst="round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323BF2C7-A917-48C1-BB90-53116E46BFD5}"/>
              </a:ext>
            </a:extLst>
          </p:cNvPr>
          <p:cNvSpPr/>
          <p:nvPr/>
        </p:nvSpPr>
        <p:spPr>
          <a:xfrm>
            <a:off x="13792894" y="3097556"/>
            <a:ext cx="1536753" cy="457200"/>
          </a:xfrm>
          <a:prstGeom prst="round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17" grpId="0" animBg="1"/>
      <p:bldP spid="16" grpId="0" animBg="1"/>
      <p:bldP spid="2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3"/>
            <a:stretch>
              <a:fillRect t="-38888" b="-38888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4399429" y="809625"/>
            <a:ext cx="19354610" cy="1903445"/>
            <a:chOff x="0" y="0"/>
            <a:chExt cx="1876002" cy="18449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876002" cy="184497"/>
            </a:xfrm>
            <a:custGeom>
              <a:avLst/>
              <a:gdLst/>
              <a:ahLst/>
              <a:cxnLst/>
              <a:rect l="l" t="t" r="r" b="b"/>
              <a:pathLst>
                <a:path w="1876002" h="184497">
                  <a:moveTo>
                    <a:pt x="1672802" y="0"/>
                  </a:moveTo>
                  <a:lnTo>
                    <a:pt x="0" y="0"/>
                  </a:lnTo>
                  <a:lnTo>
                    <a:pt x="203200" y="184497"/>
                  </a:lnTo>
                  <a:lnTo>
                    <a:pt x="1876002" y="184497"/>
                  </a:lnTo>
                  <a:lnTo>
                    <a:pt x="1672802" y="0"/>
                  </a:lnTo>
                  <a:close/>
                </a:path>
              </a:pathLst>
            </a:custGeom>
            <a:solidFill>
              <a:srgbClr val="010101"/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01600" y="-19050"/>
              <a:ext cx="1672802" cy="2035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3779447" y="4906117"/>
            <a:ext cx="902910" cy="916237"/>
          </a:xfrm>
          <a:custGeom>
            <a:avLst/>
            <a:gdLst/>
            <a:ahLst/>
            <a:cxnLst/>
            <a:rect l="l" t="t" r="r" b="b"/>
            <a:pathLst>
              <a:path w="902910" h="916237">
                <a:moveTo>
                  <a:pt x="0" y="0"/>
                </a:moveTo>
                <a:lnTo>
                  <a:pt x="902910" y="0"/>
                </a:lnTo>
                <a:lnTo>
                  <a:pt x="902910" y="916237"/>
                </a:lnTo>
                <a:lnTo>
                  <a:pt x="0" y="91623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764601" y="883327"/>
            <a:ext cx="9308329" cy="31345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72"/>
              </a:lnSpc>
            </a:pPr>
            <a:r>
              <a:rPr lang="en-US" sz="4545" spc="36">
                <a:solidFill>
                  <a:srgbClr val="FFFFFF"/>
                </a:solidFill>
                <a:ea typeface="210 밀레니얼"/>
              </a:rPr>
              <a:t>수행결과</a:t>
            </a:r>
          </a:p>
          <a:p>
            <a:pPr algn="l">
              <a:lnSpc>
                <a:spcPts val="6272"/>
              </a:lnSpc>
            </a:pPr>
            <a:r>
              <a:rPr lang="en-US" sz="4545" spc="36">
                <a:solidFill>
                  <a:srgbClr val="FFFFFF"/>
                </a:solidFill>
                <a:latin typeface="210 밀레니얼"/>
                <a:ea typeface="210 밀레니얼"/>
              </a:rPr>
              <a:t>3) 페이지 별 화면- 메인 화면 </a:t>
            </a:r>
          </a:p>
          <a:p>
            <a:pPr algn="l">
              <a:lnSpc>
                <a:spcPts val="6272"/>
              </a:lnSpc>
            </a:pPr>
            <a:endParaRPr lang="en-US" sz="4545" spc="36">
              <a:solidFill>
                <a:srgbClr val="FFFFFF"/>
              </a:solidFill>
              <a:latin typeface="210 밀레니얼"/>
              <a:ea typeface="210 밀레니얼"/>
            </a:endParaRPr>
          </a:p>
          <a:p>
            <a:pPr marL="0" lvl="0" indent="0" algn="l">
              <a:lnSpc>
                <a:spcPts val="6272"/>
              </a:lnSpc>
              <a:spcBef>
                <a:spcPct val="0"/>
              </a:spcBef>
            </a:pPr>
            <a:endParaRPr lang="en-US" sz="4545" spc="36">
              <a:solidFill>
                <a:srgbClr val="FFFFFF"/>
              </a:solidFill>
              <a:latin typeface="210 밀레니얼"/>
              <a:ea typeface="210 밀레니얼"/>
            </a:endParaRPr>
          </a:p>
        </p:txBody>
      </p:sp>
      <p:grpSp>
        <p:nvGrpSpPr>
          <p:cNvPr id="8" name="Group 8"/>
          <p:cNvGrpSpPr/>
          <p:nvPr/>
        </p:nvGrpSpPr>
        <p:grpSpPr>
          <a:xfrm>
            <a:off x="1558300" y="2575326"/>
            <a:ext cx="5689104" cy="275488"/>
            <a:chOff x="0" y="0"/>
            <a:chExt cx="4519796" cy="21886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519796" cy="218865"/>
            </a:xfrm>
            <a:custGeom>
              <a:avLst/>
              <a:gdLst/>
              <a:ahLst/>
              <a:cxnLst/>
              <a:rect l="l" t="t" r="r" b="b"/>
              <a:pathLst>
                <a:path w="4519796" h="218865">
                  <a:moveTo>
                    <a:pt x="4316596" y="0"/>
                  </a:moveTo>
                  <a:lnTo>
                    <a:pt x="0" y="0"/>
                  </a:lnTo>
                  <a:lnTo>
                    <a:pt x="203200" y="218865"/>
                  </a:lnTo>
                  <a:lnTo>
                    <a:pt x="4519796" y="218865"/>
                  </a:lnTo>
                  <a:lnTo>
                    <a:pt x="4316596" y="0"/>
                  </a:lnTo>
                  <a:close/>
                </a:path>
              </a:pathLst>
            </a:custGeom>
            <a:solidFill>
              <a:srgbClr val="727070"/>
            </a:solidFill>
            <a:ln cap="sq">
              <a:noFill/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1600" y="-19050"/>
              <a:ext cx="4316596" cy="2379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2085550" y="-131220"/>
            <a:ext cx="9534019" cy="855519"/>
            <a:chOff x="0" y="0"/>
            <a:chExt cx="1876002" cy="16834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876002" cy="168340"/>
            </a:xfrm>
            <a:custGeom>
              <a:avLst/>
              <a:gdLst/>
              <a:ahLst/>
              <a:cxnLst/>
              <a:rect l="l" t="t" r="r" b="b"/>
              <a:pathLst>
                <a:path w="1876002" h="168340">
                  <a:moveTo>
                    <a:pt x="1672802" y="0"/>
                  </a:moveTo>
                  <a:lnTo>
                    <a:pt x="0" y="0"/>
                  </a:lnTo>
                  <a:lnTo>
                    <a:pt x="203200" y="168340"/>
                  </a:lnTo>
                  <a:lnTo>
                    <a:pt x="1876002" y="168340"/>
                  </a:lnTo>
                  <a:lnTo>
                    <a:pt x="1672802" y="0"/>
                  </a:lnTo>
                  <a:close/>
                </a:path>
              </a:pathLst>
            </a:custGeom>
            <a:solidFill>
              <a:srgbClr val="363636"/>
            </a:solidFill>
            <a:ln cap="sq">
              <a:noFill/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01600" y="-19050"/>
              <a:ext cx="1672802" cy="1873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AutoShape 14"/>
          <p:cNvSpPr/>
          <p:nvPr/>
        </p:nvSpPr>
        <p:spPr>
          <a:xfrm>
            <a:off x="-835741" y="743349"/>
            <a:ext cx="12921291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BAF600E8-121B-44F7-A550-9625938AAE9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3017852"/>
            <a:ext cx="17548744" cy="6656061"/>
          </a:xfrm>
          <a:prstGeom prst="rect">
            <a:avLst/>
          </a:prstGeom>
        </p:spPr>
      </p:pic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6D8A54AA-D81F-4DF9-9FF1-B3B7A978EA2C}"/>
              </a:ext>
            </a:extLst>
          </p:cNvPr>
          <p:cNvSpPr/>
          <p:nvPr/>
        </p:nvSpPr>
        <p:spPr>
          <a:xfrm>
            <a:off x="1143000" y="3326157"/>
            <a:ext cx="2514600" cy="457200"/>
          </a:xfrm>
          <a:prstGeom prst="round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059C943A-EC50-4B80-9A1C-CCBD0B72A9AF}"/>
              </a:ext>
            </a:extLst>
          </p:cNvPr>
          <p:cNvSpPr/>
          <p:nvPr/>
        </p:nvSpPr>
        <p:spPr>
          <a:xfrm>
            <a:off x="9392937" y="4119592"/>
            <a:ext cx="2819400" cy="457200"/>
          </a:xfrm>
          <a:prstGeom prst="round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3"/>
            <a:stretch>
              <a:fillRect t="-38888" b="-38888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4399429" y="809625"/>
            <a:ext cx="19354610" cy="1903445"/>
            <a:chOff x="0" y="0"/>
            <a:chExt cx="1876002" cy="18449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876002" cy="184497"/>
            </a:xfrm>
            <a:custGeom>
              <a:avLst/>
              <a:gdLst/>
              <a:ahLst/>
              <a:cxnLst/>
              <a:rect l="l" t="t" r="r" b="b"/>
              <a:pathLst>
                <a:path w="1876002" h="184497">
                  <a:moveTo>
                    <a:pt x="1672802" y="0"/>
                  </a:moveTo>
                  <a:lnTo>
                    <a:pt x="0" y="0"/>
                  </a:lnTo>
                  <a:lnTo>
                    <a:pt x="203200" y="184497"/>
                  </a:lnTo>
                  <a:lnTo>
                    <a:pt x="1876002" y="184497"/>
                  </a:lnTo>
                  <a:lnTo>
                    <a:pt x="1672802" y="0"/>
                  </a:lnTo>
                  <a:close/>
                </a:path>
              </a:pathLst>
            </a:custGeom>
            <a:solidFill>
              <a:srgbClr val="010101"/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01600" y="-19050"/>
              <a:ext cx="1672802" cy="2035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3779447" y="4906117"/>
            <a:ext cx="902910" cy="916237"/>
          </a:xfrm>
          <a:custGeom>
            <a:avLst/>
            <a:gdLst/>
            <a:ahLst/>
            <a:cxnLst/>
            <a:rect l="l" t="t" r="r" b="b"/>
            <a:pathLst>
              <a:path w="902910" h="916237">
                <a:moveTo>
                  <a:pt x="0" y="0"/>
                </a:moveTo>
                <a:lnTo>
                  <a:pt x="902910" y="0"/>
                </a:lnTo>
                <a:lnTo>
                  <a:pt x="902910" y="916237"/>
                </a:lnTo>
                <a:lnTo>
                  <a:pt x="0" y="91623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764601" y="883327"/>
            <a:ext cx="9308329" cy="31345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72"/>
              </a:lnSpc>
            </a:pPr>
            <a:r>
              <a:rPr lang="en-US" sz="4545" spc="36">
                <a:solidFill>
                  <a:srgbClr val="FFFFFF"/>
                </a:solidFill>
                <a:ea typeface="210 밀레니얼"/>
              </a:rPr>
              <a:t>수행결과</a:t>
            </a:r>
          </a:p>
          <a:p>
            <a:pPr algn="l">
              <a:lnSpc>
                <a:spcPts val="6272"/>
              </a:lnSpc>
            </a:pPr>
            <a:r>
              <a:rPr lang="en-US" sz="4545" spc="36">
                <a:solidFill>
                  <a:srgbClr val="FFFFFF"/>
                </a:solidFill>
                <a:latin typeface="210 밀레니얼"/>
                <a:ea typeface="210 밀레니얼"/>
              </a:rPr>
              <a:t>3) 페이지 별 화면- 불쾌지수 화면 </a:t>
            </a:r>
          </a:p>
          <a:p>
            <a:pPr algn="l">
              <a:lnSpc>
                <a:spcPts val="6272"/>
              </a:lnSpc>
            </a:pPr>
            <a:endParaRPr lang="en-US" sz="4545" spc="36">
              <a:solidFill>
                <a:srgbClr val="FFFFFF"/>
              </a:solidFill>
              <a:latin typeface="210 밀레니얼"/>
              <a:ea typeface="210 밀레니얼"/>
            </a:endParaRPr>
          </a:p>
          <a:p>
            <a:pPr marL="0" lvl="0" indent="0" algn="l">
              <a:lnSpc>
                <a:spcPts val="6272"/>
              </a:lnSpc>
              <a:spcBef>
                <a:spcPct val="0"/>
              </a:spcBef>
            </a:pPr>
            <a:endParaRPr lang="en-US" sz="4545" spc="36">
              <a:solidFill>
                <a:srgbClr val="FFFFFF"/>
              </a:solidFill>
              <a:latin typeface="210 밀레니얼"/>
              <a:ea typeface="210 밀레니얼"/>
            </a:endParaRPr>
          </a:p>
        </p:txBody>
      </p:sp>
      <p:grpSp>
        <p:nvGrpSpPr>
          <p:cNvPr id="8" name="Group 8"/>
          <p:cNvGrpSpPr/>
          <p:nvPr/>
        </p:nvGrpSpPr>
        <p:grpSpPr>
          <a:xfrm>
            <a:off x="1558300" y="2575326"/>
            <a:ext cx="5689104" cy="275488"/>
            <a:chOff x="0" y="0"/>
            <a:chExt cx="4519796" cy="21886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519796" cy="218865"/>
            </a:xfrm>
            <a:custGeom>
              <a:avLst/>
              <a:gdLst/>
              <a:ahLst/>
              <a:cxnLst/>
              <a:rect l="l" t="t" r="r" b="b"/>
              <a:pathLst>
                <a:path w="4519796" h="218865">
                  <a:moveTo>
                    <a:pt x="4316596" y="0"/>
                  </a:moveTo>
                  <a:lnTo>
                    <a:pt x="0" y="0"/>
                  </a:lnTo>
                  <a:lnTo>
                    <a:pt x="203200" y="218865"/>
                  </a:lnTo>
                  <a:lnTo>
                    <a:pt x="4519796" y="218865"/>
                  </a:lnTo>
                  <a:lnTo>
                    <a:pt x="4316596" y="0"/>
                  </a:lnTo>
                  <a:close/>
                </a:path>
              </a:pathLst>
            </a:custGeom>
            <a:solidFill>
              <a:srgbClr val="727070"/>
            </a:solidFill>
            <a:ln cap="sq">
              <a:noFill/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1600" y="-19050"/>
              <a:ext cx="4316596" cy="2379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2085550" y="-131220"/>
            <a:ext cx="9534019" cy="855519"/>
            <a:chOff x="0" y="0"/>
            <a:chExt cx="1876002" cy="16834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876002" cy="168340"/>
            </a:xfrm>
            <a:custGeom>
              <a:avLst/>
              <a:gdLst/>
              <a:ahLst/>
              <a:cxnLst/>
              <a:rect l="l" t="t" r="r" b="b"/>
              <a:pathLst>
                <a:path w="1876002" h="168340">
                  <a:moveTo>
                    <a:pt x="1672802" y="0"/>
                  </a:moveTo>
                  <a:lnTo>
                    <a:pt x="0" y="0"/>
                  </a:lnTo>
                  <a:lnTo>
                    <a:pt x="203200" y="168340"/>
                  </a:lnTo>
                  <a:lnTo>
                    <a:pt x="1876002" y="168340"/>
                  </a:lnTo>
                  <a:lnTo>
                    <a:pt x="1672802" y="0"/>
                  </a:lnTo>
                  <a:close/>
                </a:path>
              </a:pathLst>
            </a:custGeom>
            <a:solidFill>
              <a:srgbClr val="363636"/>
            </a:solidFill>
            <a:ln cap="sq">
              <a:noFill/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01600" y="-19050"/>
              <a:ext cx="1672802" cy="1873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AutoShape 14"/>
          <p:cNvSpPr/>
          <p:nvPr/>
        </p:nvSpPr>
        <p:spPr>
          <a:xfrm>
            <a:off x="-835741" y="743349"/>
            <a:ext cx="12921291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" name="Freeform 15"/>
          <p:cNvSpPr/>
          <p:nvPr/>
        </p:nvSpPr>
        <p:spPr>
          <a:xfrm>
            <a:off x="1558300" y="3046220"/>
            <a:ext cx="14879998" cy="6777564"/>
          </a:xfrm>
          <a:custGeom>
            <a:avLst/>
            <a:gdLst/>
            <a:ahLst/>
            <a:cxnLst/>
            <a:rect l="l" t="t" r="r" b="b"/>
            <a:pathLst>
              <a:path w="14879998" h="6777564">
                <a:moveTo>
                  <a:pt x="0" y="0"/>
                </a:moveTo>
                <a:lnTo>
                  <a:pt x="14879998" y="0"/>
                </a:lnTo>
                <a:lnTo>
                  <a:pt x="14879998" y="6777564"/>
                </a:lnTo>
                <a:lnTo>
                  <a:pt x="0" y="677756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DB52072A-4AC5-4825-B395-FCA1FD311A0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0" y="3876001"/>
            <a:ext cx="3860972" cy="950127"/>
          </a:xfrm>
          <a:prstGeom prst="rect">
            <a:avLst/>
          </a:prstGeom>
        </p:spPr>
      </p:pic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5D28E1E7-9830-4F12-BD9B-A749E01493E1}"/>
              </a:ext>
            </a:extLst>
          </p:cNvPr>
          <p:cNvSpPr/>
          <p:nvPr/>
        </p:nvSpPr>
        <p:spPr>
          <a:xfrm>
            <a:off x="1686185" y="3828703"/>
            <a:ext cx="5095615" cy="273134"/>
          </a:xfrm>
          <a:prstGeom prst="round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E94CFF25-6386-4963-B3AD-4B56729924E9}"/>
              </a:ext>
            </a:extLst>
          </p:cNvPr>
          <p:cNvSpPr/>
          <p:nvPr/>
        </p:nvSpPr>
        <p:spPr>
          <a:xfrm>
            <a:off x="1558300" y="4149135"/>
            <a:ext cx="1718300" cy="369700"/>
          </a:xfrm>
          <a:prstGeom prst="round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70BFB940-5C1A-4B4E-A846-7D2C8146DD8B}"/>
              </a:ext>
            </a:extLst>
          </p:cNvPr>
          <p:cNvSpPr/>
          <p:nvPr/>
        </p:nvSpPr>
        <p:spPr>
          <a:xfrm>
            <a:off x="11658600" y="4017915"/>
            <a:ext cx="4779698" cy="5805869"/>
          </a:xfrm>
          <a:prstGeom prst="rect">
            <a:avLst/>
          </a:prstGeom>
          <a:noFill/>
          <a:ln w="508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2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3"/>
            <a:stretch>
              <a:fillRect t="-38888" b="-38888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4399429" y="809625"/>
            <a:ext cx="19354610" cy="1903445"/>
            <a:chOff x="0" y="0"/>
            <a:chExt cx="1876002" cy="18449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876002" cy="184497"/>
            </a:xfrm>
            <a:custGeom>
              <a:avLst/>
              <a:gdLst/>
              <a:ahLst/>
              <a:cxnLst/>
              <a:rect l="l" t="t" r="r" b="b"/>
              <a:pathLst>
                <a:path w="1876002" h="184497">
                  <a:moveTo>
                    <a:pt x="1672802" y="0"/>
                  </a:moveTo>
                  <a:lnTo>
                    <a:pt x="0" y="0"/>
                  </a:lnTo>
                  <a:lnTo>
                    <a:pt x="203200" y="184497"/>
                  </a:lnTo>
                  <a:lnTo>
                    <a:pt x="1876002" y="184497"/>
                  </a:lnTo>
                  <a:lnTo>
                    <a:pt x="1672802" y="0"/>
                  </a:lnTo>
                  <a:close/>
                </a:path>
              </a:pathLst>
            </a:custGeom>
            <a:solidFill>
              <a:srgbClr val="010101"/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01600" y="-19050"/>
              <a:ext cx="1672802" cy="2035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3779447" y="4906117"/>
            <a:ext cx="902910" cy="916237"/>
          </a:xfrm>
          <a:custGeom>
            <a:avLst/>
            <a:gdLst/>
            <a:ahLst/>
            <a:cxnLst/>
            <a:rect l="l" t="t" r="r" b="b"/>
            <a:pathLst>
              <a:path w="902910" h="916237">
                <a:moveTo>
                  <a:pt x="0" y="0"/>
                </a:moveTo>
                <a:lnTo>
                  <a:pt x="902910" y="0"/>
                </a:lnTo>
                <a:lnTo>
                  <a:pt x="902910" y="916237"/>
                </a:lnTo>
                <a:lnTo>
                  <a:pt x="0" y="91623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764601" y="883327"/>
            <a:ext cx="9308329" cy="39251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72"/>
              </a:lnSpc>
            </a:pPr>
            <a:r>
              <a:rPr lang="en-US" sz="4545" spc="36">
                <a:solidFill>
                  <a:srgbClr val="FFFFFF"/>
                </a:solidFill>
                <a:ea typeface="210 밀레니얼"/>
              </a:rPr>
              <a:t>수행결과</a:t>
            </a:r>
          </a:p>
          <a:p>
            <a:pPr algn="l">
              <a:lnSpc>
                <a:spcPts val="6272"/>
              </a:lnSpc>
            </a:pPr>
            <a:r>
              <a:rPr lang="en-US" sz="4545" spc="36">
                <a:solidFill>
                  <a:srgbClr val="FFFFFF"/>
                </a:solidFill>
                <a:latin typeface="210 밀레니얼"/>
                <a:ea typeface="210 밀레니얼"/>
              </a:rPr>
              <a:t>3) 페이지 별 화면- 불쾌지수 화면 </a:t>
            </a:r>
          </a:p>
          <a:p>
            <a:pPr algn="l">
              <a:lnSpc>
                <a:spcPts val="6272"/>
              </a:lnSpc>
            </a:pPr>
            <a:endParaRPr lang="en-US" sz="4545" spc="36">
              <a:solidFill>
                <a:srgbClr val="FFFFFF"/>
              </a:solidFill>
              <a:latin typeface="210 밀레니얼"/>
              <a:ea typeface="210 밀레니얼"/>
            </a:endParaRPr>
          </a:p>
          <a:p>
            <a:pPr algn="l">
              <a:lnSpc>
                <a:spcPts val="6272"/>
              </a:lnSpc>
            </a:pPr>
            <a:endParaRPr lang="en-US" sz="4545" spc="36">
              <a:solidFill>
                <a:srgbClr val="FFFFFF"/>
              </a:solidFill>
              <a:latin typeface="210 밀레니얼"/>
              <a:ea typeface="210 밀레니얼"/>
            </a:endParaRPr>
          </a:p>
          <a:p>
            <a:pPr marL="0" lvl="0" indent="0" algn="l">
              <a:lnSpc>
                <a:spcPts val="6272"/>
              </a:lnSpc>
              <a:spcBef>
                <a:spcPct val="0"/>
              </a:spcBef>
            </a:pPr>
            <a:endParaRPr lang="en-US" sz="4545" spc="36">
              <a:solidFill>
                <a:srgbClr val="FFFFFF"/>
              </a:solidFill>
              <a:latin typeface="210 밀레니얼"/>
              <a:ea typeface="210 밀레니얼"/>
            </a:endParaRPr>
          </a:p>
        </p:txBody>
      </p:sp>
      <p:grpSp>
        <p:nvGrpSpPr>
          <p:cNvPr id="8" name="Group 8"/>
          <p:cNvGrpSpPr/>
          <p:nvPr/>
        </p:nvGrpSpPr>
        <p:grpSpPr>
          <a:xfrm>
            <a:off x="1558300" y="2575326"/>
            <a:ext cx="5689104" cy="275488"/>
            <a:chOff x="0" y="0"/>
            <a:chExt cx="4519796" cy="21886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519796" cy="218865"/>
            </a:xfrm>
            <a:custGeom>
              <a:avLst/>
              <a:gdLst/>
              <a:ahLst/>
              <a:cxnLst/>
              <a:rect l="l" t="t" r="r" b="b"/>
              <a:pathLst>
                <a:path w="4519796" h="218865">
                  <a:moveTo>
                    <a:pt x="4316596" y="0"/>
                  </a:moveTo>
                  <a:lnTo>
                    <a:pt x="0" y="0"/>
                  </a:lnTo>
                  <a:lnTo>
                    <a:pt x="203200" y="218865"/>
                  </a:lnTo>
                  <a:lnTo>
                    <a:pt x="4519796" y="218865"/>
                  </a:lnTo>
                  <a:lnTo>
                    <a:pt x="4316596" y="0"/>
                  </a:lnTo>
                  <a:close/>
                </a:path>
              </a:pathLst>
            </a:custGeom>
            <a:solidFill>
              <a:srgbClr val="727070"/>
            </a:solidFill>
            <a:ln cap="sq">
              <a:noFill/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1600" y="-19050"/>
              <a:ext cx="4316596" cy="2379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2085550" y="-131220"/>
            <a:ext cx="9534019" cy="855519"/>
            <a:chOff x="0" y="0"/>
            <a:chExt cx="1876002" cy="16834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876002" cy="168340"/>
            </a:xfrm>
            <a:custGeom>
              <a:avLst/>
              <a:gdLst/>
              <a:ahLst/>
              <a:cxnLst/>
              <a:rect l="l" t="t" r="r" b="b"/>
              <a:pathLst>
                <a:path w="1876002" h="168340">
                  <a:moveTo>
                    <a:pt x="1672802" y="0"/>
                  </a:moveTo>
                  <a:lnTo>
                    <a:pt x="0" y="0"/>
                  </a:lnTo>
                  <a:lnTo>
                    <a:pt x="203200" y="168340"/>
                  </a:lnTo>
                  <a:lnTo>
                    <a:pt x="1876002" y="168340"/>
                  </a:lnTo>
                  <a:lnTo>
                    <a:pt x="1672802" y="0"/>
                  </a:lnTo>
                  <a:close/>
                </a:path>
              </a:pathLst>
            </a:custGeom>
            <a:solidFill>
              <a:srgbClr val="363636"/>
            </a:solidFill>
            <a:ln cap="sq">
              <a:noFill/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01600" y="-19050"/>
              <a:ext cx="1672802" cy="1873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AutoShape 14"/>
          <p:cNvSpPr/>
          <p:nvPr/>
        </p:nvSpPr>
        <p:spPr>
          <a:xfrm>
            <a:off x="-835741" y="743349"/>
            <a:ext cx="12921291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" name="Freeform 15"/>
          <p:cNvSpPr/>
          <p:nvPr/>
        </p:nvSpPr>
        <p:spPr>
          <a:xfrm>
            <a:off x="1446826" y="3085611"/>
            <a:ext cx="15513208" cy="6821677"/>
          </a:xfrm>
          <a:custGeom>
            <a:avLst/>
            <a:gdLst/>
            <a:ahLst/>
            <a:cxnLst/>
            <a:rect l="l" t="t" r="r" b="b"/>
            <a:pathLst>
              <a:path w="15513208" h="6821677">
                <a:moveTo>
                  <a:pt x="0" y="0"/>
                </a:moveTo>
                <a:lnTo>
                  <a:pt x="15513208" y="0"/>
                </a:lnTo>
                <a:lnTo>
                  <a:pt x="15513208" y="6821677"/>
                </a:lnTo>
                <a:lnTo>
                  <a:pt x="0" y="682167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07192E97-DEFE-4961-B2D3-7375AAF220E3}"/>
              </a:ext>
            </a:extLst>
          </p:cNvPr>
          <p:cNvSpPr/>
          <p:nvPr/>
        </p:nvSpPr>
        <p:spPr>
          <a:xfrm>
            <a:off x="1446826" y="3619500"/>
            <a:ext cx="2591774" cy="609600"/>
          </a:xfrm>
          <a:prstGeom prst="round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F4F3CE15-1B56-43D7-94F0-54A95949C9C3}"/>
              </a:ext>
            </a:extLst>
          </p:cNvPr>
          <p:cNvSpPr/>
          <p:nvPr/>
        </p:nvSpPr>
        <p:spPr>
          <a:xfrm>
            <a:off x="9137073" y="3615915"/>
            <a:ext cx="2591774" cy="609600"/>
          </a:xfrm>
          <a:prstGeom prst="round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7BC84327-05CC-4D54-A04C-10CF16EB5849}"/>
              </a:ext>
            </a:extLst>
          </p:cNvPr>
          <p:cNvSpPr/>
          <p:nvPr/>
        </p:nvSpPr>
        <p:spPr>
          <a:xfrm>
            <a:off x="2133600" y="8191499"/>
            <a:ext cx="3429000" cy="1482413"/>
          </a:xfrm>
          <a:prstGeom prst="round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825C6482-23D8-42DD-B2E9-E36055E6F7BF}"/>
              </a:ext>
            </a:extLst>
          </p:cNvPr>
          <p:cNvSpPr/>
          <p:nvPr/>
        </p:nvSpPr>
        <p:spPr>
          <a:xfrm>
            <a:off x="6629400" y="8191499"/>
            <a:ext cx="4267200" cy="1482413"/>
          </a:xfrm>
          <a:prstGeom prst="round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4CBB8713-A457-48B1-B6D8-6319B0B9D6A4}"/>
              </a:ext>
            </a:extLst>
          </p:cNvPr>
          <p:cNvSpPr/>
          <p:nvPr/>
        </p:nvSpPr>
        <p:spPr>
          <a:xfrm>
            <a:off x="11871952" y="8191499"/>
            <a:ext cx="3429000" cy="1482413"/>
          </a:xfrm>
          <a:prstGeom prst="round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3"/>
            <a:stretch>
              <a:fillRect t="-38888" b="-38888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4399429" y="809625"/>
            <a:ext cx="19354610" cy="1903445"/>
            <a:chOff x="0" y="0"/>
            <a:chExt cx="1876002" cy="18449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876002" cy="184497"/>
            </a:xfrm>
            <a:custGeom>
              <a:avLst/>
              <a:gdLst/>
              <a:ahLst/>
              <a:cxnLst/>
              <a:rect l="l" t="t" r="r" b="b"/>
              <a:pathLst>
                <a:path w="1876002" h="184497">
                  <a:moveTo>
                    <a:pt x="1672802" y="0"/>
                  </a:moveTo>
                  <a:lnTo>
                    <a:pt x="0" y="0"/>
                  </a:lnTo>
                  <a:lnTo>
                    <a:pt x="203200" y="184497"/>
                  </a:lnTo>
                  <a:lnTo>
                    <a:pt x="1876002" y="184497"/>
                  </a:lnTo>
                  <a:lnTo>
                    <a:pt x="1672802" y="0"/>
                  </a:lnTo>
                  <a:close/>
                </a:path>
              </a:pathLst>
            </a:custGeom>
            <a:solidFill>
              <a:srgbClr val="010101"/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01600" y="-19050"/>
              <a:ext cx="1672802" cy="2035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764601" y="883327"/>
            <a:ext cx="9308329" cy="39251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72"/>
              </a:lnSpc>
            </a:pPr>
            <a:r>
              <a:rPr lang="en-US" sz="4545" spc="36">
                <a:solidFill>
                  <a:srgbClr val="FFFFFF"/>
                </a:solidFill>
                <a:ea typeface="210 밀레니얼"/>
              </a:rPr>
              <a:t>수행결과</a:t>
            </a:r>
          </a:p>
          <a:p>
            <a:pPr algn="l">
              <a:lnSpc>
                <a:spcPts val="6272"/>
              </a:lnSpc>
            </a:pPr>
            <a:r>
              <a:rPr lang="en-US" sz="4545" spc="36">
                <a:solidFill>
                  <a:srgbClr val="FFFFFF"/>
                </a:solidFill>
                <a:latin typeface="210 밀레니얼"/>
                <a:ea typeface="210 밀레니얼"/>
              </a:rPr>
              <a:t>3) 페이지 별 화면- 실효습도 화면</a:t>
            </a:r>
          </a:p>
          <a:p>
            <a:pPr algn="l">
              <a:lnSpc>
                <a:spcPts val="6272"/>
              </a:lnSpc>
            </a:pPr>
            <a:endParaRPr lang="en-US" sz="4545" spc="36">
              <a:solidFill>
                <a:srgbClr val="FFFFFF"/>
              </a:solidFill>
              <a:latin typeface="210 밀레니얼"/>
              <a:ea typeface="210 밀레니얼"/>
            </a:endParaRPr>
          </a:p>
          <a:p>
            <a:pPr algn="l">
              <a:lnSpc>
                <a:spcPts val="6272"/>
              </a:lnSpc>
            </a:pPr>
            <a:endParaRPr lang="en-US" sz="4545" spc="36">
              <a:solidFill>
                <a:srgbClr val="FFFFFF"/>
              </a:solidFill>
              <a:latin typeface="210 밀레니얼"/>
              <a:ea typeface="210 밀레니얼"/>
            </a:endParaRPr>
          </a:p>
          <a:p>
            <a:pPr marL="0" lvl="0" indent="0" algn="l">
              <a:lnSpc>
                <a:spcPts val="6272"/>
              </a:lnSpc>
              <a:spcBef>
                <a:spcPct val="0"/>
              </a:spcBef>
            </a:pPr>
            <a:endParaRPr lang="en-US" sz="4545" spc="36">
              <a:solidFill>
                <a:srgbClr val="FFFFFF"/>
              </a:solidFill>
              <a:latin typeface="210 밀레니얼"/>
              <a:ea typeface="210 밀레니얼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1558300" y="2575326"/>
            <a:ext cx="5689104" cy="275488"/>
            <a:chOff x="0" y="0"/>
            <a:chExt cx="4519796" cy="21886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519796" cy="218865"/>
            </a:xfrm>
            <a:custGeom>
              <a:avLst/>
              <a:gdLst/>
              <a:ahLst/>
              <a:cxnLst/>
              <a:rect l="l" t="t" r="r" b="b"/>
              <a:pathLst>
                <a:path w="4519796" h="218865">
                  <a:moveTo>
                    <a:pt x="4316596" y="0"/>
                  </a:moveTo>
                  <a:lnTo>
                    <a:pt x="0" y="0"/>
                  </a:lnTo>
                  <a:lnTo>
                    <a:pt x="203200" y="218865"/>
                  </a:lnTo>
                  <a:lnTo>
                    <a:pt x="4519796" y="218865"/>
                  </a:lnTo>
                  <a:lnTo>
                    <a:pt x="4316596" y="0"/>
                  </a:lnTo>
                  <a:close/>
                </a:path>
              </a:pathLst>
            </a:custGeom>
            <a:solidFill>
              <a:srgbClr val="727070"/>
            </a:solidFill>
            <a:ln cap="sq">
              <a:noFill/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1600" y="-19050"/>
              <a:ext cx="4316596" cy="2379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2085550" y="-131220"/>
            <a:ext cx="9534019" cy="855519"/>
            <a:chOff x="0" y="0"/>
            <a:chExt cx="1876002" cy="16834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876002" cy="168340"/>
            </a:xfrm>
            <a:custGeom>
              <a:avLst/>
              <a:gdLst/>
              <a:ahLst/>
              <a:cxnLst/>
              <a:rect l="l" t="t" r="r" b="b"/>
              <a:pathLst>
                <a:path w="1876002" h="168340">
                  <a:moveTo>
                    <a:pt x="1672802" y="0"/>
                  </a:moveTo>
                  <a:lnTo>
                    <a:pt x="0" y="0"/>
                  </a:lnTo>
                  <a:lnTo>
                    <a:pt x="203200" y="168340"/>
                  </a:lnTo>
                  <a:lnTo>
                    <a:pt x="1876002" y="168340"/>
                  </a:lnTo>
                  <a:lnTo>
                    <a:pt x="1672802" y="0"/>
                  </a:lnTo>
                  <a:close/>
                </a:path>
              </a:pathLst>
            </a:custGeom>
            <a:solidFill>
              <a:srgbClr val="363636"/>
            </a:solidFill>
            <a:ln cap="sq">
              <a:noFill/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1600" y="-19050"/>
              <a:ext cx="1672802" cy="1873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3" name="AutoShape 13"/>
          <p:cNvSpPr/>
          <p:nvPr/>
        </p:nvSpPr>
        <p:spPr>
          <a:xfrm>
            <a:off x="-835741" y="743349"/>
            <a:ext cx="12921291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" name="Freeform 14"/>
          <p:cNvSpPr/>
          <p:nvPr/>
        </p:nvSpPr>
        <p:spPr>
          <a:xfrm>
            <a:off x="485300" y="3111916"/>
            <a:ext cx="17317399" cy="6967631"/>
          </a:xfrm>
          <a:custGeom>
            <a:avLst/>
            <a:gdLst/>
            <a:ahLst/>
            <a:cxnLst/>
            <a:rect l="l" t="t" r="r" b="b"/>
            <a:pathLst>
              <a:path w="17317399" h="6967631">
                <a:moveTo>
                  <a:pt x="0" y="0"/>
                </a:moveTo>
                <a:lnTo>
                  <a:pt x="17317400" y="0"/>
                </a:lnTo>
                <a:lnTo>
                  <a:pt x="17317400" y="6967631"/>
                </a:lnTo>
                <a:lnTo>
                  <a:pt x="0" y="696763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3487756" y="4187272"/>
            <a:ext cx="4285461" cy="1912455"/>
          </a:xfrm>
          <a:custGeom>
            <a:avLst/>
            <a:gdLst/>
            <a:ahLst/>
            <a:cxnLst/>
            <a:rect l="l" t="t" r="r" b="b"/>
            <a:pathLst>
              <a:path w="4285461" h="1912455">
                <a:moveTo>
                  <a:pt x="0" y="0"/>
                </a:moveTo>
                <a:lnTo>
                  <a:pt x="4285461" y="0"/>
                </a:lnTo>
                <a:lnTo>
                  <a:pt x="4285461" y="1912456"/>
                </a:lnTo>
                <a:lnTo>
                  <a:pt x="0" y="191245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4D9A9697-C62A-42EB-9131-DC704F355E62}"/>
              </a:ext>
            </a:extLst>
          </p:cNvPr>
          <p:cNvSpPr/>
          <p:nvPr/>
        </p:nvSpPr>
        <p:spPr>
          <a:xfrm>
            <a:off x="2438400" y="6972300"/>
            <a:ext cx="1905000" cy="1600200"/>
          </a:xfrm>
          <a:prstGeom prst="round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C2E35CA5-71A5-4A69-B27F-5E1AA4A665EF}"/>
              </a:ext>
            </a:extLst>
          </p:cNvPr>
          <p:cNvSpPr/>
          <p:nvPr/>
        </p:nvSpPr>
        <p:spPr>
          <a:xfrm>
            <a:off x="9525000" y="6972300"/>
            <a:ext cx="1905000" cy="1600200"/>
          </a:xfrm>
          <a:prstGeom prst="round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1F967C1E-46E8-427E-84BA-E88A276B21BD}"/>
              </a:ext>
            </a:extLst>
          </p:cNvPr>
          <p:cNvSpPr/>
          <p:nvPr/>
        </p:nvSpPr>
        <p:spPr>
          <a:xfrm>
            <a:off x="11649390" y="6996545"/>
            <a:ext cx="2752409" cy="1600200"/>
          </a:xfrm>
          <a:prstGeom prst="round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6C5F5155-B7C9-4D09-8BCA-CDB72BEAF05D}"/>
              </a:ext>
            </a:extLst>
          </p:cNvPr>
          <p:cNvSpPr/>
          <p:nvPr/>
        </p:nvSpPr>
        <p:spPr>
          <a:xfrm>
            <a:off x="14941325" y="3111916"/>
            <a:ext cx="1822675" cy="684707"/>
          </a:xfrm>
          <a:prstGeom prst="round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3"/>
            <a:stretch>
              <a:fillRect t="-38888" b="-38888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4399429" y="809625"/>
            <a:ext cx="19354610" cy="1903445"/>
            <a:chOff x="0" y="0"/>
            <a:chExt cx="1876002" cy="18449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876002" cy="184497"/>
            </a:xfrm>
            <a:custGeom>
              <a:avLst/>
              <a:gdLst/>
              <a:ahLst/>
              <a:cxnLst/>
              <a:rect l="l" t="t" r="r" b="b"/>
              <a:pathLst>
                <a:path w="1876002" h="184497">
                  <a:moveTo>
                    <a:pt x="1672802" y="0"/>
                  </a:moveTo>
                  <a:lnTo>
                    <a:pt x="0" y="0"/>
                  </a:lnTo>
                  <a:lnTo>
                    <a:pt x="203200" y="184497"/>
                  </a:lnTo>
                  <a:lnTo>
                    <a:pt x="1876002" y="184497"/>
                  </a:lnTo>
                  <a:lnTo>
                    <a:pt x="1672802" y="0"/>
                  </a:lnTo>
                  <a:close/>
                </a:path>
              </a:pathLst>
            </a:custGeom>
            <a:solidFill>
              <a:srgbClr val="010101"/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01600" y="-19050"/>
              <a:ext cx="1672802" cy="2035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3779447" y="4906117"/>
            <a:ext cx="902910" cy="916237"/>
          </a:xfrm>
          <a:custGeom>
            <a:avLst/>
            <a:gdLst/>
            <a:ahLst/>
            <a:cxnLst/>
            <a:rect l="l" t="t" r="r" b="b"/>
            <a:pathLst>
              <a:path w="902910" h="916237">
                <a:moveTo>
                  <a:pt x="0" y="0"/>
                </a:moveTo>
                <a:lnTo>
                  <a:pt x="902910" y="0"/>
                </a:lnTo>
                <a:lnTo>
                  <a:pt x="902910" y="916237"/>
                </a:lnTo>
                <a:lnTo>
                  <a:pt x="0" y="91623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764601" y="883327"/>
            <a:ext cx="9308329" cy="39251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72"/>
              </a:lnSpc>
            </a:pPr>
            <a:r>
              <a:rPr lang="en-US" sz="4545" spc="36">
                <a:solidFill>
                  <a:srgbClr val="FFFFFF"/>
                </a:solidFill>
                <a:ea typeface="210 밀레니얼"/>
              </a:rPr>
              <a:t>수행결과</a:t>
            </a:r>
          </a:p>
          <a:p>
            <a:pPr algn="l">
              <a:lnSpc>
                <a:spcPts val="6272"/>
              </a:lnSpc>
            </a:pPr>
            <a:r>
              <a:rPr lang="en-US" sz="4545" spc="36">
                <a:solidFill>
                  <a:srgbClr val="FFFFFF"/>
                </a:solidFill>
                <a:latin typeface="210 밀레니얼"/>
                <a:ea typeface="210 밀레니얼"/>
              </a:rPr>
              <a:t>3) 페이지 별 화면- 실효습도 화면</a:t>
            </a:r>
          </a:p>
          <a:p>
            <a:pPr algn="l">
              <a:lnSpc>
                <a:spcPts val="6272"/>
              </a:lnSpc>
            </a:pPr>
            <a:endParaRPr lang="en-US" sz="4545" spc="36">
              <a:solidFill>
                <a:srgbClr val="FFFFFF"/>
              </a:solidFill>
              <a:latin typeface="210 밀레니얼"/>
              <a:ea typeface="210 밀레니얼"/>
            </a:endParaRPr>
          </a:p>
          <a:p>
            <a:pPr algn="l">
              <a:lnSpc>
                <a:spcPts val="6272"/>
              </a:lnSpc>
            </a:pPr>
            <a:endParaRPr lang="en-US" sz="4545" spc="36">
              <a:solidFill>
                <a:srgbClr val="FFFFFF"/>
              </a:solidFill>
              <a:latin typeface="210 밀레니얼"/>
              <a:ea typeface="210 밀레니얼"/>
            </a:endParaRPr>
          </a:p>
          <a:p>
            <a:pPr marL="0" lvl="0" indent="0" algn="l">
              <a:lnSpc>
                <a:spcPts val="6272"/>
              </a:lnSpc>
              <a:spcBef>
                <a:spcPct val="0"/>
              </a:spcBef>
            </a:pPr>
            <a:endParaRPr lang="en-US" sz="4545" spc="36">
              <a:solidFill>
                <a:srgbClr val="FFFFFF"/>
              </a:solidFill>
              <a:latin typeface="210 밀레니얼"/>
              <a:ea typeface="210 밀레니얼"/>
            </a:endParaRPr>
          </a:p>
        </p:txBody>
      </p:sp>
      <p:grpSp>
        <p:nvGrpSpPr>
          <p:cNvPr id="8" name="Group 8"/>
          <p:cNvGrpSpPr/>
          <p:nvPr/>
        </p:nvGrpSpPr>
        <p:grpSpPr>
          <a:xfrm>
            <a:off x="1558300" y="2575326"/>
            <a:ext cx="5689104" cy="275488"/>
            <a:chOff x="0" y="0"/>
            <a:chExt cx="4519796" cy="21886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519796" cy="218865"/>
            </a:xfrm>
            <a:custGeom>
              <a:avLst/>
              <a:gdLst/>
              <a:ahLst/>
              <a:cxnLst/>
              <a:rect l="l" t="t" r="r" b="b"/>
              <a:pathLst>
                <a:path w="4519796" h="218865">
                  <a:moveTo>
                    <a:pt x="4316596" y="0"/>
                  </a:moveTo>
                  <a:lnTo>
                    <a:pt x="0" y="0"/>
                  </a:lnTo>
                  <a:lnTo>
                    <a:pt x="203200" y="218865"/>
                  </a:lnTo>
                  <a:lnTo>
                    <a:pt x="4519796" y="218865"/>
                  </a:lnTo>
                  <a:lnTo>
                    <a:pt x="4316596" y="0"/>
                  </a:lnTo>
                  <a:close/>
                </a:path>
              </a:pathLst>
            </a:custGeom>
            <a:solidFill>
              <a:srgbClr val="727070"/>
            </a:solidFill>
            <a:ln cap="sq">
              <a:noFill/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1600" y="-19050"/>
              <a:ext cx="4316596" cy="2379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2085550" y="-131220"/>
            <a:ext cx="9534019" cy="855519"/>
            <a:chOff x="0" y="0"/>
            <a:chExt cx="1876002" cy="16834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876002" cy="168340"/>
            </a:xfrm>
            <a:custGeom>
              <a:avLst/>
              <a:gdLst/>
              <a:ahLst/>
              <a:cxnLst/>
              <a:rect l="l" t="t" r="r" b="b"/>
              <a:pathLst>
                <a:path w="1876002" h="168340">
                  <a:moveTo>
                    <a:pt x="1672802" y="0"/>
                  </a:moveTo>
                  <a:lnTo>
                    <a:pt x="0" y="0"/>
                  </a:lnTo>
                  <a:lnTo>
                    <a:pt x="203200" y="168340"/>
                  </a:lnTo>
                  <a:lnTo>
                    <a:pt x="1876002" y="168340"/>
                  </a:lnTo>
                  <a:lnTo>
                    <a:pt x="1672802" y="0"/>
                  </a:lnTo>
                  <a:close/>
                </a:path>
              </a:pathLst>
            </a:custGeom>
            <a:solidFill>
              <a:srgbClr val="363636"/>
            </a:solidFill>
            <a:ln cap="sq">
              <a:noFill/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01600" y="-19050"/>
              <a:ext cx="1672802" cy="1873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AutoShape 14"/>
          <p:cNvSpPr/>
          <p:nvPr/>
        </p:nvSpPr>
        <p:spPr>
          <a:xfrm>
            <a:off x="-835741" y="743349"/>
            <a:ext cx="12921291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1765256D-03B5-4718-9C5A-3BACADB1D6F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76600" y="2932516"/>
            <a:ext cx="12057217" cy="7235393"/>
          </a:xfrm>
          <a:prstGeom prst="rect">
            <a:avLst/>
          </a:prstGeom>
        </p:spPr>
      </p:pic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0CB662E3-75F0-4A36-8013-7DB6D73F1BD2}"/>
              </a:ext>
            </a:extLst>
          </p:cNvPr>
          <p:cNvSpPr/>
          <p:nvPr/>
        </p:nvSpPr>
        <p:spPr>
          <a:xfrm>
            <a:off x="3505200" y="2898438"/>
            <a:ext cx="3505200" cy="721062"/>
          </a:xfrm>
          <a:prstGeom prst="round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559801CC-E9BB-4426-977F-95E6A4E14BAB}"/>
              </a:ext>
            </a:extLst>
          </p:cNvPr>
          <p:cNvSpPr/>
          <p:nvPr/>
        </p:nvSpPr>
        <p:spPr>
          <a:xfrm>
            <a:off x="3505200" y="3701202"/>
            <a:ext cx="5486400" cy="6432629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35FD4DB4-D7AA-4E42-AB63-1F998D60FECB}"/>
              </a:ext>
            </a:extLst>
          </p:cNvPr>
          <p:cNvSpPr/>
          <p:nvPr/>
        </p:nvSpPr>
        <p:spPr>
          <a:xfrm>
            <a:off x="9605682" y="3701202"/>
            <a:ext cx="5558118" cy="6432629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8" grpId="0" animBg="1"/>
      <p:bldP spid="1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grpSp>
        <p:nvGrpSpPr>
          <p:cNvPr id="3" name="Group 3"/>
          <p:cNvGrpSpPr/>
          <p:nvPr/>
        </p:nvGrpSpPr>
        <p:grpSpPr>
          <a:xfrm rot="-5400000">
            <a:off x="8599743" y="-3325530"/>
            <a:ext cx="1088513" cy="18288000"/>
            <a:chOff x="0" y="0"/>
            <a:chExt cx="286687" cy="481659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86687" cy="4816592"/>
            </a:xfrm>
            <a:custGeom>
              <a:avLst/>
              <a:gdLst/>
              <a:ahLst/>
              <a:cxnLst/>
              <a:rect l="l" t="t" r="r" b="b"/>
              <a:pathLst>
                <a:path w="286687" h="4816592">
                  <a:moveTo>
                    <a:pt x="0" y="0"/>
                  </a:moveTo>
                  <a:lnTo>
                    <a:pt x="286687" y="0"/>
                  </a:lnTo>
                  <a:lnTo>
                    <a:pt x="286687" y="4816592"/>
                  </a:lnTo>
                  <a:lnTo>
                    <a:pt x="0" y="4816592"/>
                  </a:lnTo>
                  <a:close/>
                </a:path>
              </a:pathLst>
            </a:custGeom>
            <a:gradFill rotWithShape="1">
              <a:gsLst>
                <a:gs pos="0">
                  <a:srgbClr val="696969">
                    <a:alpha val="41040"/>
                  </a:srgbClr>
                </a:gs>
                <a:gs pos="33333">
                  <a:srgbClr val="B4B4B4">
                    <a:alpha val="47025"/>
                  </a:srgbClr>
                </a:gs>
                <a:gs pos="66667">
                  <a:srgbClr val="EEEEEE">
                    <a:alpha val="40185"/>
                  </a:srgbClr>
                </a:gs>
                <a:gs pos="100000">
                  <a:srgbClr val="FBFBFB">
                    <a:alpha val="1254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19050"/>
              <a:ext cx="286687" cy="4835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7900" y="6235092"/>
            <a:ext cx="18270100" cy="7467944"/>
          </a:xfrm>
          <a:custGeom>
            <a:avLst/>
            <a:gdLst/>
            <a:ahLst/>
            <a:cxnLst/>
            <a:rect l="l" t="t" r="r" b="b"/>
            <a:pathLst>
              <a:path w="18270100" h="7467944">
                <a:moveTo>
                  <a:pt x="0" y="0"/>
                </a:moveTo>
                <a:lnTo>
                  <a:pt x="18270100" y="0"/>
                </a:lnTo>
                <a:lnTo>
                  <a:pt x="18270100" y="7467944"/>
                </a:lnTo>
                <a:lnTo>
                  <a:pt x="0" y="74679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31574" b="-31574"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478661" y="3875355"/>
            <a:ext cx="5579409" cy="4357938"/>
            <a:chOff x="0" y="0"/>
            <a:chExt cx="1469474" cy="114777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469474" cy="1147770"/>
            </a:xfrm>
            <a:custGeom>
              <a:avLst/>
              <a:gdLst/>
              <a:ahLst/>
              <a:cxnLst/>
              <a:rect l="l" t="t" r="r" b="b"/>
              <a:pathLst>
                <a:path w="1469474" h="1147770">
                  <a:moveTo>
                    <a:pt x="27752" y="0"/>
                  </a:moveTo>
                  <a:lnTo>
                    <a:pt x="1441722" y="0"/>
                  </a:lnTo>
                  <a:cubicBezTo>
                    <a:pt x="1457049" y="0"/>
                    <a:pt x="1469474" y="12425"/>
                    <a:pt x="1469474" y="27752"/>
                  </a:cubicBezTo>
                  <a:lnTo>
                    <a:pt x="1469474" y="1120018"/>
                  </a:lnTo>
                  <a:cubicBezTo>
                    <a:pt x="1469474" y="1135345"/>
                    <a:pt x="1457049" y="1147770"/>
                    <a:pt x="1441722" y="1147770"/>
                  </a:cubicBezTo>
                  <a:lnTo>
                    <a:pt x="27752" y="1147770"/>
                  </a:lnTo>
                  <a:cubicBezTo>
                    <a:pt x="12425" y="1147770"/>
                    <a:pt x="0" y="1135345"/>
                    <a:pt x="0" y="1120018"/>
                  </a:cubicBezTo>
                  <a:lnTo>
                    <a:pt x="0" y="27752"/>
                  </a:lnTo>
                  <a:cubicBezTo>
                    <a:pt x="0" y="12425"/>
                    <a:pt x="12425" y="0"/>
                    <a:pt x="27752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363636"/>
              </a:solidFill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1469474" cy="11668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981480" y="1650407"/>
            <a:ext cx="13813210" cy="8888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291"/>
              </a:lnSpc>
              <a:spcBef>
                <a:spcPct val="0"/>
              </a:spcBef>
            </a:pPr>
            <a:r>
              <a:rPr lang="en-US" sz="5283" spc="184">
                <a:solidFill>
                  <a:srgbClr val="010101"/>
                </a:solidFill>
                <a:latin typeface="210 밀레니얼"/>
                <a:ea typeface="210 밀레니얼"/>
              </a:rPr>
              <a:t>3차 프로젝트에 대한 팀원 별 느낀점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2154766" y="3750375"/>
            <a:ext cx="157787" cy="156369"/>
            <a:chOff x="0" y="0"/>
            <a:chExt cx="320400" cy="31752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20421" cy="329184"/>
            </a:xfrm>
            <a:custGeom>
              <a:avLst/>
              <a:gdLst/>
              <a:ahLst/>
              <a:cxnLst/>
              <a:rect l="l" t="t" r="r" b="b"/>
              <a:pathLst>
                <a:path w="320421" h="329184">
                  <a:moveTo>
                    <a:pt x="320421" y="329184"/>
                  </a:moveTo>
                  <a:lnTo>
                    <a:pt x="0" y="329184"/>
                  </a:lnTo>
                  <a:lnTo>
                    <a:pt x="0" y="158750"/>
                  </a:lnTo>
                  <a:cubicBezTo>
                    <a:pt x="0" y="70866"/>
                    <a:pt x="71501" y="0"/>
                    <a:pt x="160147" y="0"/>
                  </a:cubicBezTo>
                  <a:cubicBezTo>
                    <a:pt x="248793" y="0"/>
                    <a:pt x="320421" y="70866"/>
                    <a:pt x="320421" y="158750"/>
                  </a:cubicBezTo>
                  <a:lnTo>
                    <a:pt x="320421" y="329184"/>
                  </a:lnTo>
                  <a:close/>
                </a:path>
              </a:pathLst>
            </a:custGeom>
            <a:solidFill>
              <a:srgbClr val="040506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1185881" y="3750375"/>
            <a:ext cx="1047779" cy="1124013"/>
            <a:chOff x="0" y="0"/>
            <a:chExt cx="2127600" cy="22824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136648" cy="2334387"/>
            </a:xfrm>
            <a:custGeom>
              <a:avLst/>
              <a:gdLst/>
              <a:ahLst/>
              <a:cxnLst/>
              <a:rect l="l" t="t" r="r" b="b"/>
              <a:pathLst>
                <a:path w="2136648" h="2334387">
                  <a:moveTo>
                    <a:pt x="1983994" y="0"/>
                  </a:moveTo>
                  <a:lnTo>
                    <a:pt x="144145" y="0"/>
                  </a:lnTo>
                  <a:cubicBezTo>
                    <a:pt x="64389" y="0"/>
                    <a:pt x="0" y="64262"/>
                    <a:pt x="0" y="143891"/>
                  </a:cubicBezTo>
                  <a:lnTo>
                    <a:pt x="0" y="2334387"/>
                  </a:lnTo>
                  <a:lnTo>
                    <a:pt x="991997" y="1949577"/>
                  </a:lnTo>
                  <a:lnTo>
                    <a:pt x="1983994" y="2334387"/>
                  </a:lnTo>
                  <a:lnTo>
                    <a:pt x="1983994" y="152400"/>
                  </a:lnTo>
                  <a:cubicBezTo>
                    <a:pt x="1983994" y="67945"/>
                    <a:pt x="2052574" y="0"/>
                    <a:pt x="2136648" y="0"/>
                  </a:cubicBezTo>
                  <a:lnTo>
                    <a:pt x="1983994" y="0"/>
                  </a:lnTo>
                  <a:close/>
                </a:path>
              </a:pathLst>
            </a:custGeom>
            <a:solidFill>
              <a:srgbClr val="363636"/>
            </a:solidFill>
          </p:spPr>
        </p:sp>
      </p:grpSp>
      <p:sp>
        <p:nvSpPr>
          <p:cNvPr id="15" name="TextBox 15"/>
          <p:cNvSpPr txBox="1"/>
          <p:nvPr/>
        </p:nvSpPr>
        <p:spPr>
          <a:xfrm>
            <a:off x="2684029" y="4158110"/>
            <a:ext cx="2745392" cy="510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4234"/>
              </a:lnSpc>
              <a:spcBef>
                <a:spcPct val="0"/>
              </a:spcBef>
            </a:pPr>
            <a:r>
              <a:rPr lang="en-US" sz="3068" spc="300">
                <a:solidFill>
                  <a:srgbClr val="000000"/>
                </a:solidFill>
                <a:ea typeface="210 밀레니얼"/>
              </a:rPr>
              <a:t>곽전규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80839" y="5112684"/>
            <a:ext cx="5175054" cy="29005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77"/>
              </a:lnSpc>
            </a:pPr>
            <a:r>
              <a:rPr lang="en-US" sz="1867" spc="183">
                <a:solidFill>
                  <a:srgbClr val="000000"/>
                </a:solidFill>
                <a:latin typeface="Montserrat Light"/>
                <a:ea typeface="Montserrat Light"/>
              </a:rPr>
              <a:t>데이터 수집과 가공 과정에서는 충분한 양의  데이터를 확보했다고 판단했습니다. 그러나   실제로 이를 시각화하고 웹사이트에 구현하려고 하니 보여줄 수 있는 정보의 양이 부족했던 것 같습니다. 기회가 되면 나중에는 더욱 폭넓은 데이터 소스를 활용하여 다채로운 정보를  제공할 수 있는 웹사이트를 제작해보고 싶습니다. 그렇게 함으로써 유용한 정보를 전달해보고 싶습니다.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6429545" y="3875355"/>
            <a:ext cx="5579409" cy="4357938"/>
            <a:chOff x="0" y="0"/>
            <a:chExt cx="1469474" cy="114777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469474" cy="1147770"/>
            </a:xfrm>
            <a:custGeom>
              <a:avLst/>
              <a:gdLst/>
              <a:ahLst/>
              <a:cxnLst/>
              <a:rect l="l" t="t" r="r" b="b"/>
              <a:pathLst>
                <a:path w="1469474" h="1147770">
                  <a:moveTo>
                    <a:pt x="27752" y="0"/>
                  </a:moveTo>
                  <a:lnTo>
                    <a:pt x="1441722" y="0"/>
                  </a:lnTo>
                  <a:cubicBezTo>
                    <a:pt x="1457049" y="0"/>
                    <a:pt x="1469474" y="12425"/>
                    <a:pt x="1469474" y="27752"/>
                  </a:cubicBezTo>
                  <a:lnTo>
                    <a:pt x="1469474" y="1120018"/>
                  </a:lnTo>
                  <a:cubicBezTo>
                    <a:pt x="1469474" y="1135345"/>
                    <a:pt x="1457049" y="1147770"/>
                    <a:pt x="1441722" y="1147770"/>
                  </a:cubicBezTo>
                  <a:lnTo>
                    <a:pt x="27752" y="1147770"/>
                  </a:lnTo>
                  <a:cubicBezTo>
                    <a:pt x="12425" y="1147770"/>
                    <a:pt x="0" y="1135345"/>
                    <a:pt x="0" y="1120018"/>
                  </a:cubicBezTo>
                  <a:lnTo>
                    <a:pt x="0" y="27752"/>
                  </a:lnTo>
                  <a:cubicBezTo>
                    <a:pt x="0" y="12425"/>
                    <a:pt x="12425" y="0"/>
                    <a:pt x="27752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363636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0" y="-19050"/>
              <a:ext cx="1469474" cy="11668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287813" y="3750375"/>
            <a:ext cx="1047779" cy="1124013"/>
            <a:chOff x="0" y="0"/>
            <a:chExt cx="2127600" cy="22824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136648" cy="2334387"/>
            </a:xfrm>
            <a:custGeom>
              <a:avLst/>
              <a:gdLst/>
              <a:ahLst/>
              <a:cxnLst/>
              <a:rect l="l" t="t" r="r" b="b"/>
              <a:pathLst>
                <a:path w="2136648" h="2334387">
                  <a:moveTo>
                    <a:pt x="1983994" y="0"/>
                  </a:moveTo>
                  <a:lnTo>
                    <a:pt x="144145" y="0"/>
                  </a:lnTo>
                  <a:cubicBezTo>
                    <a:pt x="64389" y="0"/>
                    <a:pt x="0" y="64262"/>
                    <a:pt x="0" y="143891"/>
                  </a:cubicBezTo>
                  <a:lnTo>
                    <a:pt x="0" y="2334387"/>
                  </a:lnTo>
                  <a:lnTo>
                    <a:pt x="991997" y="1949577"/>
                  </a:lnTo>
                  <a:lnTo>
                    <a:pt x="1983994" y="2334387"/>
                  </a:lnTo>
                  <a:lnTo>
                    <a:pt x="1983994" y="152400"/>
                  </a:lnTo>
                  <a:cubicBezTo>
                    <a:pt x="1983994" y="67945"/>
                    <a:pt x="2052574" y="0"/>
                    <a:pt x="2136648" y="0"/>
                  </a:cubicBezTo>
                  <a:lnTo>
                    <a:pt x="1983994" y="0"/>
                  </a:lnTo>
                  <a:close/>
                </a:path>
              </a:pathLst>
            </a:custGeom>
            <a:solidFill>
              <a:srgbClr val="363636"/>
            </a:solidFill>
          </p:spPr>
        </p:sp>
      </p:grpSp>
      <p:grpSp>
        <p:nvGrpSpPr>
          <p:cNvPr id="22" name="Group 22"/>
          <p:cNvGrpSpPr/>
          <p:nvPr/>
        </p:nvGrpSpPr>
        <p:grpSpPr>
          <a:xfrm>
            <a:off x="8177804" y="3750375"/>
            <a:ext cx="157787" cy="156369"/>
            <a:chOff x="0" y="0"/>
            <a:chExt cx="320400" cy="31752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320421" cy="329184"/>
            </a:xfrm>
            <a:custGeom>
              <a:avLst/>
              <a:gdLst/>
              <a:ahLst/>
              <a:cxnLst/>
              <a:rect l="l" t="t" r="r" b="b"/>
              <a:pathLst>
                <a:path w="320421" h="329184">
                  <a:moveTo>
                    <a:pt x="320421" y="329184"/>
                  </a:moveTo>
                  <a:lnTo>
                    <a:pt x="0" y="329184"/>
                  </a:lnTo>
                  <a:lnTo>
                    <a:pt x="0" y="158750"/>
                  </a:lnTo>
                  <a:cubicBezTo>
                    <a:pt x="0" y="70866"/>
                    <a:pt x="71501" y="0"/>
                    <a:pt x="160147" y="0"/>
                  </a:cubicBezTo>
                  <a:cubicBezTo>
                    <a:pt x="248793" y="0"/>
                    <a:pt x="320421" y="70866"/>
                    <a:pt x="320421" y="158750"/>
                  </a:cubicBezTo>
                  <a:lnTo>
                    <a:pt x="320421" y="329184"/>
                  </a:lnTo>
                  <a:close/>
                </a:path>
              </a:pathLst>
            </a:custGeom>
            <a:solidFill>
              <a:srgbClr val="040506"/>
            </a:solidFill>
          </p:spPr>
        </p:sp>
      </p:grpSp>
      <p:sp>
        <p:nvSpPr>
          <p:cNvPr id="24" name="TextBox 24"/>
          <p:cNvSpPr txBox="1"/>
          <p:nvPr/>
        </p:nvSpPr>
        <p:spPr>
          <a:xfrm>
            <a:off x="6821934" y="5264967"/>
            <a:ext cx="4794632" cy="25864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1857" spc="182">
                <a:solidFill>
                  <a:srgbClr val="000000"/>
                </a:solidFill>
                <a:latin typeface="Montserrat Light"/>
                <a:ea typeface="Montserrat Light"/>
              </a:rPr>
              <a:t> 차트를 다른 곳에서 한번 그려보았기 때문에 차트를 그리는 건 그리 어렵진 않았지만 안에 데이터를 넣는 것을 어떤 데이터를 넣어야 할지 그리고 데이터들을 비교하여 나타내는 것이 생각보다 어려웠습니다 그래도 새로운 걸 배움으로서 다음에도 이걸 활용할 수 있을 거란 생각에 즐거웠습니다.</a:t>
            </a:r>
          </a:p>
          <a:p>
            <a:pPr algn="l">
              <a:lnSpc>
                <a:spcPts val="2562"/>
              </a:lnSpc>
            </a:pPr>
            <a:endParaRPr lang="en-US" sz="1857" spc="182">
              <a:solidFill>
                <a:srgbClr val="000000"/>
              </a:solidFill>
              <a:latin typeface="Montserrat Light"/>
              <a:ea typeface="Montserrat Light"/>
            </a:endParaRPr>
          </a:p>
        </p:txBody>
      </p:sp>
      <p:grpSp>
        <p:nvGrpSpPr>
          <p:cNvPr id="25" name="Group 25"/>
          <p:cNvGrpSpPr/>
          <p:nvPr/>
        </p:nvGrpSpPr>
        <p:grpSpPr>
          <a:xfrm>
            <a:off x="12302289" y="3875355"/>
            <a:ext cx="5579409" cy="4357938"/>
            <a:chOff x="0" y="0"/>
            <a:chExt cx="1469474" cy="114777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469474" cy="1147770"/>
            </a:xfrm>
            <a:custGeom>
              <a:avLst/>
              <a:gdLst/>
              <a:ahLst/>
              <a:cxnLst/>
              <a:rect l="l" t="t" r="r" b="b"/>
              <a:pathLst>
                <a:path w="1469474" h="1147770">
                  <a:moveTo>
                    <a:pt x="27752" y="0"/>
                  </a:moveTo>
                  <a:lnTo>
                    <a:pt x="1441722" y="0"/>
                  </a:lnTo>
                  <a:cubicBezTo>
                    <a:pt x="1457049" y="0"/>
                    <a:pt x="1469474" y="12425"/>
                    <a:pt x="1469474" y="27752"/>
                  </a:cubicBezTo>
                  <a:lnTo>
                    <a:pt x="1469474" y="1120018"/>
                  </a:lnTo>
                  <a:cubicBezTo>
                    <a:pt x="1469474" y="1135345"/>
                    <a:pt x="1457049" y="1147770"/>
                    <a:pt x="1441722" y="1147770"/>
                  </a:cubicBezTo>
                  <a:lnTo>
                    <a:pt x="27752" y="1147770"/>
                  </a:lnTo>
                  <a:cubicBezTo>
                    <a:pt x="12425" y="1147770"/>
                    <a:pt x="0" y="1135345"/>
                    <a:pt x="0" y="1120018"/>
                  </a:cubicBezTo>
                  <a:lnTo>
                    <a:pt x="0" y="27752"/>
                  </a:lnTo>
                  <a:cubicBezTo>
                    <a:pt x="0" y="12425"/>
                    <a:pt x="12425" y="0"/>
                    <a:pt x="27752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363636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0" y="-19050"/>
              <a:ext cx="1469474" cy="11668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3977965" y="3797170"/>
            <a:ext cx="157787" cy="156369"/>
            <a:chOff x="0" y="0"/>
            <a:chExt cx="320400" cy="31752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320421" cy="329184"/>
            </a:xfrm>
            <a:custGeom>
              <a:avLst/>
              <a:gdLst/>
              <a:ahLst/>
              <a:cxnLst/>
              <a:rect l="l" t="t" r="r" b="b"/>
              <a:pathLst>
                <a:path w="320421" h="329184">
                  <a:moveTo>
                    <a:pt x="320421" y="329184"/>
                  </a:moveTo>
                  <a:lnTo>
                    <a:pt x="0" y="329184"/>
                  </a:lnTo>
                  <a:lnTo>
                    <a:pt x="0" y="158750"/>
                  </a:lnTo>
                  <a:cubicBezTo>
                    <a:pt x="0" y="70866"/>
                    <a:pt x="71501" y="0"/>
                    <a:pt x="160147" y="0"/>
                  </a:cubicBezTo>
                  <a:cubicBezTo>
                    <a:pt x="248793" y="0"/>
                    <a:pt x="320421" y="70866"/>
                    <a:pt x="320421" y="158750"/>
                  </a:cubicBezTo>
                  <a:lnTo>
                    <a:pt x="320421" y="329184"/>
                  </a:lnTo>
                  <a:close/>
                </a:path>
              </a:pathLst>
            </a:custGeom>
            <a:solidFill>
              <a:srgbClr val="040506"/>
            </a:solidFill>
          </p:spPr>
        </p:sp>
      </p:grpSp>
      <p:sp>
        <p:nvSpPr>
          <p:cNvPr id="30" name="TextBox 30"/>
          <p:cNvSpPr txBox="1"/>
          <p:nvPr/>
        </p:nvSpPr>
        <p:spPr>
          <a:xfrm>
            <a:off x="12488895" y="4988900"/>
            <a:ext cx="5206197" cy="33406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56"/>
              </a:lnSpc>
            </a:pPr>
            <a:r>
              <a:rPr lang="en-US" sz="1779" spc="174">
                <a:solidFill>
                  <a:srgbClr val="000000"/>
                </a:solidFill>
                <a:ea typeface="Montserrat Light"/>
              </a:rPr>
              <a:t>데이터를 수집하고 가공하는데까지는 큰 어려움이 없었으나 이것을 어떤 차트로 구현할 지 </a:t>
            </a:r>
          </a:p>
          <a:p>
            <a:pPr algn="l">
              <a:lnSpc>
                <a:spcPts val="2456"/>
              </a:lnSpc>
            </a:pPr>
            <a:r>
              <a:rPr lang="en-US" sz="1779" spc="174">
                <a:solidFill>
                  <a:srgbClr val="000000"/>
                </a:solidFill>
                <a:ea typeface="Montserrat Light"/>
              </a:rPr>
              <a:t>또 어떻게 해야 더 알아보기 쉽게 만들어 낼지</a:t>
            </a:r>
          </a:p>
          <a:p>
            <a:pPr algn="l">
              <a:lnSpc>
                <a:spcPts val="2456"/>
              </a:lnSpc>
            </a:pPr>
            <a:r>
              <a:rPr lang="en-US" sz="1779" spc="174">
                <a:solidFill>
                  <a:srgbClr val="000000"/>
                </a:solidFill>
                <a:latin typeface="Montserrat Light"/>
                <a:ea typeface="Montserrat Light"/>
              </a:rPr>
              <a:t>생각하는데 오랜 시간이 걸렸습니다. </a:t>
            </a:r>
          </a:p>
          <a:p>
            <a:pPr algn="l">
              <a:lnSpc>
                <a:spcPts val="2456"/>
              </a:lnSpc>
            </a:pPr>
            <a:r>
              <a:rPr lang="en-US" sz="1779" spc="174">
                <a:solidFill>
                  <a:srgbClr val="000000"/>
                </a:solidFill>
                <a:ea typeface="Montserrat Light"/>
              </a:rPr>
              <a:t>뿐만 아니라 조금 더 유용한 정보를 알려주는 </a:t>
            </a:r>
          </a:p>
          <a:p>
            <a:pPr algn="l">
              <a:lnSpc>
                <a:spcPts val="2456"/>
              </a:lnSpc>
            </a:pPr>
            <a:r>
              <a:rPr lang="en-US" sz="1779" spc="174">
                <a:solidFill>
                  <a:srgbClr val="000000"/>
                </a:solidFill>
                <a:ea typeface="Montserrat Light"/>
              </a:rPr>
              <a:t>페이지를 만들고 싶었는데 한정된 데이터로 </a:t>
            </a:r>
          </a:p>
          <a:p>
            <a:pPr algn="l">
              <a:lnSpc>
                <a:spcPts val="2456"/>
              </a:lnSpc>
            </a:pPr>
            <a:r>
              <a:rPr lang="en-US" sz="1779" spc="174">
                <a:solidFill>
                  <a:srgbClr val="000000"/>
                </a:solidFill>
                <a:latin typeface="Montserrat Light"/>
                <a:ea typeface="Montserrat Light"/>
              </a:rPr>
              <a:t>만들기는 어려웠습니다. </a:t>
            </a:r>
          </a:p>
          <a:p>
            <a:pPr algn="l">
              <a:lnSpc>
                <a:spcPts val="2456"/>
              </a:lnSpc>
            </a:pPr>
            <a:r>
              <a:rPr lang="en-US" sz="1779" spc="174">
                <a:solidFill>
                  <a:srgbClr val="000000"/>
                </a:solidFill>
                <a:ea typeface="Montserrat Light"/>
              </a:rPr>
              <a:t>다음에도 이와 유사한 프로젝트를 제작하게 된다면 조금 더 유용하고 다양한 정보를 보여주는 </a:t>
            </a:r>
          </a:p>
          <a:p>
            <a:pPr algn="l">
              <a:lnSpc>
                <a:spcPts val="2456"/>
              </a:lnSpc>
            </a:pPr>
            <a:r>
              <a:rPr lang="en-US" sz="1779" spc="174">
                <a:solidFill>
                  <a:srgbClr val="000000"/>
                </a:solidFill>
                <a:latin typeface="Montserrat Light"/>
                <a:ea typeface="Montserrat Light"/>
              </a:rPr>
              <a:t>사이트를 만들어 보고자 합니다.</a:t>
            </a:r>
          </a:p>
          <a:p>
            <a:pPr algn="l">
              <a:lnSpc>
                <a:spcPts val="2456"/>
              </a:lnSpc>
            </a:pPr>
            <a:endParaRPr lang="en-US" sz="1779" spc="174">
              <a:solidFill>
                <a:srgbClr val="000000"/>
              </a:solidFill>
              <a:latin typeface="Montserrat Light"/>
              <a:ea typeface="Montserrat Light"/>
            </a:endParaRPr>
          </a:p>
        </p:txBody>
      </p:sp>
      <p:grpSp>
        <p:nvGrpSpPr>
          <p:cNvPr id="31" name="Group 31"/>
          <p:cNvGrpSpPr/>
          <p:nvPr/>
        </p:nvGrpSpPr>
        <p:grpSpPr>
          <a:xfrm>
            <a:off x="13009080" y="3797170"/>
            <a:ext cx="1047779" cy="1124013"/>
            <a:chOff x="0" y="0"/>
            <a:chExt cx="2127600" cy="22824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2136648" cy="2334387"/>
            </a:xfrm>
            <a:custGeom>
              <a:avLst/>
              <a:gdLst/>
              <a:ahLst/>
              <a:cxnLst/>
              <a:rect l="l" t="t" r="r" b="b"/>
              <a:pathLst>
                <a:path w="2136648" h="2334387">
                  <a:moveTo>
                    <a:pt x="1983994" y="0"/>
                  </a:moveTo>
                  <a:lnTo>
                    <a:pt x="144145" y="0"/>
                  </a:lnTo>
                  <a:cubicBezTo>
                    <a:pt x="64389" y="0"/>
                    <a:pt x="0" y="64262"/>
                    <a:pt x="0" y="143891"/>
                  </a:cubicBezTo>
                  <a:lnTo>
                    <a:pt x="0" y="2334387"/>
                  </a:lnTo>
                  <a:lnTo>
                    <a:pt x="991997" y="1949577"/>
                  </a:lnTo>
                  <a:lnTo>
                    <a:pt x="1983994" y="2334387"/>
                  </a:lnTo>
                  <a:lnTo>
                    <a:pt x="1983994" y="152400"/>
                  </a:lnTo>
                  <a:cubicBezTo>
                    <a:pt x="1983994" y="67945"/>
                    <a:pt x="2052574" y="0"/>
                    <a:pt x="2136648" y="0"/>
                  </a:cubicBezTo>
                  <a:lnTo>
                    <a:pt x="1983994" y="0"/>
                  </a:lnTo>
                  <a:close/>
                </a:path>
              </a:pathLst>
            </a:custGeom>
            <a:solidFill>
              <a:srgbClr val="363636"/>
            </a:solidFill>
          </p:spPr>
        </p:sp>
      </p:grpSp>
      <p:sp>
        <p:nvSpPr>
          <p:cNvPr id="33" name="TextBox 33"/>
          <p:cNvSpPr txBox="1"/>
          <p:nvPr/>
        </p:nvSpPr>
        <p:spPr>
          <a:xfrm>
            <a:off x="14513908" y="4148585"/>
            <a:ext cx="2745392" cy="5124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4139"/>
              </a:lnSpc>
              <a:spcBef>
                <a:spcPct val="0"/>
              </a:spcBef>
            </a:pPr>
            <a:r>
              <a:rPr lang="en-US" sz="2999" spc="293">
                <a:solidFill>
                  <a:srgbClr val="000000"/>
                </a:solidFill>
                <a:ea typeface="210 밀레니얼"/>
              </a:rPr>
              <a:t>최혜빈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506455" y="4089746"/>
            <a:ext cx="2745392" cy="5124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4140"/>
              </a:lnSpc>
              <a:spcBef>
                <a:spcPct val="0"/>
              </a:spcBef>
            </a:pPr>
            <a:r>
              <a:rPr lang="en-US" sz="3000" spc="294">
                <a:solidFill>
                  <a:srgbClr val="000000"/>
                </a:solidFill>
                <a:ea typeface="210 밀레니얼"/>
              </a:rPr>
              <a:t>주진솔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659420" y="8263127"/>
            <a:ext cx="2799147" cy="440074"/>
          </a:xfrm>
          <a:custGeom>
            <a:avLst/>
            <a:gdLst/>
            <a:ahLst/>
            <a:cxnLst/>
            <a:rect l="l" t="t" r="r" b="b"/>
            <a:pathLst>
              <a:path w="2799147" h="440074">
                <a:moveTo>
                  <a:pt x="0" y="0"/>
                </a:moveTo>
                <a:lnTo>
                  <a:pt x="2799147" y="0"/>
                </a:lnTo>
                <a:lnTo>
                  <a:pt x="2799147" y="440074"/>
                </a:lnTo>
                <a:lnTo>
                  <a:pt x="0" y="4400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5622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9659420" y="5607622"/>
            <a:ext cx="2799147" cy="2799147"/>
            <a:chOff x="0" y="0"/>
            <a:chExt cx="6350000" cy="6350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350000" cy="6351270"/>
            </a:xfrm>
            <a:custGeom>
              <a:avLst/>
              <a:gdLst/>
              <a:ahLst/>
              <a:cxnLst/>
              <a:rect l="l" t="t" r="r" b="b"/>
              <a:pathLst>
                <a:path w="6350000" h="6351270">
                  <a:moveTo>
                    <a:pt x="0" y="5955030"/>
                  </a:moveTo>
                  <a:lnTo>
                    <a:pt x="0" y="394970"/>
                  </a:lnTo>
                  <a:cubicBezTo>
                    <a:pt x="0" y="176530"/>
                    <a:pt x="176530" y="0"/>
                    <a:pt x="394970" y="0"/>
                  </a:cubicBezTo>
                  <a:lnTo>
                    <a:pt x="5956300" y="0"/>
                  </a:lnTo>
                  <a:cubicBezTo>
                    <a:pt x="6173470" y="0"/>
                    <a:pt x="6350000" y="176530"/>
                    <a:pt x="6350000" y="394970"/>
                  </a:cubicBezTo>
                  <a:lnTo>
                    <a:pt x="6350000" y="5956300"/>
                  </a:lnTo>
                  <a:cubicBezTo>
                    <a:pt x="6350000" y="6174740"/>
                    <a:pt x="6173470" y="6351270"/>
                    <a:pt x="5955030" y="6351270"/>
                  </a:cubicBezTo>
                  <a:lnTo>
                    <a:pt x="394970" y="6351270"/>
                  </a:lnTo>
                  <a:cubicBezTo>
                    <a:pt x="176530" y="6350000"/>
                    <a:pt x="0" y="6173470"/>
                    <a:pt x="0" y="5955030"/>
                  </a:cubicBezTo>
                  <a:close/>
                </a:path>
              </a:pathLst>
            </a:custGeom>
            <a:blipFill>
              <a:blip r:embed="rId3"/>
              <a:stretch>
                <a:fillRect l="-30016" r="-30016"/>
              </a:stretch>
            </a:blipFill>
          </p:spPr>
        </p:sp>
      </p:grpSp>
      <p:sp>
        <p:nvSpPr>
          <p:cNvPr id="5" name="Freeform 5"/>
          <p:cNvSpPr/>
          <p:nvPr/>
        </p:nvSpPr>
        <p:spPr>
          <a:xfrm>
            <a:off x="9659420" y="4799097"/>
            <a:ext cx="2799147" cy="440074"/>
          </a:xfrm>
          <a:custGeom>
            <a:avLst/>
            <a:gdLst/>
            <a:ahLst/>
            <a:cxnLst/>
            <a:rect l="l" t="t" r="r" b="b"/>
            <a:pathLst>
              <a:path w="2799147" h="440074">
                <a:moveTo>
                  <a:pt x="0" y="0"/>
                </a:moveTo>
                <a:lnTo>
                  <a:pt x="2799147" y="0"/>
                </a:lnTo>
                <a:lnTo>
                  <a:pt x="2799147" y="440074"/>
                </a:lnTo>
                <a:lnTo>
                  <a:pt x="0" y="4400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5622"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9659420" y="2143592"/>
            <a:ext cx="2799147" cy="2799147"/>
            <a:chOff x="0" y="0"/>
            <a:chExt cx="6350000" cy="6350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350000" cy="6351270"/>
            </a:xfrm>
            <a:custGeom>
              <a:avLst/>
              <a:gdLst/>
              <a:ahLst/>
              <a:cxnLst/>
              <a:rect l="l" t="t" r="r" b="b"/>
              <a:pathLst>
                <a:path w="6350000" h="6351270">
                  <a:moveTo>
                    <a:pt x="0" y="5955030"/>
                  </a:moveTo>
                  <a:lnTo>
                    <a:pt x="0" y="394970"/>
                  </a:lnTo>
                  <a:cubicBezTo>
                    <a:pt x="0" y="176530"/>
                    <a:pt x="176530" y="0"/>
                    <a:pt x="394970" y="0"/>
                  </a:cubicBezTo>
                  <a:lnTo>
                    <a:pt x="5956300" y="0"/>
                  </a:lnTo>
                  <a:cubicBezTo>
                    <a:pt x="6173470" y="0"/>
                    <a:pt x="6350000" y="176530"/>
                    <a:pt x="6350000" y="394970"/>
                  </a:cubicBezTo>
                  <a:lnTo>
                    <a:pt x="6350000" y="5956300"/>
                  </a:lnTo>
                  <a:cubicBezTo>
                    <a:pt x="6350000" y="6174740"/>
                    <a:pt x="6173470" y="6351270"/>
                    <a:pt x="5955030" y="6351270"/>
                  </a:cubicBezTo>
                  <a:lnTo>
                    <a:pt x="394970" y="6351270"/>
                  </a:lnTo>
                  <a:cubicBezTo>
                    <a:pt x="176530" y="6350000"/>
                    <a:pt x="0" y="6173470"/>
                    <a:pt x="0" y="5955030"/>
                  </a:cubicBezTo>
                  <a:close/>
                </a:path>
              </a:pathLst>
            </a:custGeom>
            <a:blipFill>
              <a:blip r:embed="rId4"/>
              <a:stretch>
                <a:fillRect l="-24991" r="-24991"/>
              </a:stretch>
            </a:blipFill>
          </p:spPr>
        </p:sp>
      </p:grpSp>
      <p:sp>
        <p:nvSpPr>
          <p:cNvPr id="8" name="Freeform 8"/>
          <p:cNvSpPr/>
          <p:nvPr/>
        </p:nvSpPr>
        <p:spPr>
          <a:xfrm>
            <a:off x="2179183" y="6826068"/>
            <a:ext cx="6851587" cy="1077187"/>
          </a:xfrm>
          <a:custGeom>
            <a:avLst/>
            <a:gdLst/>
            <a:ahLst/>
            <a:cxnLst/>
            <a:rect l="l" t="t" r="r" b="b"/>
            <a:pathLst>
              <a:path w="6851587" h="1077187">
                <a:moveTo>
                  <a:pt x="0" y="0"/>
                </a:moveTo>
                <a:lnTo>
                  <a:pt x="6851587" y="0"/>
                </a:lnTo>
                <a:lnTo>
                  <a:pt x="6851587" y="1077187"/>
                </a:lnTo>
                <a:lnTo>
                  <a:pt x="0" y="10771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5622"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2240447" y="3594570"/>
            <a:ext cx="6790323" cy="3819509"/>
            <a:chOff x="0" y="0"/>
            <a:chExt cx="11289030" cy="63500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1287760" cy="6350000"/>
            </a:xfrm>
            <a:custGeom>
              <a:avLst/>
              <a:gdLst/>
              <a:ahLst/>
              <a:cxnLst/>
              <a:rect l="l" t="t" r="r" b="b"/>
              <a:pathLst>
                <a:path w="11287760" h="6350000">
                  <a:moveTo>
                    <a:pt x="0" y="5824220"/>
                  </a:moveTo>
                  <a:lnTo>
                    <a:pt x="0" y="525780"/>
                  </a:lnTo>
                  <a:cubicBezTo>
                    <a:pt x="0" y="234950"/>
                    <a:pt x="234950" y="0"/>
                    <a:pt x="525780" y="0"/>
                  </a:cubicBezTo>
                  <a:lnTo>
                    <a:pt x="10761980" y="0"/>
                  </a:lnTo>
                  <a:cubicBezTo>
                    <a:pt x="11052810" y="0"/>
                    <a:pt x="11287760" y="234950"/>
                    <a:pt x="11287760" y="525780"/>
                  </a:cubicBezTo>
                  <a:lnTo>
                    <a:pt x="11287760" y="5822950"/>
                  </a:lnTo>
                  <a:cubicBezTo>
                    <a:pt x="11287760" y="6113780"/>
                    <a:pt x="11052810" y="6348730"/>
                    <a:pt x="10761980" y="6348730"/>
                  </a:cubicBezTo>
                  <a:lnTo>
                    <a:pt x="525780" y="6348730"/>
                  </a:lnTo>
                  <a:cubicBezTo>
                    <a:pt x="236220" y="6350000"/>
                    <a:pt x="0" y="6115050"/>
                    <a:pt x="0" y="5824220"/>
                  </a:cubicBezTo>
                  <a:close/>
                </a:path>
              </a:pathLst>
            </a:custGeom>
            <a:blipFill>
              <a:blip r:embed="rId5"/>
              <a:stretch>
                <a:fillRect t="-83513" b="-83513"/>
              </a:stretch>
            </a:blipFill>
          </p:spPr>
        </p:sp>
      </p:grpSp>
      <p:sp>
        <p:nvSpPr>
          <p:cNvPr id="11" name="TextBox 11"/>
          <p:cNvSpPr txBox="1"/>
          <p:nvPr/>
        </p:nvSpPr>
        <p:spPr>
          <a:xfrm>
            <a:off x="2448807" y="4615613"/>
            <a:ext cx="6373603" cy="1910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692"/>
              </a:lnSpc>
              <a:spcBef>
                <a:spcPct val="0"/>
              </a:spcBef>
            </a:pPr>
            <a:r>
              <a:rPr lang="en-US" sz="5574">
                <a:solidFill>
                  <a:srgbClr val="FFFFFF"/>
                </a:solidFill>
                <a:latin typeface="210 밀레니얼"/>
              </a:rPr>
              <a:t>THANKS FOR WATCHING </a:t>
            </a:r>
          </a:p>
        </p:txBody>
      </p:sp>
      <p:sp>
        <p:nvSpPr>
          <p:cNvPr id="12" name="Freeform 12"/>
          <p:cNvSpPr/>
          <p:nvPr/>
        </p:nvSpPr>
        <p:spPr>
          <a:xfrm>
            <a:off x="12924060" y="9846926"/>
            <a:ext cx="2799147" cy="440074"/>
          </a:xfrm>
          <a:custGeom>
            <a:avLst/>
            <a:gdLst/>
            <a:ahLst/>
            <a:cxnLst/>
            <a:rect l="l" t="t" r="r" b="b"/>
            <a:pathLst>
              <a:path w="2799147" h="440074">
                <a:moveTo>
                  <a:pt x="0" y="0"/>
                </a:moveTo>
                <a:lnTo>
                  <a:pt x="2799146" y="0"/>
                </a:lnTo>
                <a:lnTo>
                  <a:pt x="2799146" y="440074"/>
                </a:lnTo>
                <a:lnTo>
                  <a:pt x="0" y="4400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5622"/>
            </a:stretch>
          </a:blipFill>
        </p:spPr>
      </p:sp>
      <p:grpSp>
        <p:nvGrpSpPr>
          <p:cNvPr id="13" name="Group 13"/>
          <p:cNvGrpSpPr/>
          <p:nvPr/>
        </p:nvGrpSpPr>
        <p:grpSpPr>
          <a:xfrm>
            <a:off x="12924060" y="7191421"/>
            <a:ext cx="2799147" cy="2799147"/>
            <a:chOff x="0" y="0"/>
            <a:chExt cx="6350000" cy="63500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350000" cy="6351270"/>
            </a:xfrm>
            <a:custGeom>
              <a:avLst/>
              <a:gdLst/>
              <a:ahLst/>
              <a:cxnLst/>
              <a:rect l="l" t="t" r="r" b="b"/>
              <a:pathLst>
                <a:path w="6350000" h="6351270">
                  <a:moveTo>
                    <a:pt x="0" y="5955030"/>
                  </a:moveTo>
                  <a:lnTo>
                    <a:pt x="0" y="394970"/>
                  </a:lnTo>
                  <a:cubicBezTo>
                    <a:pt x="0" y="176530"/>
                    <a:pt x="176530" y="0"/>
                    <a:pt x="394970" y="0"/>
                  </a:cubicBezTo>
                  <a:lnTo>
                    <a:pt x="5956300" y="0"/>
                  </a:lnTo>
                  <a:cubicBezTo>
                    <a:pt x="6173470" y="0"/>
                    <a:pt x="6350000" y="176530"/>
                    <a:pt x="6350000" y="394970"/>
                  </a:cubicBezTo>
                  <a:lnTo>
                    <a:pt x="6350000" y="5956300"/>
                  </a:lnTo>
                  <a:cubicBezTo>
                    <a:pt x="6350000" y="6174740"/>
                    <a:pt x="6173470" y="6351270"/>
                    <a:pt x="5955030" y="6351270"/>
                  </a:cubicBezTo>
                  <a:lnTo>
                    <a:pt x="394970" y="6351270"/>
                  </a:lnTo>
                  <a:cubicBezTo>
                    <a:pt x="176530" y="6350000"/>
                    <a:pt x="0" y="6173470"/>
                    <a:pt x="0" y="5955030"/>
                  </a:cubicBezTo>
                  <a:close/>
                </a:path>
              </a:pathLst>
            </a:custGeom>
            <a:blipFill>
              <a:blip r:embed="rId6"/>
              <a:stretch>
                <a:fillRect l="-25155" r="-25155"/>
              </a:stretch>
            </a:blipFill>
          </p:spPr>
        </p:sp>
      </p:grpSp>
      <p:sp>
        <p:nvSpPr>
          <p:cNvPr id="15" name="Freeform 15"/>
          <p:cNvSpPr/>
          <p:nvPr/>
        </p:nvSpPr>
        <p:spPr>
          <a:xfrm>
            <a:off x="12924060" y="6382896"/>
            <a:ext cx="2799147" cy="440074"/>
          </a:xfrm>
          <a:custGeom>
            <a:avLst/>
            <a:gdLst/>
            <a:ahLst/>
            <a:cxnLst/>
            <a:rect l="l" t="t" r="r" b="b"/>
            <a:pathLst>
              <a:path w="2799147" h="440074">
                <a:moveTo>
                  <a:pt x="0" y="0"/>
                </a:moveTo>
                <a:lnTo>
                  <a:pt x="2799146" y="0"/>
                </a:lnTo>
                <a:lnTo>
                  <a:pt x="2799146" y="440074"/>
                </a:lnTo>
                <a:lnTo>
                  <a:pt x="0" y="4400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5622"/>
            </a:stretch>
          </a:blipFill>
        </p:spPr>
      </p:sp>
      <p:grpSp>
        <p:nvGrpSpPr>
          <p:cNvPr id="16" name="Group 16"/>
          <p:cNvGrpSpPr/>
          <p:nvPr/>
        </p:nvGrpSpPr>
        <p:grpSpPr>
          <a:xfrm>
            <a:off x="12924060" y="3727391"/>
            <a:ext cx="2799147" cy="2799147"/>
            <a:chOff x="0" y="0"/>
            <a:chExt cx="6350000" cy="63500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6350000" cy="6351270"/>
            </a:xfrm>
            <a:custGeom>
              <a:avLst/>
              <a:gdLst/>
              <a:ahLst/>
              <a:cxnLst/>
              <a:rect l="l" t="t" r="r" b="b"/>
              <a:pathLst>
                <a:path w="6350000" h="6351270">
                  <a:moveTo>
                    <a:pt x="0" y="5955030"/>
                  </a:moveTo>
                  <a:lnTo>
                    <a:pt x="0" y="394970"/>
                  </a:lnTo>
                  <a:cubicBezTo>
                    <a:pt x="0" y="176530"/>
                    <a:pt x="176530" y="0"/>
                    <a:pt x="394970" y="0"/>
                  </a:cubicBezTo>
                  <a:lnTo>
                    <a:pt x="5956300" y="0"/>
                  </a:lnTo>
                  <a:cubicBezTo>
                    <a:pt x="6173470" y="0"/>
                    <a:pt x="6350000" y="176530"/>
                    <a:pt x="6350000" y="394970"/>
                  </a:cubicBezTo>
                  <a:lnTo>
                    <a:pt x="6350000" y="5956300"/>
                  </a:lnTo>
                  <a:cubicBezTo>
                    <a:pt x="6350000" y="6174740"/>
                    <a:pt x="6173470" y="6351270"/>
                    <a:pt x="5955030" y="6351270"/>
                  </a:cubicBezTo>
                  <a:lnTo>
                    <a:pt x="394970" y="6351270"/>
                  </a:lnTo>
                  <a:cubicBezTo>
                    <a:pt x="176530" y="6350000"/>
                    <a:pt x="0" y="6173470"/>
                    <a:pt x="0" y="5955030"/>
                  </a:cubicBezTo>
                  <a:close/>
                </a:path>
              </a:pathLst>
            </a:custGeom>
            <a:blipFill>
              <a:blip r:embed="rId4"/>
              <a:stretch>
                <a:fillRect l="-24991" r="-24991"/>
              </a:stretch>
            </a:blipFill>
          </p:spPr>
        </p:sp>
      </p:grpSp>
      <p:sp>
        <p:nvSpPr>
          <p:cNvPr id="18" name="Freeform 18"/>
          <p:cNvSpPr/>
          <p:nvPr/>
        </p:nvSpPr>
        <p:spPr>
          <a:xfrm>
            <a:off x="12924060" y="2915843"/>
            <a:ext cx="2799147" cy="440074"/>
          </a:xfrm>
          <a:custGeom>
            <a:avLst/>
            <a:gdLst/>
            <a:ahLst/>
            <a:cxnLst/>
            <a:rect l="l" t="t" r="r" b="b"/>
            <a:pathLst>
              <a:path w="2799147" h="440074">
                <a:moveTo>
                  <a:pt x="0" y="0"/>
                </a:moveTo>
                <a:lnTo>
                  <a:pt x="2799146" y="0"/>
                </a:lnTo>
                <a:lnTo>
                  <a:pt x="2799146" y="440073"/>
                </a:lnTo>
                <a:lnTo>
                  <a:pt x="0" y="4400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5622"/>
            </a:stretch>
          </a:blipFill>
        </p:spPr>
      </p:sp>
      <p:grpSp>
        <p:nvGrpSpPr>
          <p:cNvPr id="19" name="Group 19"/>
          <p:cNvGrpSpPr/>
          <p:nvPr/>
        </p:nvGrpSpPr>
        <p:grpSpPr>
          <a:xfrm>
            <a:off x="12924060" y="260338"/>
            <a:ext cx="2799147" cy="2799147"/>
            <a:chOff x="0" y="0"/>
            <a:chExt cx="6350000" cy="63500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6350000" cy="6351270"/>
            </a:xfrm>
            <a:custGeom>
              <a:avLst/>
              <a:gdLst/>
              <a:ahLst/>
              <a:cxnLst/>
              <a:rect l="l" t="t" r="r" b="b"/>
              <a:pathLst>
                <a:path w="6350000" h="6351270">
                  <a:moveTo>
                    <a:pt x="0" y="5955030"/>
                  </a:moveTo>
                  <a:lnTo>
                    <a:pt x="0" y="394970"/>
                  </a:lnTo>
                  <a:cubicBezTo>
                    <a:pt x="0" y="176530"/>
                    <a:pt x="176530" y="0"/>
                    <a:pt x="394970" y="0"/>
                  </a:cubicBezTo>
                  <a:lnTo>
                    <a:pt x="5956300" y="0"/>
                  </a:lnTo>
                  <a:cubicBezTo>
                    <a:pt x="6173470" y="0"/>
                    <a:pt x="6350000" y="176530"/>
                    <a:pt x="6350000" y="394970"/>
                  </a:cubicBezTo>
                  <a:lnTo>
                    <a:pt x="6350000" y="5956300"/>
                  </a:lnTo>
                  <a:cubicBezTo>
                    <a:pt x="6350000" y="6174740"/>
                    <a:pt x="6173470" y="6351270"/>
                    <a:pt x="5955030" y="6351270"/>
                  </a:cubicBezTo>
                  <a:lnTo>
                    <a:pt x="394970" y="6351270"/>
                  </a:lnTo>
                  <a:cubicBezTo>
                    <a:pt x="176530" y="6350000"/>
                    <a:pt x="0" y="6173470"/>
                    <a:pt x="0" y="5955030"/>
                  </a:cubicBezTo>
                  <a:close/>
                </a:path>
              </a:pathLst>
            </a:custGeom>
            <a:blipFill>
              <a:blip r:embed="rId7"/>
              <a:stretch>
                <a:fillRect l="-24991" r="-24991"/>
              </a:stretch>
            </a:blipFill>
          </p:spPr>
        </p:sp>
      </p:grpSp>
      <p:sp>
        <p:nvSpPr>
          <p:cNvPr id="21" name="Freeform 21"/>
          <p:cNvSpPr/>
          <p:nvPr/>
        </p:nvSpPr>
        <p:spPr>
          <a:xfrm>
            <a:off x="16189931" y="7929174"/>
            <a:ext cx="2799147" cy="440074"/>
          </a:xfrm>
          <a:custGeom>
            <a:avLst/>
            <a:gdLst/>
            <a:ahLst/>
            <a:cxnLst/>
            <a:rect l="l" t="t" r="r" b="b"/>
            <a:pathLst>
              <a:path w="2799147" h="440074">
                <a:moveTo>
                  <a:pt x="0" y="0"/>
                </a:moveTo>
                <a:lnTo>
                  <a:pt x="2799147" y="0"/>
                </a:lnTo>
                <a:lnTo>
                  <a:pt x="2799147" y="440073"/>
                </a:lnTo>
                <a:lnTo>
                  <a:pt x="0" y="4400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5622"/>
            </a:stretch>
          </a:blipFill>
        </p:spPr>
      </p:sp>
      <p:grpSp>
        <p:nvGrpSpPr>
          <p:cNvPr id="22" name="Group 22"/>
          <p:cNvGrpSpPr/>
          <p:nvPr/>
        </p:nvGrpSpPr>
        <p:grpSpPr>
          <a:xfrm>
            <a:off x="16189931" y="5273669"/>
            <a:ext cx="2799147" cy="2799147"/>
            <a:chOff x="0" y="0"/>
            <a:chExt cx="6350000" cy="63500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6350000" cy="6351270"/>
            </a:xfrm>
            <a:custGeom>
              <a:avLst/>
              <a:gdLst/>
              <a:ahLst/>
              <a:cxnLst/>
              <a:rect l="l" t="t" r="r" b="b"/>
              <a:pathLst>
                <a:path w="6350000" h="6351270">
                  <a:moveTo>
                    <a:pt x="0" y="5955030"/>
                  </a:moveTo>
                  <a:lnTo>
                    <a:pt x="0" y="394970"/>
                  </a:lnTo>
                  <a:cubicBezTo>
                    <a:pt x="0" y="176530"/>
                    <a:pt x="176530" y="0"/>
                    <a:pt x="394970" y="0"/>
                  </a:cubicBezTo>
                  <a:lnTo>
                    <a:pt x="5956300" y="0"/>
                  </a:lnTo>
                  <a:cubicBezTo>
                    <a:pt x="6173470" y="0"/>
                    <a:pt x="6350000" y="176530"/>
                    <a:pt x="6350000" y="394970"/>
                  </a:cubicBezTo>
                  <a:lnTo>
                    <a:pt x="6350000" y="5956300"/>
                  </a:lnTo>
                  <a:cubicBezTo>
                    <a:pt x="6350000" y="6174740"/>
                    <a:pt x="6173470" y="6351270"/>
                    <a:pt x="5955030" y="6351270"/>
                  </a:cubicBezTo>
                  <a:lnTo>
                    <a:pt x="394970" y="6351270"/>
                  </a:lnTo>
                  <a:cubicBezTo>
                    <a:pt x="176530" y="6350000"/>
                    <a:pt x="0" y="6173470"/>
                    <a:pt x="0" y="5955030"/>
                  </a:cubicBezTo>
                  <a:close/>
                </a:path>
              </a:pathLst>
            </a:custGeom>
            <a:blipFill>
              <a:blip r:embed="rId8"/>
              <a:stretch>
                <a:fillRect t="-24985" b="-24985"/>
              </a:stretch>
            </a:blipFill>
          </p:spPr>
        </p:sp>
      </p:grpSp>
      <p:sp>
        <p:nvSpPr>
          <p:cNvPr id="24" name="Freeform 24"/>
          <p:cNvSpPr/>
          <p:nvPr/>
        </p:nvSpPr>
        <p:spPr>
          <a:xfrm>
            <a:off x="16189931" y="4465144"/>
            <a:ext cx="2799147" cy="440074"/>
          </a:xfrm>
          <a:custGeom>
            <a:avLst/>
            <a:gdLst/>
            <a:ahLst/>
            <a:cxnLst/>
            <a:rect l="l" t="t" r="r" b="b"/>
            <a:pathLst>
              <a:path w="2799147" h="440074">
                <a:moveTo>
                  <a:pt x="0" y="0"/>
                </a:moveTo>
                <a:lnTo>
                  <a:pt x="2799147" y="0"/>
                </a:lnTo>
                <a:lnTo>
                  <a:pt x="2799147" y="440073"/>
                </a:lnTo>
                <a:lnTo>
                  <a:pt x="0" y="4400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5622"/>
            </a:stretch>
          </a:blipFill>
        </p:spPr>
      </p:sp>
      <p:grpSp>
        <p:nvGrpSpPr>
          <p:cNvPr id="25" name="Group 25"/>
          <p:cNvGrpSpPr/>
          <p:nvPr/>
        </p:nvGrpSpPr>
        <p:grpSpPr>
          <a:xfrm>
            <a:off x="16189931" y="1809639"/>
            <a:ext cx="2799147" cy="2799147"/>
            <a:chOff x="0" y="0"/>
            <a:chExt cx="6350000" cy="63500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6350000" cy="6351270"/>
            </a:xfrm>
            <a:custGeom>
              <a:avLst/>
              <a:gdLst/>
              <a:ahLst/>
              <a:cxnLst/>
              <a:rect l="l" t="t" r="r" b="b"/>
              <a:pathLst>
                <a:path w="6350000" h="6351270">
                  <a:moveTo>
                    <a:pt x="0" y="5955030"/>
                  </a:moveTo>
                  <a:lnTo>
                    <a:pt x="0" y="394970"/>
                  </a:lnTo>
                  <a:cubicBezTo>
                    <a:pt x="0" y="176530"/>
                    <a:pt x="176530" y="0"/>
                    <a:pt x="394970" y="0"/>
                  </a:cubicBezTo>
                  <a:lnTo>
                    <a:pt x="5956300" y="0"/>
                  </a:lnTo>
                  <a:cubicBezTo>
                    <a:pt x="6173470" y="0"/>
                    <a:pt x="6350000" y="176530"/>
                    <a:pt x="6350000" y="394970"/>
                  </a:cubicBezTo>
                  <a:lnTo>
                    <a:pt x="6350000" y="5956300"/>
                  </a:lnTo>
                  <a:cubicBezTo>
                    <a:pt x="6350000" y="6174740"/>
                    <a:pt x="6173470" y="6351270"/>
                    <a:pt x="5955030" y="6351270"/>
                  </a:cubicBezTo>
                  <a:lnTo>
                    <a:pt x="394970" y="6351270"/>
                  </a:lnTo>
                  <a:cubicBezTo>
                    <a:pt x="176530" y="6350000"/>
                    <a:pt x="0" y="6173470"/>
                    <a:pt x="0" y="5955030"/>
                  </a:cubicBezTo>
                  <a:close/>
                </a:path>
              </a:pathLst>
            </a:custGeom>
            <a:blipFill>
              <a:blip r:embed="rId9"/>
              <a:stretch>
                <a:fillRect l="-25015" r="-25015"/>
              </a:stretch>
            </a:blipFill>
          </p:spPr>
        </p:sp>
      </p:grpSp>
      <p:sp>
        <p:nvSpPr>
          <p:cNvPr id="27" name="Freeform 27"/>
          <p:cNvSpPr/>
          <p:nvPr/>
        </p:nvSpPr>
        <p:spPr>
          <a:xfrm>
            <a:off x="16189931" y="998090"/>
            <a:ext cx="2799147" cy="440074"/>
          </a:xfrm>
          <a:custGeom>
            <a:avLst/>
            <a:gdLst/>
            <a:ahLst/>
            <a:cxnLst/>
            <a:rect l="l" t="t" r="r" b="b"/>
            <a:pathLst>
              <a:path w="2799147" h="440074">
                <a:moveTo>
                  <a:pt x="0" y="0"/>
                </a:moveTo>
                <a:lnTo>
                  <a:pt x="2799147" y="0"/>
                </a:lnTo>
                <a:lnTo>
                  <a:pt x="2799147" y="440074"/>
                </a:lnTo>
                <a:lnTo>
                  <a:pt x="0" y="4400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5622"/>
            </a:stretch>
          </a:blipFill>
        </p:spPr>
      </p:sp>
      <p:grpSp>
        <p:nvGrpSpPr>
          <p:cNvPr id="28" name="Group 28"/>
          <p:cNvGrpSpPr/>
          <p:nvPr/>
        </p:nvGrpSpPr>
        <p:grpSpPr>
          <a:xfrm>
            <a:off x="16189931" y="-1657415"/>
            <a:ext cx="2799147" cy="2799147"/>
            <a:chOff x="0" y="0"/>
            <a:chExt cx="6350000" cy="63500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6350000" cy="6351270"/>
            </a:xfrm>
            <a:custGeom>
              <a:avLst/>
              <a:gdLst/>
              <a:ahLst/>
              <a:cxnLst/>
              <a:rect l="l" t="t" r="r" b="b"/>
              <a:pathLst>
                <a:path w="6350000" h="6351270">
                  <a:moveTo>
                    <a:pt x="0" y="5955030"/>
                  </a:moveTo>
                  <a:lnTo>
                    <a:pt x="0" y="394970"/>
                  </a:lnTo>
                  <a:cubicBezTo>
                    <a:pt x="0" y="176530"/>
                    <a:pt x="176530" y="0"/>
                    <a:pt x="394970" y="0"/>
                  </a:cubicBezTo>
                  <a:lnTo>
                    <a:pt x="5956300" y="0"/>
                  </a:lnTo>
                  <a:cubicBezTo>
                    <a:pt x="6173470" y="0"/>
                    <a:pt x="6350000" y="176530"/>
                    <a:pt x="6350000" y="394970"/>
                  </a:cubicBezTo>
                  <a:lnTo>
                    <a:pt x="6350000" y="5956300"/>
                  </a:lnTo>
                  <a:cubicBezTo>
                    <a:pt x="6350000" y="6174740"/>
                    <a:pt x="6173470" y="6351270"/>
                    <a:pt x="5955030" y="6351270"/>
                  </a:cubicBezTo>
                  <a:lnTo>
                    <a:pt x="394970" y="6351270"/>
                  </a:lnTo>
                  <a:cubicBezTo>
                    <a:pt x="176530" y="6350000"/>
                    <a:pt x="0" y="6173470"/>
                    <a:pt x="0" y="5955030"/>
                  </a:cubicBezTo>
                  <a:close/>
                </a:path>
              </a:pathLst>
            </a:custGeom>
            <a:blipFill>
              <a:blip r:embed="rId3"/>
              <a:stretch>
                <a:fillRect l="-30016" r="-30016"/>
              </a:stretch>
            </a:blipFill>
          </p:spPr>
        </p:sp>
      </p:grpSp>
      <p:grpSp>
        <p:nvGrpSpPr>
          <p:cNvPr id="30" name="Group 30"/>
          <p:cNvGrpSpPr/>
          <p:nvPr/>
        </p:nvGrpSpPr>
        <p:grpSpPr>
          <a:xfrm>
            <a:off x="16189931" y="8703201"/>
            <a:ext cx="2799147" cy="2799147"/>
            <a:chOff x="0" y="0"/>
            <a:chExt cx="6350000" cy="63500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6350000" cy="6351270"/>
            </a:xfrm>
            <a:custGeom>
              <a:avLst/>
              <a:gdLst/>
              <a:ahLst/>
              <a:cxnLst/>
              <a:rect l="l" t="t" r="r" b="b"/>
              <a:pathLst>
                <a:path w="6350000" h="6351270">
                  <a:moveTo>
                    <a:pt x="0" y="5955030"/>
                  </a:moveTo>
                  <a:lnTo>
                    <a:pt x="0" y="394970"/>
                  </a:lnTo>
                  <a:cubicBezTo>
                    <a:pt x="0" y="176530"/>
                    <a:pt x="176530" y="0"/>
                    <a:pt x="394970" y="0"/>
                  </a:cubicBezTo>
                  <a:lnTo>
                    <a:pt x="5956300" y="0"/>
                  </a:lnTo>
                  <a:cubicBezTo>
                    <a:pt x="6173470" y="0"/>
                    <a:pt x="6350000" y="176530"/>
                    <a:pt x="6350000" y="394970"/>
                  </a:cubicBezTo>
                  <a:lnTo>
                    <a:pt x="6350000" y="5956300"/>
                  </a:lnTo>
                  <a:cubicBezTo>
                    <a:pt x="6350000" y="6174740"/>
                    <a:pt x="6173470" y="6351270"/>
                    <a:pt x="5955030" y="6351270"/>
                  </a:cubicBezTo>
                  <a:lnTo>
                    <a:pt x="394970" y="6351270"/>
                  </a:lnTo>
                  <a:cubicBezTo>
                    <a:pt x="176530" y="6350000"/>
                    <a:pt x="0" y="6173470"/>
                    <a:pt x="0" y="5955030"/>
                  </a:cubicBezTo>
                  <a:close/>
                </a:path>
              </a:pathLst>
            </a:custGeom>
            <a:blipFill>
              <a:blip r:embed="rId5"/>
              <a:stretch>
                <a:fillRect t="-25078" b="-25078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283</TotalTime>
  <Words>1146</Words>
  <Application>Microsoft Office PowerPoint</Application>
  <PresentationFormat>사용자 지정</PresentationFormat>
  <Paragraphs>231</Paragraphs>
  <Slides>15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2" baseType="lpstr">
      <vt:lpstr>Montserrat Classic Bold</vt:lpstr>
      <vt:lpstr>Arial</vt:lpstr>
      <vt:lpstr>Archivo Black</vt:lpstr>
      <vt:lpstr>Calibri</vt:lpstr>
      <vt:lpstr>210 밀레니얼</vt:lpstr>
      <vt:lpstr>Montserrat Light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한국마사회 실내센서데이터3차</dc:title>
  <cp:lastModifiedBy>GRS</cp:lastModifiedBy>
  <cp:revision>14</cp:revision>
  <dcterms:created xsi:type="dcterms:W3CDTF">2006-08-16T00:00:00Z</dcterms:created>
  <dcterms:modified xsi:type="dcterms:W3CDTF">2024-05-14T05:00:55Z</dcterms:modified>
  <dc:identifier>DAGEoJpXBJ4</dc:identifier>
</cp:coreProperties>
</file>