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5" r:id="rId2"/>
    <p:sldId id="294" r:id="rId3"/>
    <p:sldId id="271" r:id="rId4"/>
    <p:sldId id="273" r:id="rId5"/>
    <p:sldId id="268" r:id="rId6"/>
    <p:sldId id="311" r:id="rId7"/>
    <p:sldId id="315" r:id="rId8"/>
    <p:sldId id="288" r:id="rId9"/>
    <p:sldId id="300" r:id="rId10"/>
    <p:sldId id="304" r:id="rId11"/>
    <p:sldId id="309" r:id="rId12"/>
    <p:sldId id="324" r:id="rId13"/>
    <p:sldId id="267" r:id="rId14"/>
    <p:sldId id="320" r:id="rId15"/>
    <p:sldId id="321" r:id="rId16"/>
    <p:sldId id="325" r:id="rId17"/>
    <p:sldId id="317" r:id="rId18"/>
    <p:sldId id="318" r:id="rId19"/>
    <p:sldId id="310" r:id="rId20"/>
    <p:sldId id="322" r:id="rId21"/>
    <p:sldId id="299" r:id="rId22"/>
    <p:sldId id="323" r:id="rId23"/>
    <p:sldId id="270" r:id="rId24"/>
    <p:sldId id="306" r:id="rId25"/>
    <p:sldId id="316" r:id="rId26"/>
    <p:sldId id="282" r:id="rId27"/>
    <p:sldId id="328" r:id="rId28"/>
    <p:sldId id="327" r:id="rId29"/>
    <p:sldId id="275" r:id="rId30"/>
    <p:sldId id="326" r:id="rId31"/>
    <p:sldId id="266" r:id="rId32"/>
  </p:sldIdLst>
  <p:sldSz cx="12192000" cy="6858000"/>
  <p:notesSz cx="6858000" cy="9144000"/>
  <p:embeddedFontLst>
    <p:embeddedFont>
      <p:font typeface="a드림고딕2" panose="02020600000000000000" pitchFamily="18" charset="-127"/>
      <p:regular r:id="rId33"/>
    </p:embeddedFont>
    <p:embeddedFont>
      <p:font typeface="a로케트" panose="02020600000000000000" pitchFamily="18" charset="-127"/>
      <p:regular r:id="rId34"/>
    </p:embeddedFont>
    <p:embeddedFont>
      <p:font typeface="a타이틀고딕1" panose="02020600000000000000" pitchFamily="18" charset="-127"/>
      <p:regular r:id="rId35"/>
    </p:embeddedFont>
    <p:embeddedFont>
      <p:font typeface="a타이틀고딕2" panose="02020600000000000000" pitchFamily="18" charset="-127"/>
      <p:regular r:id="rId36"/>
    </p:embeddedFont>
    <p:embeddedFont>
      <p:font typeface="a타이틀고딕3" panose="02020600000000000000" pitchFamily="18" charset="-127"/>
      <p:regular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A4E0D01-6642-48F0-B471-370785F4E160}">
          <p14:sldIdLst>
            <p14:sldId id="265"/>
            <p14:sldId id="294"/>
            <p14:sldId id="271"/>
            <p14:sldId id="273"/>
            <p14:sldId id="268"/>
            <p14:sldId id="311"/>
            <p14:sldId id="315"/>
            <p14:sldId id="288"/>
            <p14:sldId id="300"/>
            <p14:sldId id="304"/>
            <p14:sldId id="309"/>
            <p14:sldId id="324"/>
            <p14:sldId id="267"/>
            <p14:sldId id="320"/>
            <p14:sldId id="321"/>
            <p14:sldId id="325"/>
            <p14:sldId id="317"/>
            <p14:sldId id="318"/>
            <p14:sldId id="310"/>
            <p14:sldId id="322"/>
            <p14:sldId id="299"/>
            <p14:sldId id="323"/>
            <p14:sldId id="270"/>
            <p14:sldId id="306"/>
            <p14:sldId id="316"/>
            <p14:sldId id="282"/>
            <p14:sldId id="328"/>
            <p14:sldId id="327"/>
            <p14:sldId id="275"/>
            <p14:sldId id="326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S" initials="G" lastIdx="2" clrIdx="0">
    <p:extLst>
      <p:ext uri="{19B8F6BF-5375-455C-9EA6-DF929625EA0E}">
        <p15:presenceInfo xmlns:p15="http://schemas.microsoft.com/office/powerpoint/2012/main" userId="GR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252526"/>
    <a:srgbClr val="181818"/>
    <a:srgbClr val="404040"/>
    <a:srgbClr val="F2F2F2"/>
    <a:srgbClr val="ECECEC"/>
    <a:srgbClr val="BFBFBF"/>
    <a:srgbClr val="ABC2DA"/>
    <a:srgbClr val="FFFF00"/>
    <a:srgbClr val="FF0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7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0B6B7-9287-7501-CDA6-8356E75D1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1D7789-CFE6-22C9-EB44-6E3D7665C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CA949-B4EE-25C2-426F-595ACA29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007A88-52D3-3EFF-6853-3025E40E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6BC29-0782-692B-304F-89DC72FB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68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51A7B-D5FE-E441-1503-91AF076D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000A57-4BB1-90D7-9A6F-399D5430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EAFB6-44BA-E6B2-C394-EB915A57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94A2A9-EF85-F2CE-0E94-15AC95BC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D47C0A-61DE-4EB3-4C1C-FDA46671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43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154BB-20A3-CAF0-686B-B87A7432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FB4176-3627-D703-6C6F-BF6938C7F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68E5FC-7C90-5052-94EC-78ABBF812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C6064-42CE-B7E9-D268-47E8C8E8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A491B-103B-2BEB-4AFA-C1149FE1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38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1A283-EE82-2C1A-3DA4-5131DF8D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9504A-82A1-8D8D-DB0C-A3F6CE009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C1AA47-FE1A-F9B3-105E-E3DE94411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2B48DB-2625-D595-9982-4E277A909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60D0E9-6408-E72F-5A9E-02D559090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63F2CC-AC0B-8AD8-60B2-0C974AAA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79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39A44-D23A-E98F-5492-82E39FEA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ED3B6F-DAB5-38C5-EAB5-332D1F797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D0471C-09F6-6FBC-00AE-7D7683D53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C3F245-0C6E-5337-99FE-2DB8E13CA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6413AE-1364-179C-0373-36D252B32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704AEA-C494-2E03-3B01-73CE7B7F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56CD5B-6725-83FA-35FC-6319E870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B4BA56-7D94-13F6-4971-F4E916F8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62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6BDB7-52D3-4377-FC5B-806634CA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58B586-6E44-28D3-3558-CEB38859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A1FB35-9E80-F6A9-5490-14E8FAF5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A01088-6933-5538-11A5-6BB49279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16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CB62EF-0AD7-B44F-3952-279BE7A9EAE0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DCF90F-B5DB-F5D8-C34B-7ADF03B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532198-7F79-2181-708B-60F49CF0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7BC27-D98D-F3D8-A991-F365CD5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6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CB62EF-0AD7-B44F-3952-279BE7A9EAE0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DCF90F-B5DB-F5D8-C34B-7ADF03B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532198-7F79-2181-708B-60F49CF0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7BC27-D98D-F3D8-A991-F365CD5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85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C51DE-5A41-F314-C453-F725B45A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DD596-2CCB-3461-E3EE-D89B9E917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9492C6-90F1-1929-CD62-B6132DDA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041367-1003-D118-3265-9249393B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68455-54A1-1FAB-47F3-AEEB1757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2310E8-74A8-D020-ECCC-362B0743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20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9D579-00AE-5EB2-F99B-B5118D1A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55C236-4919-F27E-161B-2618B810E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50B109-2960-D7CB-5E6F-57AECDDDF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1F961B-86A3-5132-CCE4-45ED29E1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260B2-A146-9DBC-FB7C-6F60E73F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64D54C-F997-D8B8-74D2-AB628B04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6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DFA3-D2CC-FBAB-2AE8-7A314CAD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D4F396-6EAC-6880-AA87-59D44962F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042A8-CF81-6626-654A-EE5786EA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A36F7-0E5B-DBD2-EF15-F210CCA6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FC8737-238B-D8A9-1420-12802A9D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20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84FF23-7ABB-49BB-D119-51FE28A2E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BDEF98-4A52-6662-C087-4190721C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659EE8-A640-0457-20DC-92E4B93F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4BB77-F193-DE60-5953-7CA99061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D83F9-8415-B2E6-F442-879A4C9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28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1D6A35-C29A-91D9-7077-51A94C9D5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898BF4-8F32-286F-7AF2-A0029B68C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2434C5-2B47-D752-A204-67601BFAC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7CD8D-5FF8-45F7-B5D9-86A8A4C3B6A4}" type="datetimeFigureOut">
              <a:rPr lang="ko-KR" altLang="en-US" smtClean="0"/>
              <a:t>2024-04-12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722951-7931-3231-4230-D2618278F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4E29E1-F9E7-D4A1-6075-B039DA756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68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kosis.kr/statHtml/statHtml.do?orgId=156&amp;tblId=TX_15601_A004&amp;vw_cd=MT_ZTITLE&amp;list_id=C_29&amp;seqNo=&amp;lang_mode=ko&amp;language=kor&amp;obj_var_id=&amp;itm_id=&amp;conn_path=MT_ZTITLE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JPG"/><Relationship Id="rId4" Type="http://schemas.openxmlformats.org/officeDocument/2006/relationships/image" Target="../media/image4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일렉트릭 블루, 스크린샷, 마조렐 블루, 사각형이(가) 표시된 사진&#10;&#10;자동 생성된 설명">
            <a:extLst>
              <a:ext uri="{FF2B5EF4-FFF2-40B4-BE49-F238E27FC236}">
                <a16:creationId xmlns:a16="http://schemas.microsoft.com/office/drawing/2014/main" id="{7BE6E4B8-7A1C-0C8B-910B-3ADD70DA3E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3B854AB-52FC-5D22-6537-2E3C7DBEACCA}"/>
              </a:ext>
            </a:extLst>
          </p:cNvPr>
          <p:cNvCxnSpPr/>
          <p:nvPr/>
        </p:nvCxnSpPr>
        <p:spPr>
          <a:xfrm>
            <a:off x="524107" y="546410"/>
            <a:ext cx="1014761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EAA2631-352C-65FE-0219-3B4174D002DE}"/>
              </a:ext>
            </a:extLst>
          </p:cNvPr>
          <p:cNvSpPr txBox="1"/>
          <p:nvPr/>
        </p:nvSpPr>
        <p:spPr>
          <a:xfrm>
            <a:off x="1427339" y="2392310"/>
            <a:ext cx="94778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Python Project</a:t>
            </a:r>
            <a:endParaRPr lang="ko-KR" altLang="en-US" sz="66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D3EC3-3C78-52B6-A885-B7CACDBE48C7}"/>
              </a:ext>
            </a:extLst>
          </p:cNvPr>
          <p:cNvSpPr txBox="1"/>
          <p:nvPr/>
        </p:nvSpPr>
        <p:spPr>
          <a:xfrm>
            <a:off x="2762398" y="3729482"/>
            <a:ext cx="6667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화재발생 모니터링 시스템 구축을 위한 </a:t>
            </a:r>
            <a:r>
              <a:rPr lang="ko-KR" altLang="en-US" sz="2000" dirty="0" err="1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소방청</a:t>
            </a:r>
            <a:r>
              <a:rPr lang="ko-KR" altLang="en-US" sz="20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화재정보 데이터</a:t>
            </a:r>
            <a:endParaRPr lang="en-US" altLang="ko-KR" sz="2000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데이터베이스 저장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49137-D791-4841-B7F8-439C58128B0F}"/>
              </a:ext>
            </a:extLst>
          </p:cNvPr>
          <p:cNvSpPr txBox="1"/>
          <p:nvPr/>
        </p:nvSpPr>
        <p:spPr>
          <a:xfrm>
            <a:off x="9112623" y="5752246"/>
            <a:ext cx="2707170" cy="70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조 </a:t>
            </a:r>
            <a:r>
              <a:rPr lang="ko-KR" altLang="en-US" sz="1400" dirty="0" err="1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삼항연산자</a:t>
            </a:r>
            <a:endParaRPr lang="en-US" altLang="ko-KR" sz="1400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서지우 </a:t>
            </a:r>
            <a:r>
              <a:rPr lang="en-US" altLang="ko-KR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400" dirty="0" err="1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정민재 </a:t>
            </a:r>
            <a:r>
              <a:rPr lang="en-US" altLang="ko-KR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홍은지</a:t>
            </a:r>
          </a:p>
        </p:txBody>
      </p:sp>
    </p:spTree>
    <p:extLst>
      <p:ext uri="{BB962C8B-B14F-4D97-AF65-F5344CB8AC3E}">
        <p14:creationId xmlns:p14="http://schemas.microsoft.com/office/powerpoint/2010/main" val="100301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E38782B-50EF-4AB4-BF02-37B5ED641C1F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22061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A4C0C-593F-49EA-A036-AAE8EB62D98B}"/>
              </a:ext>
            </a:extLst>
          </p:cNvPr>
          <p:cNvSpPr txBox="1"/>
          <p:nvPr/>
        </p:nvSpPr>
        <p:spPr>
          <a:xfrm>
            <a:off x="8128000" y="1351435"/>
            <a:ext cx="5921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spc="-15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Contents</a:t>
            </a:r>
            <a:r>
              <a:rPr lang="en-US" altLang="ko-KR" sz="4800" spc="-15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.</a:t>
            </a:r>
            <a:endParaRPr lang="ko-KR" altLang="en-US" sz="4800" spc="-15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A40EC7D-6F25-48B8-BC49-E59B126C90DE}"/>
              </a:ext>
            </a:extLst>
          </p:cNvPr>
          <p:cNvGrpSpPr/>
          <p:nvPr/>
        </p:nvGrpSpPr>
        <p:grpSpPr>
          <a:xfrm>
            <a:off x="619016" y="3731178"/>
            <a:ext cx="3401239" cy="1305179"/>
            <a:chOff x="619016" y="3264363"/>
            <a:chExt cx="3401239" cy="130517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461C2D-7B54-4B3D-9449-360FD650556A}"/>
                </a:ext>
              </a:extLst>
            </p:cNvPr>
            <p:cNvSpPr txBox="1"/>
            <p:nvPr/>
          </p:nvSpPr>
          <p:spPr>
            <a:xfrm>
              <a:off x="1278029" y="3369213"/>
              <a:ext cx="274222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1</a:t>
              </a:r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차 프로젝트 </a:t>
              </a:r>
              <a:r>
                <a:rPr lang="en-US" altLang="ko-KR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Review</a:t>
              </a:r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</a:t>
              </a:r>
            </a:p>
            <a:p>
              <a:endParaRPr lang="ko-KR" altLang="en-US" sz="2400" spc="-150" dirty="0">
                <a:solidFill>
                  <a:srgbClr val="393939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endParaRPr lang="ko-KR" altLang="en-US" sz="2400" spc="-150" dirty="0">
                <a:solidFill>
                  <a:srgbClr val="393939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33E10E-6802-4565-A9E8-5457EEEB6662}"/>
                </a:ext>
              </a:extLst>
            </p:cNvPr>
            <p:cNvSpPr txBox="1"/>
            <p:nvPr/>
          </p:nvSpPr>
          <p:spPr>
            <a:xfrm>
              <a:off x="619016" y="3264363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3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5132737-5048-423C-B06F-A373B3358083}"/>
              </a:ext>
            </a:extLst>
          </p:cNvPr>
          <p:cNvGrpSpPr/>
          <p:nvPr/>
        </p:nvGrpSpPr>
        <p:grpSpPr>
          <a:xfrm>
            <a:off x="619016" y="2479047"/>
            <a:ext cx="2577487" cy="646331"/>
            <a:chOff x="619016" y="2479047"/>
            <a:chExt cx="2577487" cy="64633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775390-ADD7-4C94-8805-D912724ABC3E}"/>
                </a:ext>
              </a:extLst>
            </p:cNvPr>
            <p:cNvSpPr txBox="1"/>
            <p:nvPr/>
          </p:nvSpPr>
          <p:spPr>
            <a:xfrm>
              <a:off x="619016" y="2479047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1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C73533-A9D9-4EEB-A800-80F0AD62009F}"/>
                </a:ext>
              </a:extLst>
            </p:cNvPr>
            <p:cNvSpPr txBox="1"/>
            <p:nvPr/>
          </p:nvSpPr>
          <p:spPr>
            <a:xfrm>
              <a:off x="1267770" y="2584925"/>
              <a:ext cx="19287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팀 구성 및 역할</a:t>
              </a:r>
              <a:endParaRPr lang="en-US" altLang="ko-KR" sz="2400" spc="-150" dirty="0">
                <a:solidFill>
                  <a:srgbClr val="393939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0D1E44C-6008-4F6E-880B-4E8105F0CF77}"/>
              </a:ext>
            </a:extLst>
          </p:cNvPr>
          <p:cNvGrpSpPr/>
          <p:nvPr/>
        </p:nvGrpSpPr>
        <p:grpSpPr>
          <a:xfrm>
            <a:off x="612604" y="3090719"/>
            <a:ext cx="3867905" cy="646331"/>
            <a:chOff x="294640" y="3596640"/>
            <a:chExt cx="3867905" cy="55262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C6CD2E-3CC1-4835-B282-AE92CEFFFE97}"/>
                </a:ext>
              </a:extLst>
            </p:cNvPr>
            <p:cNvSpPr txBox="1"/>
            <p:nvPr/>
          </p:nvSpPr>
          <p:spPr>
            <a:xfrm>
              <a:off x="294640" y="3596640"/>
              <a:ext cx="449162" cy="5526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2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245155-BF92-4471-AC62-A87A47A31390}"/>
                </a:ext>
              </a:extLst>
            </p:cNvPr>
            <p:cNvSpPr txBox="1"/>
            <p:nvPr/>
          </p:nvSpPr>
          <p:spPr>
            <a:xfrm>
              <a:off x="943394" y="3688973"/>
              <a:ext cx="3219151" cy="3947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프로젝트 개요 및 수행절차</a:t>
              </a:r>
              <a:endParaRPr lang="en-US" altLang="ko-KR" sz="2400" spc="-150" dirty="0">
                <a:solidFill>
                  <a:srgbClr val="393939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0BE6E09-18DE-48C0-B3B9-D0997DF57C9D}"/>
              </a:ext>
            </a:extLst>
          </p:cNvPr>
          <p:cNvGrpSpPr/>
          <p:nvPr/>
        </p:nvGrpSpPr>
        <p:grpSpPr>
          <a:xfrm>
            <a:off x="619016" y="4378764"/>
            <a:ext cx="3029534" cy="646331"/>
            <a:chOff x="294640" y="3596640"/>
            <a:chExt cx="3029534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1913AE-317E-48C4-97BA-CCDDDDCE7AF2}"/>
                </a:ext>
              </a:extLst>
            </p:cNvPr>
            <p:cNvSpPr txBox="1"/>
            <p:nvPr/>
          </p:nvSpPr>
          <p:spPr>
            <a:xfrm>
              <a:off x="294640" y="3596640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4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8885F6-B1E2-4B28-AFE0-E0A3CB8E6835}"/>
                </a:ext>
              </a:extLst>
            </p:cNvPr>
            <p:cNvSpPr txBox="1"/>
            <p:nvPr/>
          </p:nvSpPr>
          <p:spPr>
            <a:xfrm>
              <a:off x="943394" y="3688973"/>
              <a:ext cx="2380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프로젝트 수행결과 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AF0827B-EB7C-4A0D-9B38-8A4A18519287}"/>
              </a:ext>
            </a:extLst>
          </p:cNvPr>
          <p:cNvGrpSpPr/>
          <p:nvPr/>
        </p:nvGrpSpPr>
        <p:grpSpPr>
          <a:xfrm>
            <a:off x="619016" y="5052864"/>
            <a:ext cx="3747679" cy="646331"/>
            <a:chOff x="294640" y="3596640"/>
            <a:chExt cx="3747679" cy="6463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0860A9C-7E0F-4653-8CFE-AEC906931C69}"/>
                </a:ext>
              </a:extLst>
            </p:cNvPr>
            <p:cNvSpPr txBox="1"/>
            <p:nvPr/>
          </p:nvSpPr>
          <p:spPr>
            <a:xfrm>
              <a:off x="294640" y="3596640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5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AF0B511-29F7-40EB-9319-E984767EAB70}"/>
                </a:ext>
              </a:extLst>
            </p:cNvPr>
            <p:cNvSpPr txBox="1"/>
            <p:nvPr/>
          </p:nvSpPr>
          <p:spPr>
            <a:xfrm>
              <a:off x="943394" y="3688973"/>
              <a:ext cx="3098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자체 평가 의견 및 느낀 점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B149750-9D9B-4AF3-8A55-CF83B9C764E9}"/>
              </a:ext>
            </a:extLst>
          </p:cNvPr>
          <p:cNvGrpSpPr/>
          <p:nvPr/>
        </p:nvGrpSpPr>
        <p:grpSpPr>
          <a:xfrm>
            <a:off x="619016" y="5683024"/>
            <a:ext cx="3281206" cy="923330"/>
            <a:chOff x="294640" y="3596640"/>
            <a:chExt cx="3281206" cy="92333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E11A95D-3C22-4208-9707-42E9A36EA91C}"/>
                </a:ext>
              </a:extLst>
            </p:cNvPr>
            <p:cNvSpPr txBox="1"/>
            <p:nvPr/>
          </p:nvSpPr>
          <p:spPr>
            <a:xfrm>
              <a:off x="294640" y="3596640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6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9B7980-2916-4B92-9102-F8DD3AAC0DF9}"/>
                </a:ext>
              </a:extLst>
            </p:cNvPr>
            <p:cNvSpPr txBox="1"/>
            <p:nvPr/>
          </p:nvSpPr>
          <p:spPr>
            <a:xfrm>
              <a:off x="943394" y="3688973"/>
              <a:ext cx="263245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파이널 프로젝트 계획</a:t>
              </a:r>
            </a:p>
            <a:p>
              <a:endParaRPr lang="ko-KR" altLang="en-US" sz="2400" spc="-150" dirty="0">
                <a:solidFill>
                  <a:srgbClr val="393939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329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그래픽, 포스터이(가) 표시된 사진&#10;&#10;자동 생성된 설명">
            <a:extLst>
              <a:ext uri="{FF2B5EF4-FFF2-40B4-BE49-F238E27FC236}">
                <a16:creationId xmlns:a16="http://schemas.microsoft.com/office/drawing/2014/main" id="{1F30EFCE-6676-5936-2E15-75F7EBAB78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D661985-C354-FEF0-4511-F51619C20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227B1E0-A31D-D9E3-7FF6-A1FCBAAF597D}"/>
              </a:ext>
            </a:extLst>
          </p:cNvPr>
          <p:cNvGrpSpPr/>
          <p:nvPr/>
        </p:nvGrpSpPr>
        <p:grpSpPr>
          <a:xfrm>
            <a:off x="4086475" y="4510666"/>
            <a:ext cx="4031873" cy="1321690"/>
            <a:chOff x="4086475" y="1098393"/>
            <a:chExt cx="4031873" cy="13216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F03CB4-ED7C-9AAA-FC89-594C06D0F323}"/>
                </a:ext>
              </a:extLst>
            </p:cNvPr>
            <p:cNvSpPr txBox="1"/>
            <p:nvPr/>
          </p:nvSpPr>
          <p:spPr>
            <a:xfrm>
              <a:off x="5532192" y="1098393"/>
              <a:ext cx="11276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Part 1</a:t>
              </a:r>
              <a:endParaRPr lang="ko-KR" altLang="en-US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C6D611-0D22-015E-0AD1-E2398FD98E6E}"/>
                </a:ext>
              </a:extLst>
            </p:cNvPr>
            <p:cNvSpPr txBox="1"/>
            <p:nvPr/>
          </p:nvSpPr>
          <p:spPr>
            <a:xfrm>
              <a:off x="4086475" y="1589086"/>
              <a:ext cx="40318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팀 구성 및 역할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430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0B0D2A-2772-ABB8-6732-1A58C7B460B7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054E7-8651-B52F-0B12-C64EA7A65B60}"/>
              </a:ext>
            </a:extLst>
          </p:cNvPr>
          <p:cNvSpPr txBox="1"/>
          <p:nvPr/>
        </p:nvSpPr>
        <p:spPr>
          <a:xfrm>
            <a:off x="619922" y="482342"/>
            <a:ext cx="737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1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EC20A-3B6F-FB63-1AE5-5BC996B8446E}"/>
              </a:ext>
            </a:extLst>
          </p:cNvPr>
          <p:cNvSpPr txBox="1"/>
          <p:nvPr/>
        </p:nvSpPr>
        <p:spPr>
          <a:xfrm>
            <a:off x="1763806" y="436175"/>
            <a:ext cx="2473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팀 구성 및 역할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BC62D4-4D52-D6E8-596B-C2BC260A4880}"/>
              </a:ext>
            </a:extLst>
          </p:cNvPr>
          <p:cNvSpPr/>
          <p:nvPr/>
        </p:nvSpPr>
        <p:spPr>
          <a:xfrm>
            <a:off x="773024" y="1972527"/>
            <a:ext cx="2342322" cy="2700632"/>
          </a:xfrm>
          <a:prstGeom prst="rect">
            <a:avLst/>
          </a:prstGeom>
          <a:solidFill>
            <a:srgbClr val="FFE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C9F01A-EE3B-2440-0E36-9F19FC41046B}"/>
              </a:ext>
            </a:extLst>
          </p:cNvPr>
          <p:cNvSpPr/>
          <p:nvPr/>
        </p:nvSpPr>
        <p:spPr>
          <a:xfrm>
            <a:off x="3541370" y="1972527"/>
            <a:ext cx="2342322" cy="27006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B0F4B3-E34A-200E-618F-95B07640DA81}"/>
              </a:ext>
            </a:extLst>
          </p:cNvPr>
          <p:cNvSpPr/>
          <p:nvPr/>
        </p:nvSpPr>
        <p:spPr>
          <a:xfrm>
            <a:off x="6333726" y="1972527"/>
            <a:ext cx="2342322" cy="2700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259D3-116E-09D9-AA5F-59E0ACDC8BB9}"/>
              </a:ext>
            </a:extLst>
          </p:cNvPr>
          <p:cNvSpPr txBox="1"/>
          <p:nvPr/>
        </p:nvSpPr>
        <p:spPr>
          <a:xfrm>
            <a:off x="684953" y="5107261"/>
            <a:ext cx="254468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kern="0" dirty="0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시도별 </a:t>
            </a:r>
            <a:r>
              <a:rPr lang="ko-KR" altLang="en-US" sz="1300" kern="0" dirty="0" err="1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화재인명</a:t>
            </a:r>
            <a:r>
              <a:rPr lang="ko-KR" altLang="en-US" sz="1300" kern="0" dirty="0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 피해현황</a:t>
            </a:r>
            <a:r>
              <a:rPr lang="en-US" altLang="ko-KR" sz="1300" kern="0" dirty="0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시도별 화재재산 피해현황</a:t>
            </a:r>
            <a:endParaRPr lang="en-US" altLang="ko-KR" sz="1300" kern="0" dirty="0">
              <a:solidFill>
                <a:srgbClr val="000000"/>
              </a:solidFill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2023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년 데이터 가공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및 설계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PPT 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제작</a:t>
            </a:r>
            <a:endParaRPr lang="en-US" altLang="ko-KR" sz="1300" kern="0" dirty="0">
              <a:solidFill>
                <a:srgbClr val="000000"/>
              </a:solidFill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6610048-58CE-70E8-AD2C-E037614A447A}"/>
              </a:ext>
            </a:extLst>
          </p:cNvPr>
          <p:cNvCxnSpPr>
            <a:cxnSpLocks/>
          </p:cNvCxnSpPr>
          <p:nvPr/>
        </p:nvCxnSpPr>
        <p:spPr>
          <a:xfrm>
            <a:off x="1300268" y="4926418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EEE02AA-C3A8-AAF5-6A08-9B1C64CD17B2}"/>
              </a:ext>
            </a:extLst>
          </p:cNvPr>
          <p:cNvCxnSpPr>
            <a:cxnSpLocks/>
          </p:cNvCxnSpPr>
          <p:nvPr/>
        </p:nvCxnSpPr>
        <p:spPr>
          <a:xfrm>
            <a:off x="4100380" y="4926418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3652614-E065-8E96-7CCB-3FAE91F70A7B}"/>
              </a:ext>
            </a:extLst>
          </p:cNvPr>
          <p:cNvCxnSpPr>
            <a:cxnSpLocks/>
          </p:cNvCxnSpPr>
          <p:nvPr/>
        </p:nvCxnSpPr>
        <p:spPr>
          <a:xfrm>
            <a:off x="6892735" y="4934817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03020D-8090-4B8D-A210-858ED5DE46B2}"/>
              </a:ext>
            </a:extLst>
          </p:cNvPr>
          <p:cNvSpPr/>
          <p:nvPr/>
        </p:nvSpPr>
        <p:spPr>
          <a:xfrm>
            <a:off x="9103233" y="1972527"/>
            <a:ext cx="2342322" cy="270063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44546A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A3C6DBD-958C-4C07-A1B4-4FBAB2D5D881}"/>
              </a:ext>
            </a:extLst>
          </p:cNvPr>
          <p:cNvCxnSpPr>
            <a:cxnSpLocks/>
          </p:cNvCxnSpPr>
          <p:nvPr/>
        </p:nvCxnSpPr>
        <p:spPr>
          <a:xfrm>
            <a:off x="9662243" y="4934817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D10433C-4CFC-4ABE-A330-D36F2D19634E}"/>
              </a:ext>
            </a:extLst>
          </p:cNvPr>
          <p:cNvSpPr txBox="1"/>
          <p:nvPr/>
        </p:nvSpPr>
        <p:spPr>
          <a:xfrm>
            <a:off x="708657" y="1512774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01.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서지우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F81FA-296D-4007-87CC-3B264FD4019C}"/>
              </a:ext>
            </a:extLst>
          </p:cNvPr>
          <p:cNvSpPr txBox="1"/>
          <p:nvPr/>
        </p:nvSpPr>
        <p:spPr>
          <a:xfrm>
            <a:off x="3541370" y="153460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02.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A958F6-EB0B-4FA2-97EB-95442E353F6E}"/>
              </a:ext>
            </a:extLst>
          </p:cNvPr>
          <p:cNvSpPr txBox="1"/>
          <p:nvPr/>
        </p:nvSpPr>
        <p:spPr>
          <a:xfrm>
            <a:off x="6374083" y="153460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정민재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199CCF-E8AD-4151-B734-E82BF5579CBE}"/>
              </a:ext>
            </a:extLst>
          </p:cNvPr>
          <p:cNvSpPr txBox="1"/>
          <p:nvPr/>
        </p:nvSpPr>
        <p:spPr>
          <a:xfrm>
            <a:off x="9059708" y="153554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04.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홍은지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5BDE07-8693-442A-B7DD-202E602687ED}"/>
              </a:ext>
            </a:extLst>
          </p:cNvPr>
          <p:cNvSpPr txBox="1"/>
          <p:nvPr/>
        </p:nvSpPr>
        <p:spPr>
          <a:xfrm>
            <a:off x="3475653" y="5107261"/>
            <a:ext cx="24737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화재장소별 화재현황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발화요인별 화재현황</a:t>
            </a:r>
            <a:endParaRPr lang="en-US" altLang="ko-KR" sz="1300" kern="0" dirty="0">
              <a:solidFill>
                <a:srgbClr val="000000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2023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년 데이터 가공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및 설계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발표</a:t>
            </a:r>
            <a:endParaRPr lang="en-US" altLang="ko-KR" sz="1300" kern="0" dirty="0">
              <a:solidFill>
                <a:srgbClr val="000000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9BB4A-4D0C-4F15-B462-C95672E75796}"/>
              </a:ext>
            </a:extLst>
          </p:cNvPr>
          <p:cNvSpPr txBox="1"/>
          <p:nvPr/>
        </p:nvSpPr>
        <p:spPr>
          <a:xfrm>
            <a:off x="6386416" y="5107953"/>
            <a:ext cx="234232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발화장소별 화재현황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최초 </a:t>
            </a:r>
            <a:r>
              <a:rPr lang="ko-KR" altLang="en-US" sz="1300" kern="0" dirty="0" err="1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착화물별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화재현황</a:t>
            </a:r>
            <a:endParaRPr lang="en-US" altLang="ko-KR" sz="1300" kern="0" dirty="0">
              <a:solidFill>
                <a:srgbClr val="000000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2023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년 데이터 가공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및 설계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  <a:endParaRPr lang="en-US" altLang="ko-KR" sz="1300" kern="0" dirty="0">
              <a:solidFill>
                <a:srgbClr val="000000"/>
              </a:solidFill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팀장</a:t>
            </a:r>
            <a:endParaRPr lang="ko-KR" altLang="en-US" sz="1300" kern="0" dirty="0">
              <a:solidFill>
                <a:srgbClr val="000000"/>
              </a:solidFill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D43889-2D62-4D9B-93EB-8F1CC3483F1D}"/>
              </a:ext>
            </a:extLst>
          </p:cNvPr>
          <p:cNvSpPr txBox="1"/>
          <p:nvPr/>
        </p:nvSpPr>
        <p:spPr>
          <a:xfrm>
            <a:off x="8984163" y="5107953"/>
            <a:ext cx="258045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시도단위 화재발생현황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지역별 화재장소별 화재발생현황</a:t>
            </a:r>
            <a:endParaRPr lang="en-US" altLang="ko-KR" sz="1300" kern="0" dirty="0">
              <a:solidFill>
                <a:srgbClr val="000000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2023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년 데이터 가공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및 설계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산출물 작성</a:t>
            </a:r>
            <a:endParaRPr lang="en-US" altLang="ko-KR" sz="1300" kern="0" dirty="0">
              <a:solidFill>
                <a:srgbClr val="000000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367ABD-0D97-48F3-A53E-D6FF82A75083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3D0CAE5-7958-4F2B-8150-C85CD1EBEC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2165" y="2070178"/>
            <a:ext cx="2242254" cy="248011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A52B8DA-E073-40E7-94E2-5348773743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99714" y="2401327"/>
            <a:ext cx="1923606" cy="179919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C898DDE-1CCD-426A-AC61-92033F7BFE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0405" y="2316208"/>
            <a:ext cx="1754777" cy="213228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2D2A57C-946E-49FC-8B6B-E6BD05F79F1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8969005">
            <a:off x="7102790" y="2418843"/>
            <a:ext cx="495579" cy="36589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D559529-1CCB-439B-AEC4-7A3467E2608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6036">
            <a:off x="6841117" y="2500034"/>
            <a:ext cx="1327537" cy="16988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72E47F-478A-4E43-9EF3-70843DAB8BA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8260">
            <a:off x="7664989" y="2180108"/>
            <a:ext cx="371543" cy="37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4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마조렐 블루, 일렉트릭 블루, 코발트 블루이(가) 표시된 사진&#10;&#10;자동 생성된 설명">
            <a:extLst>
              <a:ext uri="{FF2B5EF4-FFF2-40B4-BE49-F238E27FC236}">
                <a16:creationId xmlns:a16="http://schemas.microsoft.com/office/drawing/2014/main" id="{7ADFA4BD-E57A-2B06-8A5F-55D8B28235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B9F250-F66D-AB0D-E27D-6338806D5D2B}"/>
              </a:ext>
            </a:extLst>
          </p:cNvPr>
          <p:cNvSpPr txBox="1"/>
          <p:nvPr/>
        </p:nvSpPr>
        <p:spPr>
          <a:xfrm>
            <a:off x="5504942" y="1098393"/>
            <a:ext cx="1182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2</a:t>
            </a:r>
            <a:endParaRPr lang="ko-KR" altLang="en-US" sz="24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F1AF2-BD8F-FF7A-350F-9429F4EB3DCC}"/>
              </a:ext>
            </a:extLst>
          </p:cNvPr>
          <p:cNvSpPr txBox="1"/>
          <p:nvPr/>
        </p:nvSpPr>
        <p:spPr>
          <a:xfrm>
            <a:off x="2757028" y="1744313"/>
            <a:ext cx="67922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개요 및 수행절차</a:t>
            </a:r>
          </a:p>
        </p:txBody>
      </p:sp>
    </p:spTree>
    <p:extLst>
      <p:ext uri="{BB962C8B-B14F-4D97-AF65-F5344CB8AC3E}">
        <p14:creationId xmlns:p14="http://schemas.microsoft.com/office/powerpoint/2010/main" val="304529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4694" y="482342"/>
            <a:ext cx="767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2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178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개요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7F89866-63E8-B019-ACCA-17A42A4E1DAB}"/>
              </a:ext>
            </a:extLst>
          </p:cNvPr>
          <p:cNvSpPr/>
          <p:nvPr/>
        </p:nvSpPr>
        <p:spPr>
          <a:xfrm>
            <a:off x="633997" y="2979886"/>
            <a:ext cx="2882900" cy="3087082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C9AC572-EEB6-BC24-47AD-47F8A0A5EBDE}"/>
              </a:ext>
            </a:extLst>
          </p:cNvPr>
          <p:cNvSpPr/>
          <p:nvPr/>
        </p:nvSpPr>
        <p:spPr>
          <a:xfrm>
            <a:off x="8650569" y="2984742"/>
            <a:ext cx="2969931" cy="3082225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53BB42A-CA3E-C693-B077-F578583A2A68}"/>
              </a:ext>
            </a:extLst>
          </p:cNvPr>
          <p:cNvSpPr/>
          <p:nvPr/>
        </p:nvSpPr>
        <p:spPr>
          <a:xfrm>
            <a:off x="3965406" y="2979886"/>
            <a:ext cx="4261187" cy="3087082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9ABE4D7-EB7C-C7E7-AD93-8D056229F97F}"/>
              </a:ext>
            </a:extLst>
          </p:cNvPr>
          <p:cNvCxnSpPr>
            <a:cxnSpLocks/>
          </p:cNvCxnSpPr>
          <p:nvPr/>
        </p:nvCxnSpPr>
        <p:spPr>
          <a:xfrm>
            <a:off x="3143730" y="4181256"/>
            <a:ext cx="1188000" cy="0"/>
          </a:xfrm>
          <a:prstGeom prst="straightConnector1">
            <a:avLst/>
          </a:prstGeom>
          <a:ln w="44450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원통형 13">
            <a:extLst>
              <a:ext uri="{FF2B5EF4-FFF2-40B4-BE49-F238E27FC236}">
                <a16:creationId xmlns:a16="http://schemas.microsoft.com/office/drawing/2014/main" id="{DEB537C2-9DCA-A08B-0435-DFA17255587F}"/>
              </a:ext>
            </a:extLst>
          </p:cNvPr>
          <p:cNvSpPr/>
          <p:nvPr/>
        </p:nvSpPr>
        <p:spPr>
          <a:xfrm>
            <a:off x="5068761" y="3550038"/>
            <a:ext cx="2054475" cy="973389"/>
          </a:xfrm>
          <a:prstGeom prst="can">
            <a:avLst>
              <a:gd name="adj" fmla="val 3465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FA507F-AA1D-1E90-3C26-68EB0AA7F76F}"/>
              </a:ext>
            </a:extLst>
          </p:cNvPr>
          <p:cNvSpPr txBox="1"/>
          <p:nvPr/>
        </p:nvSpPr>
        <p:spPr>
          <a:xfrm>
            <a:off x="5123709" y="4006509"/>
            <a:ext cx="1925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공공데이터 포털 </a:t>
            </a:r>
            <a:r>
              <a:rPr lang="en-US" altLang="ko-KR" sz="16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API</a:t>
            </a:r>
            <a:endParaRPr lang="ko-KR" altLang="en-US" sz="1600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824944" y="4844207"/>
            <a:ext cx="25010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공공데이터 포털</a:t>
            </a:r>
            <a:endParaRPr lang="en-US" altLang="ko-KR" sz="1600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dirty="0" err="1">
                <a:latin typeface="a타이틀고딕2" panose="02020600000000000000" pitchFamily="18" charset="-127"/>
                <a:ea typeface="a타이틀고딕2" panose="02020600000000000000" pitchFamily="18" charset="-127"/>
              </a:rPr>
              <a:t>소방청</a:t>
            </a:r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 국가화재정보 데이터</a:t>
            </a:r>
            <a:endParaRPr lang="en-US" altLang="ko-KR" sz="1600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수집 및 가공</a:t>
            </a:r>
            <a:endParaRPr lang="en-US" altLang="ko-KR" sz="1600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9283377" y="4844207"/>
            <a:ext cx="1704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화재발생 모니터링</a:t>
            </a:r>
            <a:endParaRPr lang="en-US" altLang="ko-KR" sz="1600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시스템 구축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897773-FB44-4D16-90CC-DFE700E47F11}"/>
              </a:ext>
            </a:extLst>
          </p:cNvPr>
          <p:cNvSpPr txBox="1"/>
          <p:nvPr/>
        </p:nvSpPr>
        <p:spPr>
          <a:xfrm>
            <a:off x="2650916" y="1368652"/>
            <a:ext cx="6871113" cy="1133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fontAlgn="base" latinLnBrk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kern="0" spc="-130" dirty="0">
                <a:solidFill>
                  <a:srgbClr val="44546A"/>
                </a:solidFill>
                <a:effectLst/>
                <a:latin typeface="a타이틀고딕3" panose="02020600000000000000" pitchFamily="18" charset="-127"/>
                <a:ea typeface="a타이틀고딕3" panose="02020600000000000000" pitchFamily="18" charset="-127"/>
              </a:rPr>
              <a:t>화재발생 모니터링 시스템 구축</a:t>
            </a:r>
            <a:r>
              <a:rPr lang="ko-KR" altLang="en-US" sz="3200" kern="0" spc="-130" dirty="0">
                <a:solidFill>
                  <a:srgbClr val="000000"/>
                </a:solidFill>
                <a:effectLst/>
                <a:latin typeface="a타이틀고딕3" panose="02020600000000000000" pitchFamily="18" charset="-127"/>
                <a:ea typeface="a타이틀고딕3" panose="02020600000000000000" pitchFamily="18" charset="-127"/>
              </a:rPr>
              <a:t>을 위한</a:t>
            </a:r>
            <a:endParaRPr lang="en-US" altLang="ko-KR" sz="3200" kern="0" spc="-130" dirty="0">
              <a:solidFill>
                <a:srgbClr val="000000"/>
              </a:solidFill>
              <a:effectLst/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  <a:p>
            <a:pPr marL="0" marR="0" indent="0" algn="ctr" fontAlgn="base" latinLnBrk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kern="0" spc="-130" dirty="0" err="1">
                <a:solidFill>
                  <a:srgbClr val="757575"/>
                </a:solidFill>
                <a:effectLst/>
                <a:latin typeface="a타이틀고딕3" panose="02020600000000000000" pitchFamily="18" charset="-127"/>
                <a:ea typeface="a타이틀고딕3" panose="02020600000000000000" pitchFamily="18" charset="-127"/>
              </a:rPr>
              <a:t>소방청</a:t>
            </a:r>
            <a:r>
              <a:rPr lang="ko-KR" altLang="en-US" sz="3200" kern="0" spc="-130" dirty="0">
                <a:solidFill>
                  <a:srgbClr val="757575"/>
                </a:solidFill>
                <a:effectLst/>
                <a:latin typeface="a타이틀고딕3" panose="02020600000000000000" pitchFamily="18" charset="-127"/>
                <a:ea typeface="a타이틀고딕3" panose="02020600000000000000" pitchFamily="18" charset="-127"/>
              </a:rPr>
              <a:t> 화재정보 데이터 데이터</a:t>
            </a:r>
            <a:r>
              <a:rPr lang="ko-KR" altLang="en-US" sz="3200" kern="0" spc="-130" dirty="0">
                <a:solidFill>
                  <a:srgbClr val="757575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베이스 저장</a:t>
            </a:r>
            <a:endParaRPr lang="ko-KR" altLang="en-US" sz="3200" kern="0" spc="-130" dirty="0">
              <a:solidFill>
                <a:srgbClr val="757575"/>
              </a:solidFill>
              <a:effectLst/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55410B-98D3-4306-870C-C7429F626BB0}"/>
              </a:ext>
            </a:extLst>
          </p:cNvPr>
          <p:cNvSpPr txBox="1"/>
          <p:nvPr/>
        </p:nvSpPr>
        <p:spPr>
          <a:xfrm>
            <a:off x="2553302" y="707180"/>
            <a:ext cx="9863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6000" kern="0" spc="-150" dirty="0">
                <a:solidFill>
                  <a:schemeClr val="bg1">
                    <a:lumMod val="50000"/>
                  </a:schemeClr>
                </a:solidFill>
                <a:effectLst/>
                <a:latin typeface="a드림고딕2" panose="02020600000000000000" pitchFamily="18" charset="-127"/>
                <a:ea typeface="a드림고딕2" panose="02020600000000000000" pitchFamily="18" charset="-127"/>
              </a:rPr>
              <a:t>“</a:t>
            </a:r>
            <a:endParaRPr lang="ko-KR" altLang="en-US" sz="6000" kern="0" spc="-150" dirty="0">
              <a:solidFill>
                <a:schemeClr val="bg1">
                  <a:lumMod val="50000"/>
                </a:schemeClr>
              </a:solidFill>
              <a:effectLst/>
              <a:latin typeface="a드림고딕2" panose="02020600000000000000" pitchFamily="18" charset="-127"/>
              <a:ea typeface="a드림고딕2" panose="02020600000000000000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B73852-E32F-4BD6-8D61-5D579E12722C}"/>
              </a:ext>
            </a:extLst>
          </p:cNvPr>
          <p:cNvSpPr txBox="1"/>
          <p:nvPr/>
        </p:nvSpPr>
        <p:spPr>
          <a:xfrm>
            <a:off x="9287794" y="1986114"/>
            <a:ext cx="9863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6000" kern="0" spc="-150" dirty="0">
                <a:solidFill>
                  <a:schemeClr val="bg1">
                    <a:lumMod val="50000"/>
                  </a:schemeClr>
                </a:solidFill>
                <a:latin typeface="a드림고딕2" panose="02020600000000000000" pitchFamily="18" charset="-127"/>
                <a:ea typeface="a드림고딕2" panose="02020600000000000000" pitchFamily="18" charset="-127"/>
              </a:rPr>
              <a:t>”</a:t>
            </a:r>
            <a:endParaRPr lang="ko-KR" altLang="en-US" sz="6000" kern="0" spc="-150" dirty="0">
              <a:solidFill>
                <a:schemeClr val="bg1">
                  <a:lumMod val="50000"/>
                </a:schemeClr>
              </a:solidFill>
              <a:effectLst/>
              <a:latin typeface="a드림고딕2" panose="02020600000000000000" pitchFamily="18" charset="-127"/>
              <a:ea typeface="a드림고딕2" panose="02020600000000000000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4E61F8-3A43-433A-A5E4-1BA4F5584233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B42B18-7A9D-4BAF-A0C7-F5D0072665EF}"/>
              </a:ext>
            </a:extLst>
          </p:cNvPr>
          <p:cNvSpPr txBox="1"/>
          <p:nvPr/>
        </p:nvSpPr>
        <p:spPr>
          <a:xfrm>
            <a:off x="4282441" y="4801534"/>
            <a:ext cx="35990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국가화재정보 데이터 현황 및</a:t>
            </a:r>
            <a:r>
              <a:rPr lang="en-US" altLang="ko-KR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rPr>
              <a:t>발생요인 등</a:t>
            </a:r>
            <a:endParaRPr lang="en-US" altLang="ko-KR" sz="1600" kern="0" dirty="0">
              <a:solidFill>
                <a:srgbClr val="000000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kern="0" spc="0" dirty="0">
                <a:solidFill>
                  <a:srgbClr val="000000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요소 간 연관성 파악을 통해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kern="0" spc="0" dirty="0">
                <a:solidFill>
                  <a:srgbClr val="000000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rPr>
              <a:t>실효성 있는 화재정보 데이터 제시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E605ED-EFA8-4B8E-9E88-41812FE34A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92" y="3563094"/>
            <a:ext cx="1169981" cy="1169981"/>
          </a:xfrm>
          <a:prstGeom prst="rect">
            <a:avLst/>
          </a:prstGeom>
        </p:spPr>
      </p:pic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2AE7831-30A1-4C14-A4A1-9809769E0811}"/>
              </a:ext>
            </a:extLst>
          </p:cNvPr>
          <p:cNvCxnSpPr>
            <a:cxnSpLocks/>
          </p:cNvCxnSpPr>
          <p:nvPr/>
        </p:nvCxnSpPr>
        <p:spPr>
          <a:xfrm>
            <a:off x="7897113" y="4181256"/>
            <a:ext cx="1181316" cy="0"/>
          </a:xfrm>
          <a:prstGeom prst="straightConnector1">
            <a:avLst/>
          </a:prstGeom>
          <a:ln w="44450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69C64D80-E715-4506-B0F9-F45DE34C5F6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920" y="3677851"/>
            <a:ext cx="1071226" cy="107122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CBB2EA5-1203-45BC-84D7-8EBA4663B38B}"/>
              </a:ext>
            </a:extLst>
          </p:cNvPr>
          <p:cNvSpPr txBox="1"/>
          <p:nvPr/>
        </p:nvSpPr>
        <p:spPr>
          <a:xfrm>
            <a:off x="9419631" y="5494493"/>
            <a:ext cx="1431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i="1" dirty="0">
                <a:solidFill>
                  <a:srgbClr val="3F668F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* </a:t>
            </a:r>
            <a:r>
              <a:rPr lang="ko-KR" altLang="en-US" sz="1200" i="1" dirty="0">
                <a:solidFill>
                  <a:srgbClr val="3F668F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파이널 프로젝트 </a:t>
            </a:r>
            <a:r>
              <a:rPr lang="en-US" altLang="ko-KR" sz="1200" i="1" dirty="0">
                <a:solidFill>
                  <a:srgbClr val="3F668F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*</a:t>
            </a:r>
            <a:endParaRPr lang="ko-KR" altLang="en-US" sz="1200" i="1" dirty="0">
              <a:solidFill>
                <a:srgbClr val="3F668F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700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갈매기형 수장 5">
            <a:extLst>
              <a:ext uri="{FF2B5EF4-FFF2-40B4-BE49-F238E27FC236}">
                <a16:creationId xmlns:a16="http://schemas.microsoft.com/office/drawing/2014/main" id="{2E914986-1C9B-4FFE-BF31-0DB5FDE6489E}"/>
              </a:ext>
            </a:extLst>
          </p:cNvPr>
          <p:cNvSpPr/>
          <p:nvPr/>
        </p:nvSpPr>
        <p:spPr>
          <a:xfrm>
            <a:off x="-493485" y="4029119"/>
            <a:ext cx="6689748" cy="1000221"/>
          </a:xfrm>
          <a:prstGeom prst="chevron">
            <a:avLst/>
          </a:prstGeom>
          <a:solidFill>
            <a:srgbClr val="ABC2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4693" y="482342"/>
            <a:ext cx="767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2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92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수행절차</a:t>
            </a:r>
          </a:p>
        </p:txBody>
      </p:sp>
      <p:sp>
        <p:nvSpPr>
          <p:cNvPr id="2" name="갈매기형 수장 5">
            <a:extLst>
              <a:ext uri="{FF2B5EF4-FFF2-40B4-BE49-F238E27FC236}">
                <a16:creationId xmlns:a16="http://schemas.microsoft.com/office/drawing/2014/main" id="{11225834-322B-DEBA-1F9F-3497686DF346}"/>
              </a:ext>
            </a:extLst>
          </p:cNvPr>
          <p:cNvSpPr/>
          <p:nvPr/>
        </p:nvSpPr>
        <p:spPr>
          <a:xfrm>
            <a:off x="8026399" y="2763211"/>
            <a:ext cx="4673601" cy="1000221"/>
          </a:xfrm>
          <a:prstGeom prst="chevron">
            <a:avLst/>
          </a:prstGeom>
          <a:solidFill>
            <a:srgbClr val="727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5" name="갈매기형 수장 4">
            <a:extLst>
              <a:ext uri="{FF2B5EF4-FFF2-40B4-BE49-F238E27FC236}">
                <a16:creationId xmlns:a16="http://schemas.microsoft.com/office/drawing/2014/main" id="{B1F0468B-E2B6-F409-EC77-B8B70FB80379}"/>
              </a:ext>
            </a:extLst>
          </p:cNvPr>
          <p:cNvSpPr/>
          <p:nvPr/>
        </p:nvSpPr>
        <p:spPr>
          <a:xfrm>
            <a:off x="4119789" y="2763211"/>
            <a:ext cx="4269133" cy="1000221"/>
          </a:xfrm>
          <a:prstGeom prst="chevron">
            <a:avLst/>
          </a:prstGeom>
          <a:solidFill>
            <a:srgbClr val="ADA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6" name="오각형 3">
            <a:extLst>
              <a:ext uri="{FF2B5EF4-FFF2-40B4-BE49-F238E27FC236}">
                <a16:creationId xmlns:a16="http://schemas.microsoft.com/office/drawing/2014/main" id="{11E2263C-BF49-0316-00EC-3EB1A3DA496E}"/>
              </a:ext>
            </a:extLst>
          </p:cNvPr>
          <p:cNvSpPr/>
          <p:nvPr/>
        </p:nvSpPr>
        <p:spPr>
          <a:xfrm>
            <a:off x="-203199" y="2763211"/>
            <a:ext cx="4673600" cy="1000221"/>
          </a:xfrm>
          <a:prstGeom prst="homePlat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437EA40D-FD35-B868-3018-8A8CB4814165}"/>
              </a:ext>
            </a:extLst>
          </p:cNvPr>
          <p:cNvSpPr/>
          <p:nvPr/>
        </p:nvSpPr>
        <p:spPr>
          <a:xfrm rot="5400000" flipV="1">
            <a:off x="5886057" y="845847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C5830E-8027-9A3D-4B78-4C5E872CD375}"/>
              </a:ext>
            </a:extLst>
          </p:cNvPr>
          <p:cNvSpPr/>
          <p:nvPr/>
        </p:nvSpPr>
        <p:spPr>
          <a:xfrm rot="5400000" flipV="1">
            <a:off x="9917742" y="732683"/>
            <a:ext cx="321466" cy="3379105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8B804F-38F9-31BF-2834-B47F0D7343AE}"/>
              </a:ext>
            </a:extLst>
          </p:cNvPr>
          <p:cNvSpPr txBox="1"/>
          <p:nvPr/>
        </p:nvSpPr>
        <p:spPr>
          <a:xfrm>
            <a:off x="749157" y="1535379"/>
            <a:ext cx="2725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“2023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년 국가화재발생정보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모니터링 시스템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”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DE4324-77EA-6CA4-04B3-8115F68CE276}"/>
              </a:ext>
            </a:extLst>
          </p:cNvPr>
          <p:cNvSpPr txBox="1"/>
          <p:nvPr/>
        </p:nvSpPr>
        <p:spPr>
          <a:xfrm>
            <a:off x="4119789" y="1570601"/>
            <a:ext cx="36022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선정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및 수집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,</a:t>
            </a:r>
          </a:p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결측치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확인 및 데이터 세분화</a:t>
            </a:r>
          </a:p>
          <a:p>
            <a:pPr algn="ctr"/>
            <a:endParaRPr lang="ko-KR" altLang="en-US" dirty="0">
              <a:solidFill>
                <a:schemeClr val="bg1">
                  <a:lumMod val="50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E32495-24AB-C48C-6B08-DCF1B4881C09}"/>
              </a:ext>
            </a:extLst>
          </p:cNvPr>
          <p:cNvSpPr txBox="1"/>
          <p:nvPr/>
        </p:nvSpPr>
        <p:spPr>
          <a:xfrm>
            <a:off x="627894" y="2990398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주제 선정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6F2B1B-5419-ECF4-958F-C3EB9D771D77}"/>
              </a:ext>
            </a:extLst>
          </p:cNvPr>
          <p:cNvSpPr txBox="1"/>
          <p:nvPr/>
        </p:nvSpPr>
        <p:spPr>
          <a:xfrm>
            <a:off x="4975716" y="2990397"/>
            <a:ext cx="2650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수집 및 가공</a:t>
            </a:r>
          </a:p>
        </p:txBody>
      </p: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A16FA92B-A0AC-4E0F-B396-350CAC0BE922}"/>
              </a:ext>
            </a:extLst>
          </p:cNvPr>
          <p:cNvSpPr/>
          <p:nvPr/>
        </p:nvSpPr>
        <p:spPr>
          <a:xfrm rot="5400000" flipV="1">
            <a:off x="2012066" y="777652"/>
            <a:ext cx="321466" cy="328916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4" name="갈매기형 수장 4">
            <a:extLst>
              <a:ext uri="{FF2B5EF4-FFF2-40B4-BE49-F238E27FC236}">
                <a16:creationId xmlns:a16="http://schemas.microsoft.com/office/drawing/2014/main" id="{54574E02-B844-4530-A1D6-B464F54C4A29}"/>
              </a:ext>
            </a:extLst>
          </p:cNvPr>
          <p:cNvSpPr/>
          <p:nvPr/>
        </p:nvSpPr>
        <p:spPr>
          <a:xfrm>
            <a:off x="5895474" y="4029120"/>
            <a:ext cx="6296525" cy="1000221"/>
          </a:xfrm>
          <a:prstGeom prst="chevron">
            <a:avLst/>
          </a:prstGeom>
          <a:solidFill>
            <a:srgbClr val="637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0AF19B-EA1C-4FEB-94F4-771E2944EF05}"/>
              </a:ext>
            </a:extLst>
          </p:cNvPr>
          <p:cNvSpPr txBox="1"/>
          <p:nvPr/>
        </p:nvSpPr>
        <p:spPr>
          <a:xfrm>
            <a:off x="7157808" y="4304881"/>
            <a:ext cx="4027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화재정보 모니터링 시스템 구축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CDF02E-4570-4319-9771-36089381771A}"/>
              </a:ext>
            </a:extLst>
          </p:cNvPr>
          <p:cNvSpPr txBox="1"/>
          <p:nvPr/>
        </p:nvSpPr>
        <p:spPr>
          <a:xfrm>
            <a:off x="373161" y="4262996"/>
            <a:ext cx="49487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모니터링 설계 </a:t>
            </a:r>
            <a:r>
              <a:rPr lang="en-US" altLang="ko-KR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&amp; </a:t>
            </a:r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시각화</a:t>
            </a:r>
          </a:p>
          <a:p>
            <a:endParaRPr lang="ko-KR" altLang="en-US" sz="2400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BEF09A91-73EF-4DA5-A7BE-B76DE9DCAEB2}"/>
              </a:ext>
            </a:extLst>
          </p:cNvPr>
          <p:cNvSpPr/>
          <p:nvPr/>
        </p:nvSpPr>
        <p:spPr>
          <a:xfrm rot="16200000">
            <a:off x="5921208" y="-181787"/>
            <a:ext cx="334345" cy="11186160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18C558-5760-4C39-BBB9-3AF769A87A04}"/>
              </a:ext>
            </a:extLst>
          </p:cNvPr>
          <p:cNvSpPr txBox="1"/>
          <p:nvPr/>
        </p:nvSpPr>
        <p:spPr>
          <a:xfrm>
            <a:off x="8197453" y="1673878"/>
            <a:ext cx="357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수집 데이터의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</a:t>
            </a:r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데이터베이스 저장</a:t>
            </a:r>
            <a:endParaRPr lang="en-US" altLang="ko-KR" dirty="0">
              <a:solidFill>
                <a:schemeClr val="accent3">
                  <a:lumMod val="7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A24F8A-31F5-43A3-91D6-6D1E6497A024}"/>
              </a:ext>
            </a:extLst>
          </p:cNvPr>
          <p:cNvSpPr txBox="1"/>
          <p:nvPr/>
        </p:nvSpPr>
        <p:spPr>
          <a:xfrm>
            <a:off x="9075392" y="3019983"/>
            <a:ext cx="2470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데이터베이스 구축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67E011-BF44-44A2-84C4-BE1D283C4169}"/>
              </a:ext>
            </a:extLst>
          </p:cNvPr>
          <p:cNvSpPr txBox="1"/>
          <p:nvPr/>
        </p:nvSpPr>
        <p:spPr>
          <a:xfrm>
            <a:off x="5109225" y="5713235"/>
            <a:ext cx="206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*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파이널 프로젝트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*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BA4FF-1E33-4B5D-AB2D-8B2955DC01A1}"/>
              </a:ext>
            </a:extLst>
          </p:cNvPr>
          <p:cNvSpPr txBox="1"/>
          <p:nvPr/>
        </p:nvSpPr>
        <p:spPr>
          <a:xfrm>
            <a:off x="9124853" y="1290779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* 2</a:t>
            </a:r>
            <a:r>
              <a:rPr lang="ko-KR" altLang="en-US" b="1" dirty="0">
                <a:solidFill>
                  <a:schemeClr val="accent2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차 프로젝트 </a:t>
            </a:r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02312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빛, 흑백이(가) 표시된 사진&#10;&#10;중간 신뢰도로 자동 생성된 설명">
            <a:extLst>
              <a:ext uri="{FF2B5EF4-FFF2-40B4-BE49-F238E27FC236}">
                <a16:creationId xmlns:a16="http://schemas.microsoft.com/office/drawing/2014/main" id="{56B385BE-4217-8E4C-6253-2F9845265C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76A196-331D-49EC-B02F-F04109364154}"/>
              </a:ext>
            </a:extLst>
          </p:cNvPr>
          <p:cNvSpPr txBox="1"/>
          <p:nvPr/>
        </p:nvSpPr>
        <p:spPr>
          <a:xfrm>
            <a:off x="5506544" y="1098393"/>
            <a:ext cx="1178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24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00E44-1B6F-4C89-891C-D4A7301FF3B0}"/>
              </a:ext>
            </a:extLst>
          </p:cNvPr>
          <p:cNvSpPr txBox="1"/>
          <p:nvPr/>
        </p:nvSpPr>
        <p:spPr>
          <a:xfrm>
            <a:off x="3201763" y="1753022"/>
            <a:ext cx="5881675" cy="83099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1</a:t>
            </a:r>
            <a:r>
              <a:rPr lang="ko-KR" altLang="en-US" sz="4800" b="1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차 프로젝트 </a:t>
            </a:r>
            <a:r>
              <a:rPr lang="en-US" altLang="ko-KR" sz="4800" b="1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Review </a:t>
            </a:r>
            <a:endParaRPr lang="ko-KR" altLang="en-US" sz="4800" b="1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400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54A076-5959-435A-984F-7922B5DBC2F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39687120-5641-44D0-8501-1D8B8AD15F45}"/>
              </a:ext>
            </a:extLst>
          </p:cNvPr>
          <p:cNvSpPr/>
          <p:nvPr/>
        </p:nvSpPr>
        <p:spPr>
          <a:xfrm>
            <a:off x="6715125" y="1393199"/>
            <a:ext cx="4469039" cy="1347943"/>
          </a:xfrm>
          <a:prstGeom prst="snip1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5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3554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1</a:t>
            </a:r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차 프로젝트 </a:t>
            </a:r>
            <a:r>
              <a:rPr lang="en-US" altLang="ko-KR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Review</a:t>
            </a:r>
            <a:endParaRPr lang="ko-KR" altLang="en-US" sz="2000" b="1" spc="600" dirty="0">
              <a:solidFill>
                <a:schemeClr val="tx1">
                  <a:lumMod val="85000"/>
                  <a:lumOff val="1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7B14F7-EC30-4716-A170-950B92C9DC62}"/>
              </a:ext>
            </a:extLst>
          </p:cNvPr>
          <p:cNvSpPr txBox="1"/>
          <p:nvPr/>
        </p:nvSpPr>
        <p:spPr>
          <a:xfrm>
            <a:off x="817842" y="1559983"/>
            <a:ext cx="4341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검색 및 수집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95030E-F088-44B0-A401-1E88F7F5C4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522" y="1954260"/>
            <a:ext cx="1400829" cy="601919"/>
          </a:xfrm>
          <a:prstGeom prst="rect">
            <a:avLst/>
          </a:prstGeom>
        </p:spPr>
      </p:pic>
      <p:pic>
        <p:nvPicPr>
          <p:cNvPr id="17" name="Picture 2" descr="C:\Users\qkrwn\OneDrive\바탕 화면\티스토리 logo\spring\pngwing.com.png">
            <a:extLst>
              <a:ext uri="{FF2B5EF4-FFF2-40B4-BE49-F238E27FC236}">
                <a16:creationId xmlns:a16="http://schemas.microsoft.com/office/drawing/2014/main" id="{69C0B1B1-4048-44F0-A171-564621D80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650" y="1942510"/>
            <a:ext cx="602340" cy="602340"/>
          </a:xfrm>
          <a:prstGeom prst="rect">
            <a:avLst/>
          </a:prstGeom>
          <a:noFill/>
        </p:spPr>
      </p:pic>
      <p:pic>
        <p:nvPicPr>
          <p:cNvPr id="18" name="Picture 4" descr="C:\Users\qkrwn\OneDrive\바탕 화면\판다스.png">
            <a:extLst>
              <a:ext uri="{FF2B5EF4-FFF2-40B4-BE49-F238E27FC236}">
                <a16:creationId xmlns:a16="http://schemas.microsoft.com/office/drawing/2014/main" id="{5DD925DB-F301-49B1-8812-FC430C5AF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60897" y="1823433"/>
            <a:ext cx="856749" cy="856749"/>
          </a:xfrm>
          <a:prstGeom prst="rect">
            <a:avLst/>
          </a:prstGeom>
          <a:noFill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E2D2119-C845-4B6F-828B-D2685E23DBCB}"/>
              </a:ext>
            </a:extLst>
          </p:cNvPr>
          <p:cNvSpPr txBox="1"/>
          <p:nvPr/>
        </p:nvSpPr>
        <p:spPr>
          <a:xfrm>
            <a:off x="6863518" y="1528373"/>
            <a:ext cx="19815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[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개발 환경 도구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6B70E-8819-4F2E-8758-318008603C3C}"/>
              </a:ext>
            </a:extLst>
          </p:cNvPr>
          <p:cNvSpPr txBox="1"/>
          <p:nvPr/>
        </p:nvSpPr>
        <p:spPr>
          <a:xfrm>
            <a:off x="827368" y="2326298"/>
            <a:ext cx="5887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[</a:t>
            </a:r>
            <a:r>
              <a:rPr lang="ko-KR" altLang="en-US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출처</a:t>
            </a:r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] </a:t>
            </a:r>
            <a:r>
              <a:rPr lang="ko-KR" altLang="en-US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공공데이터 포털 </a:t>
            </a:r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Open API &gt; </a:t>
            </a:r>
            <a:r>
              <a:rPr lang="ko-KR" altLang="en-US" sz="1400" dirty="0" err="1">
                <a:latin typeface="a타이틀고딕2" panose="02020600000000000000" pitchFamily="18" charset="-127"/>
                <a:ea typeface="a타이틀고딕2" panose="02020600000000000000" pitchFamily="18" charset="-127"/>
              </a:rPr>
              <a:t>소방청</a:t>
            </a:r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_</a:t>
            </a:r>
            <a:r>
              <a:rPr lang="ko-KR" altLang="en-US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화재정보시스템</a:t>
            </a:r>
            <a:endParaRPr lang="en-US" altLang="ko-KR" sz="1400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https://www.data.go.kr/iim/api/selectAPIAcountView.do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880B57-4568-404E-823F-4B284D52C43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90" y="2959978"/>
            <a:ext cx="5636969" cy="282971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94CCD4F1-C881-48EE-994B-291F9BD26F6B}"/>
              </a:ext>
            </a:extLst>
          </p:cNvPr>
          <p:cNvGrpSpPr/>
          <p:nvPr/>
        </p:nvGrpSpPr>
        <p:grpSpPr>
          <a:xfrm>
            <a:off x="6715125" y="2931515"/>
            <a:ext cx="4585335" cy="3226755"/>
            <a:chOff x="6715125" y="2931515"/>
            <a:chExt cx="4585335" cy="3226755"/>
          </a:xfrm>
        </p:grpSpPr>
        <p:sp>
          <p:nvSpPr>
            <p:cNvPr id="16" name="사각형: 잘린 한쪽 모서리 15">
              <a:extLst>
                <a:ext uri="{FF2B5EF4-FFF2-40B4-BE49-F238E27FC236}">
                  <a16:creationId xmlns:a16="http://schemas.microsoft.com/office/drawing/2014/main" id="{493BA49B-8741-4F5E-BA35-5339E63F5FDD}"/>
                </a:ext>
              </a:extLst>
            </p:cNvPr>
            <p:cNvSpPr/>
            <p:nvPr/>
          </p:nvSpPr>
          <p:spPr>
            <a:xfrm>
              <a:off x="6715125" y="2931515"/>
              <a:ext cx="4469039" cy="3226755"/>
            </a:xfrm>
            <a:prstGeom prst="snip1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5" name="그림 14">
              <a:hlinkClick r:id="rId6"/>
              <a:extLst>
                <a:ext uri="{FF2B5EF4-FFF2-40B4-BE49-F238E27FC236}">
                  <a16:creationId xmlns:a16="http://schemas.microsoft.com/office/drawing/2014/main" id="{5830D071-79ED-42D9-89DF-1A314AA24E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88020" y="3594100"/>
              <a:ext cx="3508530" cy="212449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03F162-311E-4C6B-B554-294421E8C65A}"/>
                </a:ext>
              </a:extLst>
            </p:cNvPr>
            <p:cNvSpPr txBox="1"/>
            <p:nvPr/>
          </p:nvSpPr>
          <p:spPr>
            <a:xfrm>
              <a:off x="6896805" y="5749362"/>
              <a:ext cx="440365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[</a:t>
              </a:r>
              <a:r>
                <a:rPr lang="ko-KR" altLang="en-US" sz="900" dirty="0"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출처</a:t>
              </a:r>
              <a:r>
                <a:rPr lang="en-US" altLang="ko-KR" sz="900" dirty="0"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] KOSIS(</a:t>
              </a:r>
              <a:r>
                <a:rPr lang="ko-KR" altLang="en-US" sz="900" dirty="0" err="1"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소방청</a:t>
              </a:r>
              <a:r>
                <a:rPr lang="en-US" altLang="ko-KR" sz="900" dirty="0"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, </a:t>
              </a:r>
              <a:r>
                <a:rPr lang="ko-KR" altLang="en-US" sz="900" dirty="0"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화재발생총괄표</a:t>
              </a:r>
              <a:r>
                <a:rPr lang="en-US" altLang="ko-KR" sz="900" dirty="0"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) 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https://kosis.kr/search/search.do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4D6F4B-14B5-4BF5-AC3D-D5A61E00CEBC}"/>
                </a:ext>
              </a:extLst>
            </p:cNvPr>
            <p:cNvSpPr txBox="1"/>
            <p:nvPr/>
          </p:nvSpPr>
          <p:spPr>
            <a:xfrm>
              <a:off x="6896805" y="3143786"/>
              <a:ext cx="308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[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통계청 화재발생 현황 통계 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]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34CC61-FF45-4207-A325-F6F2C7504805}"/>
              </a:ext>
            </a:extLst>
          </p:cNvPr>
          <p:cNvSpPr/>
          <p:nvPr/>
        </p:nvSpPr>
        <p:spPr>
          <a:xfrm>
            <a:off x="8534400" y="4385469"/>
            <a:ext cx="816769" cy="107156"/>
          </a:xfrm>
          <a:prstGeom prst="rect">
            <a:avLst/>
          </a:prstGeom>
          <a:solidFill>
            <a:srgbClr val="FFFF00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98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54A076-5959-435A-984F-7922B5DBC2F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0E8F09-2854-4542-9C0A-0A0E23C5C37F}"/>
              </a:ext>
            </a:extLst>
          </p:cNvPr>
          <p:cNvSpPr/>
          <p:nvPr/>
        </p:nvSpPr>
        <p:spPr>
          <a:xfrm>
            <a:off x="988483" y="1893418"/>
            <a:ext cx="10203392" cy="448224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CB796A-4ECF-4C05-8FD7-A8976E7C5BE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919" y="1935576"/>
            <a:ext cx="6905822" cy="4384005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7B14F7-EC30-4716-A170-950B92C9DC62}"/>
              </a:ext>
            </a:extLst>
          </p:cNvPr>
          <p:cNvSpPr txBox="1"/>
          <p:nvPr/>
        </p:nvSpPr>
        <p:spPr>
          <a:xfrm>
            <a:off x="817842" y="1426633"/>
            <a:ext cx="10385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: [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소방청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국가화재정보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화재장소별 화재현황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(2023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년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)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6B1A8A3-E15E-480B-B33F-EACF1D5AB8F0}"/>
              </a:ext>
            </a:extLst>
          </p:cNvPr>
          <p:cNvGrpSpPr/>
          <p:nvPr/>
        </p:nvGrpSpPr>
        <p:grpSpPr>
          <a:xfrm>
            <a:off x="2967669" y="4625317"/>
            <a:ext cx="5920681" cy="1655694"/>
            <a:chOff x="5576320" y="2978321"/>
            <a:chExt cx="5177039" cy="144776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C869DE4-697A-449C-B989-C2889A9ADFF1}"/>
                </a:ext>
              </a:extLst>
            </p:cNvPr>
            <p:cNvSpPr/>
            <p:nvPr/>
          </p:nvSpPr>
          <p:spPr>
            <a:xfrm>
              <a:off x="9207074" y="2978321"/>
              <a:ext cx="1546285" cy="8364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결측치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제거</a:t>
              </a: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271D77E-1294-442D-91D0-7DF8C15B42D5}"/>
                </a:ext>
              </a:extLst>
            </p:cNvPr>
            <p:cNvSpPr/>
            <p:nvPr/>
          </p:nvSpPr>
          <p:spPr>
            <a:xfrm>
              <a:off x="5576320" y="3589631"/>
              <a:ext cx="4823957" cy="836450"/>
            </a:xfrm>
            <a:prstGeom prst="roundRect">
              <a:avLst>
                <a:gd name="adj" fmla="val 5006"/>
              </a:avLst>
            </a:prstGeom>
            <a:noFill/>
            <a:ln w="158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00"/>
                </a:solidFill>
              </a:endParaRPr>
            </a:p>
          </p:txBody>
        </p:sp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15B7B2E-11E1-4D2E-96CA-A6DDECDBD4E5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A5557F-8913-4CFF-A1B1-AFE160EC5660}"/>
              </a:ext>
            </a:extLst>
          </p:cNvPr>
          <p:cNvSpPr txBox="1"/>
          <p:nvPr/>
        </p:nvSpPr>
        <p:spPr>
          <a:xfrm>
            <a:off x="605495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18B0AE-D7F7-4284-8624-E281D306ABF4}"/>
              </a:ext>
            </a:extLst>
          </p:cNvPr>
          <p:cNvSpPr txBox="1"/>
          <p:nvPr/>
        </p:nvSpPr>
        <p:spPr>
          <a:xfrm>
            <a:off x="1763806" y="436175"/>
            <a:ext cx="3554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1</a:t>
            </a:r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차 프로젝트 </a:t>
            </a:r>
            <a:r>
              <a:rPr lang="en-US" altLang="ko-KR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Review</a:t>
            </a:r>
            <a:endParaRPr lang="ko-KR" altLang="en-US" sz="2000" b="1" spc="600" dirty="0">
              <a:solidFill>
                <a:schemeClr val="tx1">
                  <a:lumMod val="85000"/>
                  <a:lumOff val="1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FF6C86A-66CD-4BEF-9040-88AC89FCFDCF}"/>
              </a:ext>
            </a:extLst>
          </p:cNvPr>
          <p:cNvGrpSpPr/>
          <p:nvPr/>
        </p:nvGrpSpPr>
        <p:grpSpPr>
          <a:xfrm>
            <a:off x="1371475" y="1967118"/>
            <a:ext cx="4061778" cy="1046532"/>
            <a:chOff x="3782965" y="3130088"/>
            <a:chExt cx="12034677" cy="2839249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AA90B12-4779-4A3B-BCD9-28C24D3F741A}"/>
                </a:ext>
              </a:extLst>
            </p:cNvPr>
            <p:cNvSpPr/>
            <p:nvPr/>
          </p:nvSpPr>
          <p:spPr>
            <a:xfrm>
              <a:off x="10824470" y="3209270"/>
              <a:ext cx="4993172" cy="14366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라이브러리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,</a:t>
              </a:r>
            </a:p>
            <a:p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날짜 정보 설정</a:t>
              </a: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89CC593-FC22-42FA-85AA-3FB4F6946C33}"/>
                </a:ext>
              </a:extLst>
            </p:cNvPr>
            <p:cNvSpPr/>
            <p:nvPr/>
          </p:nvSpPr>
          <p:spPr>
            <a:xfrm>
              <a:off x="3782965" y="3130088"/>
              <a:ext cx="6974929" cy="2839249"/>
            </a:xfrm>
            <a:prstGeom prst="roundRect">
              <a:avLst>
                <a:gd name="adj" fmla="val 5006"/>
              </a:avLst>
            </a:prstGeom>
            <a:noFill/>
            <a:ln w="158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31E0A5E5-21E6-471C-8872-ADD20E6C2A96}"/>
              </a:ext>
            </a:extLst>
          </p:cNvPr>
          <p:cNvGrpSpPr/>
          <p:nvPr/>
        </p:nvGrpSpPr>
        <p:grpSpPr>
          <a:xfrm>
            <a:off x="1371475" y="2740751"/>
            <a:ext cx="8047377" cy="3540259"/>
            <a:chOff x="1371475" y="2740751"/>
            <a:chExt cx="8047377" cy="354025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C44CF735-2D7C-43DA-A3DE-ECDB621A599C}"/>
                </a:ext>
              </a:extLst>
            </p:cNvPr>
            <p:cNvGrpSpPr/>
            <p:nvPr/>
          </p:nvGrpSpPr>
          <p:grpSpPr>
            <a:xfrm>
              <a:off x="1371475" y="3101787"/>
              <a:ext cx="8047377" cy="3179223"/>
              <a:chOff x="3782965" y="2824659"/>
              <a:chExt cx="7036623" cy="3165354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23A516A-FFDC-4F2A-9C6F-0FA7613DF1F1}"/>
                  </a:ext>
                </a:extLst>
              </p:cNvPr>
              <p:cNvSpPr/>
              <p:nvPr/>
            </p:nvSpPr>
            <p:spPr>
              <a:xfrm>
                <a:off x="7865456" y="2824659"/>
                <a:ext cx="2954132" cy="8364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600" dirty="0">
                    <a:solidFill>
                      <a:srgbClr val="FFFF00"/>
                    </a:solidFill>
                    <a:latin typeface="a타이틀고딕2" panose="02020600000000000000" pitchFamily="18" charset="-127"/>
                    <a:ea typeface="a타이틀고딕2" panose="02020600000000000000" pitchFamily="18" charset="-127"/>
                  </a:rPr>
                  <a:t>1.</a:t>
                </a:r>
                <a:r>
                  <a:rPr lang="ko-KR" altLang="en-US" sz="1600" dirty="0">
                    <a:solidFill>
                      <a:srgbClr val="FFFF00"/>
                    </a:solidFill>
                    <a:latin typeface="a타이틀고딕2" panose="02020600000000000000" pitchFamily="18" charset="-127"/>
                    <a:ea typeface="a타이틀고딕2" panose="02020600000000000000" pitchFamily="18" charset="-127"/>
                  </a:rPr>
                  <a:t> 날짜 기준 </a:t>
                </a:r>
                <a:r>
                  <a:rPr lang="en-US" altLang="ko-KR" sz="1600" dirty="0">
                    <a:solidFill>
                      <a:srgbClr val="FFFF00"/>
                    </a:solidFill>
                    <a:latin typeface="a타이틀고딕2" panose="02020600000000000000" pitchFamily="18" charset="-127"/>
                    <a:ea typeface="a타이틀고딕2" panose="02020600000000000000" pitchFamily="18" charset="-127"/>
                  </a:rPr>
                  <a:t>365</a:t>
                </a:r>
                <a:r>
                  <a:rPr lang="ko-KR" altLang="en-US" sz="1600" dirty="0">
                    <a:solidFill>
                      <a:srgbClr val="FFFF00"/>
                    </a:solidFill>
                    <a:latin typeface="a타이틀고딕2" panose="02020600000000000000" pitchFamily="18" charset="-127"/>
                    <a:ea typeface="a타이틀고딕2" panose="02020600000000000000" pitchFamily="18" charset="-127"/>
                  </a:rPr>
                  <a:t>일 데이터 가져오기</a:t>
                </a:r>
                <a:endPara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endParaRPr>
              </a:p>
              <a:p>
                <a:r>
                  <a:rPr lang="en-US" altLang="ko-KR" sz="1600" dirty="0">
                    <a:solidFill>
                      <a:srgbClr val="FFFF00"/>
                    </a:solidFill>
                    <a:latin typeface="a타이틀고딕2" panose="02020600000000000000" pitchFamily="18" charset="-127"/>
                    <a:ea typeface="a타이틀고딕2" panose="02020600000000000000" pitchFamily="18" charset="-127"/>
                  </a:rPr>
                  <a:t>2. </a:t>
                </a:r>
                <a:r>
                  <a:rPr lang="ko-KR" altLang="en-US" sz="1600" dirty="0">
                    <a:solidFill>
                      <a:srgbClr val="FFFF00"/>
                    </a:solidFill>
                    <a:latin typeface="a타이틀고딕2" panose="02020600000000000000" pitchFamily="18" charset="-127"/>
                    <a:ea typeface="a타이틀고딕2" panose="02020600000000000000" pitchFamily="18" charset="-127"/>
                  </a:rPr>
                  <a:t>날짜에 페이지별 데이터 가져오기</a:t>
                </a: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96FB5C90-8CC4-4751-957F-4B9AB796A3D4}"/>
                  </a:ext>
                </a:extLst>
              </p:cNvPr>
              <p:cNvSpPr/>
              <p:nvPr/>
            </p:nvSpPr>
            <p:spPr>
              <a:xfrm>
                <a:off x="3782965" y="2862148"/>
                <a:ext cx="6974929" cy="3127865"/>
              </a:xfrm>
              <a:prstGeom prst="roundRect">
                <a:avLst>
                  <a:gd name="adj" fmla="val 5006"/>
                </a:avLst>
              </a:prstGeom>
              <a:noFill/>
              <a:ln w="158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38AC648-1739-4BA5-96B4-E7951EC0008C}"/>
                </a:ext>
              </a:extLst>
            </p:cNvPr>
            <p:cNvSpPr/>
            <p:nvPr/>
          </p:nvSpPr>
          <p:spPr>
            <a:xfrm>
              <a:off x="8004151" y="2740751"/>
              <a:ext cx="1268455" cy="4014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 err="1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반복문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실행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241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28281-2BF9-4E8E-892E-6EB7EB2D438A}"/>
              </a:ext>
            </a:extLst>
          </p:cNvPr>
          <p:cNvSpPr txBox="1"/>
          <p:nvPr/>
        </p:nvSpPr>
        <p:spPr>
          <a:xfrm>
            <a:off x="817843" y="1426633"/>
            <a:ext cx="4373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프레임화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79A04-8524-497D-A955-4569DD9F1D49}"/>
              </a:ext>
            </a:extLst>
          </p:cNvPr>
          <p:cNvSpPr txBox="1"/>
          <p:nvPr/>
        </p:nvSpPr>
        <p:spPr>
          <a:xfrm>
            <a:off x="2421291" y="1969035"/>
            <a:ext cx="2239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발화요인별 화재현황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89570-E473-4226-BFCA-EE39A20BF203}"/>
              </a:ext>
            </a:extLst>
          </p:cNvPr>
          <p:cNvSpPr txBox="1"/>
          <p:nvPr/>
        </p:nvSpPr>
        <p:spPr>
          <a:xfrm>
            <a:off x="8263055" y="2809036"/>
            <a:ext cx="2239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화재장소별 화재현황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B8C5AA-9AB3-4373-9589-80905213DB72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A76870-E310-417F-A207-62E16D536B5C}"/>
              </a:ext>
            </a:extLst>
          </p:cNvPr>
          <p:cNvSpPr txBox="1"/>
          <p:nvPr/>
        </p:nvSpPr>
        <p:spPr>
          <a:xfrm>
            <a:off x="605495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58474E-FA38-421A-8D9E-0CC32F3DD45E}"/>
              </a:ext>
            </a:extLst>
          </p:cNvPr>
          <p:cNvSpPr txBox="1"/>
          <p:nvPr/>
        </p:nvSpPr>
        <p:spPr>
          <a:xfrm>
            <a:off x="1763806" y="436175"/>
            <a:ext cx="3554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1</a:t>
            </a:r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차 프로젝트 </a:t>
            </a:r>
            <a:r>
              <a:rPr lang="en-US" altLang="ko-KR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Review</a:t>
            </a:r>
            <a:endParaRPr lang="ko-KR" altLang="en-US" sz="2000" b="1" spc="600" dirty="0">
              <a:solidFill>
                <a:schemeClr val="tx1">
                  <a:lumMod val="85000"/>
                  <a:lumOff val="1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E2BF90-09FB-4D02-A8C4-CF097F906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718" y="3208887"/>
            <a:ext cx="6412036" cy="30071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DFD6A3-D6A1-4C48-9EA9-F375B47362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29" y="2345260"/>
            <a:ext cx="6548558" cy="259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8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28281-2BF9-4E8E-892E-6EB7EB2D438A}"/>
              </a:ext>
            </a:extLst>
          </p:cNvPr>
          <p:cNvSpPr txBox="1"/>
          <p:nvPr/>
        </p:nvSpPr>
        <p:spPr>
          <a:xfrm>
            <a:off x="817843" y="1426633"/>
            <a:ext cx="4870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공유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41DF39-484C-6BAF-683B-E575CFF6B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03" y="3215420"/>
            <a:ext cx="2488065" cy="27840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B343DA1-AE90-F179-D8D8-F466D0889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239" y="2037758"/>
            <a:ext cx="7769255" cy="38846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C6AF1EC-89D6-4ED4-AE5C-C96A1DC8F373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F2B26-9F43-4845-A372-2CC6E4149BD1}"/>
              </a:ext>
            </a:extLst>
          </p:cNvPr>
          <p:cNvSpPr txBox="1"/>
          <p:nvPr/>
        </p:nvSpPr>
        <p:spPr>
          <a:xfrm>
            <a:off x="605495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FDC2D5-1160-4D27-BD1F-41AF5BF02DBA}"/>
              </a:ext>
            </a:extLst>
          </p:cNvPr>
          <p:cNvSpPr txBox="1"/>
          <p:nvPr/>
        </p:nvSpPr>
        <p:spPr>
          <a:xfrm>
            <a:off x="1763806" y="436175"/>
            <a:ext cx="3554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1</a:t>
            </a:r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차 프로젝트 </a:t>
            </a:r>
            <a:r>
              <a:rPr lang="en-US" altLang="ko-KR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Review</a:t>
            </a:r>
            <a:endParaRPr lang="ko-KR" altLang="en-US" sz="2000" b="1" spc="600" dirty="0">
              <a:solidFill>
                <a:schemeClr val="tx1">
                  <a:lumMod val="85000"/>
                  <a:lumOff val="1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163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원, 스크린샷, 빛이(가) 표시된 사진&#10;&#10;자동 생성된 설명">
            <a:extLst>
              <a:ext uri="{FF2B5EF4-FFF2-40B4-BE49-F238E27FC236}">
                <a16:creationId xmlns:a16="http://schemas.microsoft.com/office/drawing/2014/main" id="{147AAC61-C6B4-0047-6EBB-0AD152A000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2AB5053-F0D3-150A-849F-236F9C4DB1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0051394-3D52-53A4-6FA3-B61CC3B64734}"/>
              </a:ext>
            </a:extLst>
          </p:cNvPr>
          <p:cNvGrpSpPr/>
          <p:nvPr/>
        </p:nvGrpSpPr>
        <p:grpSpPr>
          <a:xfrm>
            <a:off x="3807553" y="4510666"/>
            <a:ext cx="4770858" cy="1388557"/>
            <a:chOff x="3807553" y="1098393"/>
            <a:chExt cx="4770858" cy="138855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130852-040B-BB78-BE0D-3DC68632B8F8}"/>
                </a:ext>
              </a:extLst>
            </p:cNvPr>
            <p:cNvSpPr txBox="1"/>
            <p:nvPr/>
          </p:nvSpPr>
          <p:spPr>
            <a:xfrm>
              <a:off x="5498529" y="1098393"/>
              <a:ext cx="1194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Part 4</a:t>
              </a:r>
              <a:endParaRPr lang="ko-KR" altLang="en-US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8687F3-4141-96B7-6737-9FE7AE5EA509}"/>
                </a:ext>
              </a:extLst>
            </p:cNvPr>
            <p:cNvSpPr txBox="1"/>
            <p:nvPr/>
          </p:nvSpPr>
          <p:spPr>
            <a:xfrm>
              <a:off x="3807553" y="1655953"/>
              <a:ext cx="47708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프로젝트 수행결과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712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8E8055-ADF2-DFE5-4CF3-7CDD2632B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63" y="1812632"/>
            <a:ext cx="5278383" cy="3393246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9FA79090-C1F0-4AE3-9AE0-C48430410FEB}"/>
              </a:ext>
            </a:extLst>
          </p:cNvPr>
          <p:cNvGrpSpPr/>
          <p:nvPr/>
        </p:nvGrpSpPr>
        <p:grpSpPr>
          <a:xfrm>
            <a:off x="5506884" y="2951919"/>
            <a:ext cx="5674076" cy="3391344"/>
            <a:chOff x="5506884" y="2951919"/>
            <a:chExt cx="5674076" cy="3391344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08D7DBD-62B6-42A6-BD64-3469186FD7A1}"/>
                </a:ext>
              </a:extLst>
            </p:cNvPr>
            <p:cNvSpPr/>
            <p:nvPr/>
          </p:nvSpPr>
          <p:spPr>
            <a:xfrm>
              <a:off x="9401175" y="4024313"/>
              <a:ext cx="266700" cy="116745"/>
            </a:xfrm>
            <a:prstGeom prst="rect">
              <a:avLst/>
            </a:prstGeom>
            <a:solidFill>
              <a:srgbClr val="2525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F7E8B8C-1221-CB69-8276-B3A831532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6884" y="2951919"/>
              <a:ext cx="5674076" cy="3391344"/>
            </a:xfrm>
            <a:prstGeom prst="rect">
              <a:avLst/>
            </a:prstGeom>
          </p:spPr>
        </p:pic>
      </p:grp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4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28281-2BF9-4E8E-892E-6EB7EB2D438A}"/>
              </a:ext>
            </a:extLst>
          </p:cNvPr>
          <p:cNvSpPr txBox="1"/>
          <p:nvPr/>
        </p:nvSpPr>
        <p:spPr>
          <a:xfrm>
            <a:off x="785440" y="1301275"/>
            <a:ext cx="7039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가공 및 데이터베이스 저장</a:t>
            </a: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2018F4F4-1DBC-457D-86E2-BC4DC1F54108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0C4650-694A-47E0-A1D4-D6146AFA2D46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01F850C9-5FFE-43BB-BF9C-870775AC660E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BC042-7313-B2E1-1DBF-107F28062510}"/>
              </a:ext>
            </a:extLst>
          </p:cNvPr>
          <p:cNvSpPr txBox="1"/>
          <p:nvPr/>
        </p:nvSpPr>
        <p:spPr>
          <a:xfrm>
            <a:off x="1685136" y="419100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A36DD2-488E-EE6B-997B-FF337C44D8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2022" y="1169446"/>
            <a:ext cx="1467200" cy="1622844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B8ECC6A-82B7-B1DB-D37D-73F995C1F7B5}"/>
              </a:ext>
            </a:extLst>
          </p:cNvPr>
          <p:cNvGrpSpPr/>
          <p:nvPr/>
        </p:nvGrpSpPr>
        <p:grpSpPr>
          <a:xfrm>
            <a:off x="887043" y="2477644"/>
            <a:ext cx="4616137" cy="553364"/>
            <a:chOff x="876993" y="2522418"/>
            <a:chExt cx="3705786" cy="50432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B8927B4-2142-81EC-9565-86614C64E4D0}"/>
                </a:ext>
              </a:extLst>
            </p:cNvPr>
            <p:cNvGrpSpPr/>
            <p:nvPr/>
          </p:nvGrpSpPr>
          <p:grpSpPr>
            <a:xfrm>
              <a:off x="876993" y="2549888"/>
              <a:ext cx="2756842" cy="476854"/>
              <a:chOff x="876993" y="2549888"/>
              <a:chExt cx="2756842" cy="476854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0E516866-AD44-CC44-1478-78D0E541C7C6}"/>
                  </a:ext>
                </a:extLst>
              </p:cNvPr>
              <p:cNvSpPr/>
              <p:nvPr/>
            </p:nvSpPr>
            <p:spPr>
              <a:xfrm>
                <a:off x="876993" y="2549888"/>
                <a:ext cx="2251112" cy="476854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241E2D80-7A15-2D58-2E05-6AE49DD19B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0136" y="2765210"/>
                <a:ext cx="503699" cy="0"/>
              </a:xfrm>
              <a:prstGeom prst="line">
                <a:avLst/>
              </a:prstGeom>
              <a:ln w="28575">
                <a:solidFill>
                  <a:srgbClr val="FFFF00"/>
                </a:solidFill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CA5BDF-9518-5D33-E720-1DE545C2E433}"/>
                </a:ext>
              </a:extLst>
            </p:cNvPr>
            <p:cNvSpPr txBox="1"/>
            <p:nvPr/>
          </p:nvSpPr>
          <p:spPr>
            <a:xfrm>
              <a:off x="3330776" y="2522418"/>
              <a:ext cx="1252003" cy="476853"/>
            </a:xfrm>
            <a:prstGeom prst="rect">
              <a:avLst/>
            </a:prstGeom>
            <a:solidFill>
              <a:srgbClr val="1E1E1E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수집한 데이터</a:t>
              </a:r>
              <a:endParaRPr lang="en-US" altLang="ko-KR" sz="14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엑셀파일 불러오기</a:t>
              </a:r>
              <a:endParaRPr lang="en-US" altLang="ko-KR" sz="14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CA32AFE-6049-722C-EBC1-0C027E11C904}"/>
              </a:ext>
            </a:extLst>
          </p:cNvPr>
          <p:cNvGrpSpPr/>
          <p:nvPr/>
        </p:nvGrpSpPr>
        <p:grpSpPr>
          <a:xfrm>
            <a:off x="5696200" y="3317790"/>
            <a:ext cx="4287791" cy="530000"/>
            <a:chOff x="5540855" y="3346537"/>
            <a:chExt cx="3216760" cy="530000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85347C4-5FA5-163F-D675-7282DCCE101D}"/>
                </a:ext>
              </a:extLst>
            </p:cNvPr>
            <p:cNvGrpSpPr/>
            <p:nvPr/>
          </p:nvGrpSpPr>
          <p:grpSpPr>
            <a:xfrm>
              <a:off x="5540855" y="3346537"/>
              <a:ext cx="1354277" cy="523221"/>
              <a:chOff x="5540855" y="3346537"/>
              <a:chExt cx="1354277" cy="523221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8E2B4583-F2AB-5E44-2727-0ECAE59BD9D0}"/>
                  </a:ext>
                </a:extLst>
              </p:cNvPr>
              <p:cNvSpPr/>
              <p:nvPr/>
            </p:nvSpPr>
            <p:spPr>
              <a:xfrm>
                <a:off x="5540855" y="3346537"/>
                <a:ext cx="969149" cy="523221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C9250CA1-58A0-6EA8-7FAE-21A5789481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06247" y="3613637"/>
                <a:ext cx="388885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4B8174B-7124-C7E5-5138-E251F275D009}"/>
                </a:ext>
              </a:extLst>
            </p:cNvPr>
            <p:cNvSpPr txBox="1"/>
            <p:nvPr/>
          </p:nvSpPr>
          <p:spPr>
            <a:xfrm>
              <a:off x="6832004" y="3353317"/>
              <a:ext cx="1925611" cy="523220"/>
            </a:xfrm>
            <a:prstGeom prst="rect">
              <a:avLst/>
            </a:prstGeom>
            <a:solidFill>
              <a:srgbClr val="1E1E1E"/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400" i="0" dirty="0">
                  <a:solidFill>
                    <a:srgbClr val="FFFF00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MySQL</a:t>
              </a:r>
              <a:r>
                <a:rPr lang="ko-KR" altLang="en-US" sz="1400" i="0" dirty="0">
                  <a:solidFill>
                    <a:srgbClr val="FFFF00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을 활용하기 위해</a:t>
              </a:r>
              <a:endParaRPr lang="en-US" altLang="ko-KR" sz="1400" i="0" dirty="0">
                <a:solidFill>
                  <a:srgbClr val="FFFF00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ko-KR" altLang="en-US" sz="1400" i="0" dirty="0">
                  <a:solidFill>
                    <a:srgbClr val="FFFF00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외부 라이브러리 </a:t>
              </a:r>
              <a:r>
                <a:rPr lang="en-US" altLang="ko-KR" sz="1400" i="0" dirty="0" err="1">
                  <a:solidFill>
                    <a:srgbClr val="FFFF00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pymysql</a:t>
              </a:r>
              <a:r>
                <a:rPr lang="en-US" altLang="ko-KR" sz="1400" i="0" dirty="0">
                  <a:solidFill>
                    <a:srgbClr val="FFFF00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</a:t>
              </a:r>
              <a:r>
                <a:rPr lang="ko-KR" altLang="en-US" sz="1400" i="0" dirty="0">
                  <a:solidFill>
                    <a:srgbClr val="FFFF00"/>
                  </a:solidFill>
                  <a:effectLst/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사용</a:t>
              </a:r>
              <a:endParaRPr lang="en-US" altLang="ko-KR" sz="14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BD47725-6A4E-EF58-DB6C-1AA4CC7DE390}"/>
              </a:ext>
            </a:extLst>
          </p:cNvPr>
          <p:cNvGrpSpPr/>
          <p:nvPr/>
        </p:nvGrpSpPr>
        <p:grpSpPr>
          <a:xfrm>
            <a:off x="5771674" y="4899174"/>
            <a:ext cx="5252888" cy="1348649"/>
            <a:chOff x="876993" y="2484313"/>
            <a:chExt cx="3688544" cy="542429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48167220-A1BC-7E21-E6D6-53AE08A1678F}"/>
                </a:ext>
              </a:extLst>
            </p:cNvPr>
            <p:cNvGrpSpPr/>
            <p:nvPr/>
          </p:nvGrpSpPr>
          <p:grpSpPr>
            <a:xfrm>
              <a:off x="876993" y="2484313"/>
              <a:ext cx="2468167" cy="542429"/>
              <a:chOff x="876993" y="2484313"/>
              <a:chExt cx="2468167" cy="542429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2075E2A4-F2F8-B039-F43B-80CFFAF75C60}"/>
                  </a:ext>
                </a:extLst>
              </p:cNvPr>
              <p:cNvSpPr/>
              <p:nvPr/>
            </p:nvSpPr>
            <p:spPr>
              <a:xfrm>
                <a:off x="876993" y="2484313"/>
                <a:ext cx="2287765" cy="542429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6A163F46-48D2-498A-20F9-E8D03E7EBD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4758" y="2638044"/>
                <a:ext cx="180402" cy="0"/>
              </a:xfrm>
              <a:prstGeom prst="line">
                <a:avLst/>
              </a:prstGeom>
              <a:ln w="28575">
                <a:solidFill>
                  <a:srgbClr val="FFFF00"/>
                </a:solidFill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3F15BE1-5976-55A1-E130-579428E55CE5}"/>
                </a:ext>
              </a:extLst>
            </p:cNvPr>
            <p:cNvSpPr txBox="1"/>
            <p:nvPr/>
          </p:nvSpPr>
          <p:spPr>
            <a:xfrm>
              <a:off x="3345160" y="2573451"/>
              <a:ext cx="1220377" cy="210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1. </a:t>
              </a:r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첫 행 데이터 점검</a:t>
              </a:r>
              <a:endParaRPr lang="en-US" altLang="ko-KR" sz="14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2. </a:t>
              </a:r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데이터베이스 저장</a:t>
              </a:r>
              <a:endParaRPr lang="en-US" altLang="ko-KR" sz="14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727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28281-2BF9-4E8E-892E-6EB7EB2D438A}"/>
              </a:ext>
            </a:extLst>
          </p:cNvPr>
          <p:cNvSpPr txBox="1"/>
          <p:nvPr/>
        </p:nvSpPr>
        <p:spPr>
          <a:xfrm>
            <a:off x="785440" y="1301275"/>
            <a:ext cx="7116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가공 및 데이터베이스 저장</a:t>
            </a: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2018F4F4-1DBC-457D-86E2-BC4DC1F54108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0C4650-694A-47E0-A1D4-D6146AFA2D46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01F850C9-5FFE-43BB-BF9C-870775AC660E}"/>
              </a:ext>
            </a:extLst>
          </p:cNvPr>
          <p:cNvSpPr/>
          <p:nvPr/>
        </p:nvSpPr>
        <p:spPr>
          <a:xfrm rot="8710374">
            <a:off x="9910051" y="184505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BC042-7313-B2E1-1DBF-107F28062510}"/>
              </a:ext>
            </a:extLst>
          </p:cNvPr>
          <p:cNvSpPr txBox="1"/>
          <p:nvPr/>
        </p:nvSpPr>
        <p:spPr>
          <a:xfrm>
            <a:off x="1685136" y="419100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A36DD2-488E-EE6B-997B-FF337C44D8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2022" y="1169446"/>
            <a:ext cx="1467200" cy="16228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5ADAFC-1A16-02C0-95A2-0F144DD10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5" y="1863832"/>
            <a:ext cx="6856812" cy="40264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2FE69A-F3DF-B73A-064D-9A63CA9019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56606"/>
          <a:stretch/>
        </p:blipFill>
        <p:spPr>
          <a:xfrm>
            <a:off x="5686607" y="3936731"/>
            <a:ext cx="5389698" cy="2196227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33861B67-7970-DB50-4EB2-E0D567F703B6}"/>
              </a:ext>
            </a:extLst>
          </p:cNvPr>
          <p:cNvGrpSpPr/>
          <p:nvPr/>
        </p:nvGrpSpPr>
        <p:grpSpPr>
          <a:xfrm>
            <a:off x="6195063" y="4221479"/>
            <a:ext cx="4754880" cy="1722126"/>
            <a:chOff x="5375882" y="3351018"/>
            <a:chExt cx="1790602" cy="520022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F5AD83C-A069-7828-42C9-D415B2690D8F}"/>
                </a:ext>
              </a:extLst>
            </p:cNvPr>
            <p:cNvSpPr/>
            <p:nvPr/>
          </p:nvSpPr>
          <p:spPr>
            <a:xfrm>
              <a:off x="5375882" y="3351018"/>
              <a:ext cx="1790602" cy="520022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DD2F42F-7887-DA1D-20B8-01C95659DFA7}"/>
                </a:ext>
              </a:extLst>
            </p:cNvPr>
            <p:cNvSpPr txBox="1"/>
            <p:nvPr/>
          </p:nvSpPr>
          <p:spPr>
            <a:xfrm>
              <a:off x="6548933" y="3370246"/>
              <a:ext cx="605811" cy="94489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저장된 데이터 조회</a:t>
              </a:r>
              <a:endParaRPr lang="en-US" altLang="ko-KR" sz="14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6F9715-23B7-4798-5FD7-619E505BD8E5}"/>
              </a:ext>
            </a:extLst>
          </p:cNvPr>
          <p:cNvSpPr/>
          <p:nvPr/>
        </p:nvSpPr>
        <p:spPr>
          <a:xfrm>
            <a:off x="5695349" y="3402980"/>
            <a:ext cx="5380956" cy="53843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조회 및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048C373-4B6B-4F0F-BF36-BCCDBF4F9D01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F523B0-FB13-41A0-9433-635BDBBCC316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4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4D094E1-5A5D-449B-97DB-B01B200827C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170"/>
          <a:stretch/>
        </p:blipFill>
        <p:spPr>
          <a:xfrm>
            <a:off x="3790564" y="1861607"/>
            <a:ext cx="4157542" cy="4376405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4921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4D2D12-26DF-4442-B5D7-E6FE04D8F0A5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28281-2BF9-4E8E-892E-6EB7EB2D438A}"/>
              </a:ext>
            </a:extLst>
          </p:cNvPr>
          <p:cNvSpPr txBox="1"/>
          <p:nvPr/>
        </p:nvSpPr>
        <p:spPr>
          <a:xfrm>
            <a:off x="785440" y="1301275"/>
            <a:ext cx="607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가공 및 데이터베이스 저장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–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화재장소별 </a:t>
            </a: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2018F4F4-1DBC-457D-86E2-BC4DC1F54108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0C4650-694A-47E0-A1D4-D6146AFA2D46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01F850C9-5FFE-43BB-BF9C-870775AC660E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BC042-7313-B2E1-1DBF-107F28062510}"/>
              </a:ext>
            </a:extLst>
          </p:cNvPr>
          <p:cNvSpPr txBox="1"/>
          <p:nvPr/>
        </p:nvSpPr>
        <p:spPr>
          <a:xfrm>
            <a:off x="1685136" y="419100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A36DD2-488E-EE6B-997B-FF337C44D8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2022" y="1169446"/>
            <a:ext cx="1467200" cy="162284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2EEB1F-509C-D5E2-4FE8-8244908A7B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75"/>
          <a:stretch/>
        </p:blipFill>
        <p:spPr>
          <a:xfrm>
            <a:off x="818742" y="1826275"/>
            <a:ext cx="4374600" cy="42849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DE10D4-2E37-80BF-312C-A90B32177F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2157"/>
          <a:stretch/>
        </p:blipFill>
        <p:spPr>
          <a:xfrm>
            <a:off x="3621005" y="2641193"/>
            <a:ext cx="3866892" cy="347004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F1975D5-0C21-3221-4AD9-B674DB7FE94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624"/>
          <a:stretch/>
        </p:blipFill>
        <p:spPr>
          <a:xfrm>
            <a:off x="7338906" y="2777068"/>
            <a:ext cx="3866892" cy="3334172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AC9B678-047C-403A-A204-CD8FB1B23BDD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8612A0-6588-47E1-AAC9-9F8DA6E57366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4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117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E8F302C-8B26-056E-997F-CCB4642DC9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205"/>
          <a:stretch/>
        </p:blipFill>
        <p:spPr>
          <a:xfrm>
            <a:off x="855771" y="1882626"/>
            <a:ext cx="5775452" cy="4493032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28281-2BF9-4E8E-892E-6EB7EB2D438A}"/>
              </a:ext>
            </a:extLst>
          </p:cNvPr>
          <p:cNvSpPr txBox="1"/>
          <p:nvPr/>
        </p:nvSpPr>
        <p:spPr>
          <a:xfrm>
            <a:off x="785440" y="1301275"/>
            <a:ext cx="607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가공 및 데이터베이스 저장</a:t>
            </a: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2018F4F4-1DBC-457D-86E2-BC4DC1F54108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8631F05-289A-4A84-94C7-586D8FF8D65E}"/>
              </a:ext>
            </a:extLst>
          </p:cNvPr>
          <p:cNvGrpSpPr/>
          <p:nvPr/>
        </p:nvGrpSpPr>
        <p:grpSpPr>
          <a:xfrm>
            <a:off x="5614248" y="2536505"/>
            <a:ext cx="5622345" cy="3839149"/>
            <a:chOff x="5614248" y="2536505"/>
            <a:chExt cx="5622345" cy="383914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502725C-A7B5-ABDC-A149-E9E9E2BB3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4248" y="2536505"/>
              <a:ext cx="5622345" cy="3839149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3601806-E5C6-4713-B742-2522AA3C4D59}"/>
                </a:ext>
              </a:extLst>
            </p:cNvPr>
            <p:cNvSpPr/>
            <p:nvPr/>
          </p:nvSpPr>
          <p:spPr>
            <a:xfrm>
              <a:off x="9398000" y="3365500"/>
              <a:ext cx="266700" cy="133350"/>
            </a:xfrm>
            <a:prstGeom prst="rect">
              <a:avLst/>
            </a:prstGeom>
            <a:solidFill>
              <a:srgbClr val="18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D0C4650-694A-47E0-A1D4-D6146AFA2D46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서지우</a:t>
            </a: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01F850C9-5FFE-43BB-BF9C-870775AC660E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BC042-7313-B2E1-1DBF-107F28062510}"/>
              </a:ext>
            </a:extLst>
          </p:cNvPr>
          <p:cNvSpPr txBox="1"/>
          <p:nvPr/>
        </p:nvSpPr>
        <p:spPr>
          <a:xfrm>
            <a:off x="1685136" y="419100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E15105F-FA7B-F7C0-0C2A-D34EECEF169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3840" y="1241880"/>
            <a:ext cx="1020014" cy="1239453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398E1540-2003-2705-77F0-04580124A524}"/>
              </a:ext>
            </a:extLst>
          </p:cNvPr>
          <p:cNvGrpSpPr/>
          <p:nvPr/>
        </p:nvGrpSpPr>
        <p:grpSpPr>
          <a:xfrm>
            <a:off x="909738" y="2535827"/>
            <a:ext cx="5657982" cy="523220"/>
            <a:chOff x="876993" y="2588550"/>
            <a:chExt cx="5074959" cy="476853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AE7DB20-3DFE-2306-4603-3666A2F7983E}"/>
                </a:ext>
              </a:extLst>
            </p:cNvPr>
            <p:cNvGrpSpPr/>
            <p:nvPr/>
          </p:nvGrpSpPr>
          <p:grpSpPr>
            <a:xfrm>
              <a:off x="876993" y="2638653"/>
              <a:ext cx="1986274" cy="388089"/>
              <a:chOff x="876993" y="2638653"/>
              <a:chExt cx="1986274" cy="388089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080555F3-17EA-4AE6-0F69-3D9ECC7CB449}"/>
                  </a:ext>
                </a:extLst>
              </p:cNvPr>
              <p:cNvSpPr/>
              <p:nvPr/>
            </p:nvSpPr>
            <p:spPr>
              <a:xfrm>
                <a:off x="876993" y="2638653"/>
                <a:ext cx="1731082" cy="388089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7EB9E5E8-8CF2-2DD4-35B6-97ECD8747CE8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2608075" y="2832698"/>
                <a:ext cx="255192" cy="0"/>
              </a:xfrm>
              <a:prstGeom prst="line">
                <a:avLst/>
              </a:prstGeom>
              <a:ln w="28575">
                <a:solidFill>
                  <a:srgbClr val="FFFF00"/>
                </a:solidFill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0EAE63-08E2-CBBF-79F3-2C5696B8BDEC}"/>
                </a:ext>
              </a:extLst>
            </p:cNvPr>
            <p:cNvSpPr txBox="1"/>
            <p:nvPr/>
          </p:nvSpPr>
          <p:spPr>
            <a:xfrm>
              <a:off x="2895161" y="2588550"/>
              <a:ext cx="3056791" cy="476853"/>
            </a:xfrm>
            <a:prstGeom prst="rect">
              <a:avLst/>
            </a:prstGeom>
            <a:solidFill>
              <a:srgbClr val="181818"/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2023</a:t>
              </a:r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년  </a:t>
              </a:r>
              <a:r>
                <a:rPr lang="ko-KR" altLang="en-US" sz="1400" dirty="0" err="1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일자별</a:t>
              </a:r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-&gt; </a:t>
              </a:r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 </a:t>
              </a:r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</a:t>
              </a:r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통계 위한</a:t>
              </a:r>
              <a:endParaRPr lang="en-US" altLang="ko-KR" sz="14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‘</a:t>
              </a:r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발생일자</a:t>
              </a:r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’ </a:t>
              </a:r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데이터 생략 </a:t>
              </a:r>
              <a:endParaRPr lang="en-US" altLang="ko-KR" sz="14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741A3F5-8E7D-E1A2-C8EC-299B30FECF21}"/>
              </a:ext>
            </a:extLst>
          </p:cNvPr>
          <p:cNvGrpSpPr/>
          <p:nvPr/>
        </p:nvGrpSpPr>
        <p:grpSpPr>
          <a:xfrm>
            <a:off x="909740" y="3178005"/>
            <a:ext cx="8335861" cy="1815882"/>
            <a:chOff x="906386" y="2493156"/>
            <a:chExt cx="8038720" cy="767341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641955EB-E125-A197-1588-8237B9E0E941}"/>
                </a:ext>
              </a:extLst>
            </p:cNvPr>
            <p:cNvGrpSpPr/>
            <p:nvPr/>
          </p:nvGrpSpPr>
          <p:grpSpPr>
            <a:xfrm>
              <a:off x="906386" y="2511944"/>
              <a:ext cx="4390528" cy="382796"/>
              <a:chOff x="906386" y="2511944"/>
              <a:chExt cx="4390528" cy="382796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AED5CB3-275C-D4F4-108E-7F5062892FDC}"/>
                  </a:ext>
                </a:extLst>
              </p:cNvPr>
              <p:cNvSpPr/>
              <p:nvPr/>
            </p:nvSpPr>
            <p:spPr>
              <a:xfrm>
                <a:off x="906386" y="2511944"/>
                <a:ext cx="3796839" cy="382796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71336145-18D0-57CC-7B62-25D86BDC953F}"/>
                  </a:ext>
                </a:extLst>
              </p:cNvPr>
              <p:cNvCxnSpPr>
                <a:cxnSpLocks/>
                <a:stCxn id="29" idx="3"/>
              </p:cNvCxnSpPr>
              <p:nvPr/>
            </p:nvCxnSpPr>
            <p:spPr>
              <a:xfrm>
                <a:off x="4703225" y="2703342"/>
                <a:ext cx="593689" cy="0"/>
              </a:xfrm>
              <a:prstGeom prst="line">
                <a:avLst/>
              </a:prstGeom>
              <a:ln w="28575">
                <a:solidFill>
                  <a:srgbClr val="FFFF00"/>
                </a:solidFill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E2B0D1-673A-AE1F-7F81-101D7EFE7DAE}"/>
                </a:ext>
              </a:extLst>
            </p:cNvPr>
            <p:cNvSpPr txBox="1"/>
            <p:nvPr/>
          </p:nvSpPr>
          <p:spPr>
            <a:xfrm>
              <a:off x="4981881" y="2493156"/>
              <a:ext cx="3963225" cy="767341"/>
            </a:xfrm>
            <a:prstGeom prst="rect">
              <a:avLst/>
            </a:prstGeom>
            <a:solidFill>
              <a:srgbClr val="181818"/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1. </a:t>
              </a:r>
              <a:r>
                <a:rPr lang="en-US" altLang="ko-KR" sz="1600" dirty="0" err="1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groupby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(‘</a:t>
              </a:r>
              <a:r>
                <a:rPr lang="ko-KR" altLang="en-US" sz="1600" dirty="0" err="1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시도명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’).sum( )</a:t>
              </a:r>
            </a:p>
            <a:p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   : 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시도별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피해 인원수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집계</a:t>
              </a:r>
              <a:endParaRPr lang="en-US" altLang="ko-KR" sz="16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endParaRPr lang="en-US" altLang="ko-KR" sz="16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2. 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 데이터 구분 위해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‘ 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발생 월 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’ 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열 추가</a:t>
              </a:r>
              <a:endParaRPr lang="en-US" altLang="ko-KR" sz="16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endParaRPr lang="en-US" altLang="ko-KR" sz="16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3. Index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설정</a:t>
              </a:r>
              <a:endParaRPr lang="en-US" altLang="ko-KR" sz="16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   : 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각 시도별 고유 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‘ 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번호 </a:t>
              </a:r>
              <a:r>
                <a:rPr lang="en-US" altLang="ko-KR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’</a:t>
              </a:r>
              <a:r>
                <a:rPr lang="ko-KR" altLang="en-US" sz="16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열 추가</a:t>
              </a:r>
              <a:endParaRPr lang="en-US" altLang="ko-KR" sz="16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4906F5B-398D-4690-950B-B36A0C8C6805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2ADB9A-BEBF-44B9-8D9B-E961A7E52516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4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563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E4AFB7-C636-6B5B-56F3-DA43553ACE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770"/>
          <a:stretch/>
        </p:blipFill>
        <p:spPr>
          <a:xfrm>
            <a:off x="805992" y="1855270"/>
            <a:ext cx="5256242" cy="4272549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28281-2BF9-4E8E-892E-6EB7EB2D438A}"/>
              </a:ext>
            </a:extLst>
          </p:cNvPr>
          <p:cNvSpPr txBox="1"/>
          <p:nvPr/>
        </p:nvSpPr>
        <p:spPr>
          <a:xfrm>
            <a:off x="785440" y="1301275"/>
            <a:ext cx="5276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가공 및 데이터베이스 저장</a:t>
            </a:r>
          </a:p>
          <a:p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15E61D-A10F-4AF4-8190-242E29CF777F}"/>
              </a:ext>
            </a:extLst>
          </p:cNvPr>
          <p:cNvSpPr/>
          <p:nvPr/>
        </p:nvSpPr>
        <p:spPr>
          <a:xfrm>
            <a:off x="5929312" y="2975294"/>
            <a:ext cx="5229225" cy="53843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조회 및 확인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A2007A2-1927-4AE7-AAC9-E34AE4941779}"/>
              </a:ext>
            </a:extLst>
          </p:cNvPr>
          <p:cNvGrpSpPr/>
          <p:nvPr/>
        </p:nvGrpSpPr>
        <p:grpSpPr>
          <a:xfrm>
            <a:off x="8229600" y="1485900"/>
            <a:ext cx="1876425" cy="615538"/>
            <a:chOff x="8229600" y="1485900"/>
            <a:chExt cx="1876425" cy="615538"/>
          </a:xfrm>
        </p:grpSpPr>
        <p:sp>
          <p:nvSpPr>
            <p:cNvPr id="12" name="순서도: 대체 처리 11">
              <a:extLst>
                <a:ext uri="{FF2B5EF4-FFF2-40B4-BE49-F238E27FC236}">
                  <a16:creationId xmlns:a16="http://schemas.microsoft.com/office/drawing/2014/main" id="{2018F4F4-1DBC-457D-86E2-BC4DC1F54108}"/>
                </a:ext>
              </a:extLst>
            </p:cNvPr>
            <p:cNvSpPr/>
            <p:nvPr/>
          </p:nvSpPr>
          <p:spPr>
            <a:xfrm>
              <a:off x="8229600" y="1485900"/>
              <a:ext cx="1876425" cy="47625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0C4650-694A-47E0-A1D4-D6146AFA2D46}"/>
                </a:ext>
              </a:extLst>
            </p:cNvPr>
            <p:cNvSpPr txBox="1"/>
            <p:nvPr/>
          </p:nvSpPr>
          <p:spPr>
            <a:xfrm>
              <a:off x="8415167" y="1584608"/>
              <a:ext cx="15325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담당 조원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|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서지우</a:t>
              </a:r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01F850C9-5FFE-43BB-BF9C-870775AC660E}"/>
                </a:ext>
              </a:extLst>
            </p:cNvPr>
            <p:cNvSpPr/>
            <p:nvPr/>
          </p:nvSpPr>
          <p:spPr>
            <a:xfrm rot="8710374">
              <a:off x="9788131" y="1860298"/>
              <a:ext cx="194778" cy="24114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77BC042-7313-B2E1-1DBF-107F28062510}"/>
              </a:ext>
            </a:extLst>
          </p:cNvPr>
          <p:cNvSpPr txBox="1"/>
          <p:nvPr/>
        </p:nvSpPr>
        <p:spPr>
          <a:xfrm>
            <a:off x="1685136" y="419100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E15105F-FA7B-F7C0-0C2A-D34EECEF169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3840" y="1241880"/>
            <a:ext cx="1020014" cy="12394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0E360E1-8277-AB27-75EF-4B06E6D48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3" y="3512026"/>
            <a:ext cx="5229225" cy="2257425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7F426DB-3D03-423D-ADC7-7BE347FA8976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C1332E-1A9F-4E16-8B41-7AED591AC324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4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608CF8D-48EF-48CE-8A02-4C29BDE2A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273" y="1960316"/>
            <a:ext cx="3228243" cy="40760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0833BAD-6A3A-40A9-865C-BC023BD80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609" y="4573059"/>
            <a:ext cx="3395813" cy="8350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0232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605495" y="1150376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87984D-5C3D-506C-BD6E-5CAD08E9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09" y="2004096"/>
            <a:ext cx="5619068" cy="3530518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BABC8F48-36D3-4A82-A13B-2A7218491266}"/>
              </a:ext>
            </a:extLst>
          </p:cNvPr>
          <p:cNvGrpSpPr/>
          <p:nvPr/>
        </p:nvGrpSpPr>
        <p:grpSpPr>
          <a:xfrm>
            <a:off x="4436177" y="3238150"/>
            <a:ext cx="6967984" cy="2896978"/>
            <a:chOff x="4436177" y="3238150"/>
            <a:chExt cx="6967984" cy="28969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021D9D6-F5EB-2529-AF25-6190C2661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6177" y="3238150"/>
              <a:ext cx="6967984" cy="2896978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49D2B94-862E-40DB-AEAA-988FD83C67FF}"/>
                </a:ext>
              </a:extLst>
            </p:cNvPr>
            <p:cNvSpPr/>
            <p:nvPr/>
          </p:nvSpPr>
          <p:spPr>
            <a:xfrm>
              <a:off x="8870950" y="4044950"/>
              <a:ext cx="362967" cy="177794"/>
            </a:xfrm>
            <a:prstGeom prst="rect">
              <a:avLst/>
            </a:prstGeom>
            <a:solidFill>
              <a:srgbClr val="18181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33866F3F-2528-4BF7-A33D-21F2612E7CD0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08262C-564F-4CC8-A136-DA7DCB443AC4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정민재</a:t>
            </a: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6AF84C9B-F358-4962-9CAB-FEE52F90453C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BAA678B-1B47-4638-B0DB-64DB56333828}"/>
              </a:ext>
            </a:extLst>
          </p:cNvPr>
          <p:cNvGrpSpPr/>
          <p:nvPr/>
        </p:nvGrpSpPr>
        <p:grpSpPr>
          <a:xfrm>
            <a:off x="10341071" y="1357237"/>
            <a:ext cx="905552" cy="1210199"/>
            <a:chOff x="10341071" y="1357237"/>
            <a:chExt cx="905552" cy="121019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F93540F-A2A5-4425-B75D-F4B4DAB444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69005">
              <a:off x="10524027" y="1357237"/>
              <a:ext cx="340136" cy="24118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CF7BF68-C710-40B8-BC04-91DE364CB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56036">
              <a:off x="10341071" y="1408583"/>
              <a:ext cx="905552" cy="1158853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DA04E0-5DEC-DD39-B6B8-E1C3A1A5769F}"/>
              </a:ext>
            </a:extLst>
          </p:cNvPr>
          <p:cNvSpPr txBox="1"/>
          <p:nvPr/>
        </p:nvSpPr>
        <p:spPr>
          <a:xfrm>
            <a:off x="845392" y="1426165"/>
            <a:ext cx="607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가공 및 데이터베이스 저장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C586FCD-4F96-8447-70C6-44E9691C81BB}"/>
              </a:ext>
            </a:extLst>
          </p:cNvPr>
          <p:cNvGrpSpPr/>
          <p:nvPr/>
        </p:nvGrpSpPr>
        <p:grpSpPr>
          <a:xfrm>
            <a:off x="4621924" y="5130459"/>
            <a:ext cx="6244805" cy="869348"/>
            <a:chOff x="876993" y="2483487"/>
            <a:chExt cx="4693924" cy="52306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560B843-5F81-8357-84E8-3C9D8D9FF7A7}"/>
                </a:ext>
              </a:extLst>
            </p:cNvPr>
            <p:cNvGrpSpPr/>
            <p:nvPr/>
          </p:nvGrpSpPr>
          <p:grpSpPr>
            <a:xfrm>
              <a:off x="876993" y="2483487"/>
              <a:ext cx="3511483" cy="523067"/>
              <a:chOff x="876993" y="2483487"/>
              <a:chExt cx="3511483" cy="523067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6CF62EDE-3F77-7640-28B7-75BD006F28E3}"/>
                  </a:ext>
                </a:extLst>
              </p:cNvPr>
              <p:cNvSpPr/>
              <p:nvPr/>
            </p:nvSpPr>
            <p:spPr>
              <a:xfrm>
                <a:off x="876993" y="2483487"/>
                <a:ext cx="3238658" cy="523067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6FA9D1F-FF8E-4535-A5D9-8AB925F3D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15651" y="2726659"/>
                <a:ext cx="272825" cy="0"/>
              </a:xfrm>
              <a:prstGeom prst="line">
                <a:avLst/>
              </a:prstGeom>
              <a:ln w="28575">
                <a:solidFill>
                  <a:srgbClr val="FFFF00"/>
                </a:solidFill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AFBDEB-3DAC-383B-0A07-F0493AFBC7BE}"/>
                </a:ext>
              </a:extLst>
            </p:cNvPr>
            <p:cNvSpPr txBox="1"/>
            <p:nvPr/>
          </p:nvSpPr>
          <p:spPr>
            <a:xfrm>
              <a:off x="4376582" y="2634716"/>
              <a:ext cx="1194335" cy="185182"/>
            </a:xfrm>
            <a:prstGeom prst="rect">
              <a:avLst/>
            </a:prstGeom>
            <a:solidFill>
              <a:srgbClr val="1F1F1F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데이터베이스 저장</a:t>
              </a:r>
              <a:endParaRPr lang="en-US" altLang="ko-KR" sz="140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0634EF5-98AD-CD79-8DC0-F3627972D368}"/>
              </a:ext>
            </a:extLst>
          </p:cNvPr>
          <p:cNvGrpSpPr/>
          <p:nvPr/>
        </p:nvGrpSpPr>
        <p:grpSpPr>
          <a:xfrm>
            <a:off x="4436175" y="2938468"/>
            <a:ext cx="6156213" cy="822648"/>
            <a:chOff x="5436098" y="2945394"/>
            <a:chExt cx="4454987" cy="92436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C3480CA-10E3-06E0-CCA6-E4504A9F23DE}"/>
                </a:ext>
              </a:extLst>
            </p:cNvPr>
            <p:cNvSpPr/>
            <p:nvPr/>
          </p:nvSpPr>
          <p:spPr>
            <a:xfrm>
              <a:off x="5540854" y="3346537"/>
              <a:ext cx="4350231" cy="523221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B0CD19A-C189-5864-D82D-BBACE78F6807}"/>
                </a:ext>
              </a:extLst>
            </p:cNvPr>
            <p:cNvSpPr txBox="1"/>
            <p:nvPr/>
          </p:nvSpPr>
          <p:spPr>
            <a:xfrm>
              <a:off x="5436098" y="2945394"/>
              <a:ext cx="2368329" cy="345834"/>
            </a:xfrm>
            <a:prstGeom prst="rect">
              <a:avLst/>
            </a:prstGeom>
            <a:solidFill>
              <a:srgbClr val="1F1F1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CSV </a:t>
              </a:r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파일로  데이터 저장 </a:t>
              </a:r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[</a:t>
              </a:r>
              <a:r>
                <a:rPr lang="ko-KR" altLang="en-US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팀원 공유용</a:t>
              </a:r>
              <a:r>
                <a:rPr lang="en-US" altLang="ko-KR" sz="140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]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2DFEE60-6470-796C-14A8-4FA2FDCFEED4}"/>
              </a:ext>
            </a:extLst>
          </p:cNvPr>
          <p:cNvGrpSpPr/>
          <p:nvPr/>
        </p:nvGrpSpPr>
        <p:grpSpPr>
          <a:xfrm>
            <a:off x="946131" y="2057859"/>
            <a:ext cx="4663319" cy="441348"/>
            <a:chOff x="876993" y="2503676"/>
            <a:chExt cx="4312416" cy="402237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289DCBE5-00BB-395F-E5E4-4ED1C98D16B4}"/>
                </a:ext>
              </a:extLst>
            </p:cNvPr>
            <p:cNvGrpSpPr/>
            <p:nvPr/>
          </p:nvGrpSpPr>
          <p:grpSpPr>
            <a:xfrm>
              <a:off x="876993" y="2503676"/>
              <a:ext cx="2616262" cy="402237"/>
              <a:chOff x="876993" y="2503676"/>
              <a:chExt cx="2616262" cy="402237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672E343D-66ED-28E4-A10D-F9719C57CD81}"/>
                  </a:ext>
                </a:extLst>
              </p:cNvPr>
              <p:cNvSpPr/>
              <p:nvPr/>
            </p:nvSpPr>
            <p:spPr>
              <a:xfrm>
                <a:off x="876993" y="2503676"/>
                <a:ext cx="2192528" cy="402237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4568A04B-C660-C471-98B2-3FAA7ACD7C2D}"/>
                  </a:ext>
                </a:extLst>
              </p:cNvPr>
              <p:cNvCxnSpPr>
                <a:cxnSpLocks/>
                <a:stCxn id="29" idx="3"/>
              </p:cNvCxnSpPr>
              <p:nvPr/>
            </p:nvCxnSpPr>
            <p:spPr>
              <a:xfrm>
                <a:off x="3069521" y="2704795"/>
                <a:ext cx="423734" cy="1"/>
              </a:xfrm>
              <a:prstGeom prst="line">
                <a:avLst/>
              </a:prstGeom>
              <a:ln w="28575">
                <a:solidFill>
                  <a:srgbClr val="FFFF00"/>
                </a:solidFill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E65DCAA-B7EA-C9C8-C0A9-55E147F4368A}"/>
                </a:ext>
              </a:extLst>
            </p:cNvPr>
            <p:cNvSpPr txBox="1"/>
            <p:nvPr/>
          </p:nvSpPr>
          <p:spPr>
            <a:xfrm>
              <a:off x="3493255" y="2569495"/>
              <a:ext cx="1696154" cy="280503"/>
            </a:xfrm>
            <a:prstGeom prst="rect">
              <a:avLst/>
            </a:prstGeom>
            <a:solidFill>
              <a:srgbClr val="181818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1400" spc="-150" dirty="0">
                  <a:solidFill>
                    <a:srgbClr val="FFFF0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프레임화 한 데이터 확인</a:t>
              </a:r>
              <a:endParaRPr lang="en-US" altLang="ko-KR" sz="1400" spc="-150" dirty="0">
                <a:solidFill>
                  <a:srgbClr val="FFFF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F361B49-C420-4B0F-BF4E-CB922EE09F20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C71BC0-C56A-4D84-9DBE-D4CF36D927DE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4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473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33866F3F-2528-4BF7-A33D-21F2612E7CD0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08262C-564F-4CC8-A136-DA7DCB443AC4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정민재</a:t>
            </a: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6AF84C9B-F358-4962-9CAB-FEE52F90453C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BAA678B-1B47-4638-B0DB-64DB56333828}"/>
              </a:ext>
            </a:extLst>
          </p:cNvPr>
          <p:cNvGrpSpPr/>
          <p:nvPr/>
        </p:nvGrpSpPr>
        <p:grpSpPr>
          <a:xfrm>
            <a:off x="10341071" y="1357237"/>
            <a:ext cx="905552" cy="1210199"/>
            <a:chOff x="10341071" y="1357237"/>
            <a:chExt cx="905552" cy="121019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F93540F-A2A5-4425-B75D-F4B4DAB444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8969005">
              <a:off x="10524027" y="1357237"/>
              <a:ext cx="340136" cy="24118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CF7BF68-C710-40B8-BC04-91DE364CB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56036">
              <a:off x="10341071" y="1408583"/>
              <a:ext cx="905552" cy="1158853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DA04E0-5DEC-DD39-B6B8-E1C3A1A5769F}"/>
              </a:ext>
            </a:extLst>
          </p:cNvPr>
          <p:cNvSpPr txBox="1"/>
          <p:nvPr/>
        </p:nvSpPr>
        <p:spPr>
          <a:xfrm>
            <a:off x="845392" y="1426165"/>
            <a:ext cx="607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가공 및 데이터베이스 저장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569742-4364-5B1F-AE9B-8BF67F05F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92" y="2284089"/>
            <a:ext cx="8360656" cy="302212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1C5B96F-DFDC-4CF8-9EAC-19973D38074A}"/>
              </a:ext>
            </a:extLst>
          </p:cNvPr>
          <p:cNvSpPr/>
          <p:nvPr/>
        </p:nvSpPr>
        <p:spPr>
          <a:xfrm>
            <a:off x="820792" y="2002565"/>
            <a:ext cx="8360656" cy="3091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252526"/>
                </a:solidFill>
              </a:ln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549C358-A43C-4571-8A95-4022FCC7217D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A25902-C582-497D-A266-98F071379D00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4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13D5EE-3C34-4826-91C3-65F1225D985F}"/>
              </a:ext>
            </a:extLst>
          </p:cNvPr>
          <p:cNvSpPr txBox="1"/>
          <p:nvPr/>
        </p:nvSpPr>
        <p:spPr>
          <a:xfrm>
            <a:off x="871271" y="2040689"/>
            <a:ext cx="4037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최초 </a:t>
            </a:r>
            <a:r>
              <a:rPr lang="ko-KR" altLang="en-US" sz="1200" dirty="0" err="1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착화물별</a:t>
            </a:r>
            <a:r>
              <a:rPr lang="ko-KR" altLang="en-US" sz="12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화재현황 </a:t>
            </a:r>
            <a:r>
              <a:rPr lang="en-US" altLang="ko-KR" sz="12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– </a:t>
            </a:r>
            <a:r>
              <a:rPr lang="ko-KR" altLang="en-US" sz="1200" dirty="0" err="1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소분류명별</a:t>
            </a:r>
            <a:r>
              <a:rPr lang="ko-KR" altLang="en-US" sz="12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데이터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4510418-84A1-430C-A9FD-5738113CA347}"/>
              </a:ext>
            </a:extLst>
          </p:cNvPr>
          <p:cNvGrpSpPr/>
          <p:nvPr/>
        </p:nvGrpSpPr>
        <p:grpSpPr>
          <a:xfrm>
            <a:off x="2182483" y="2980892"/>
            <a:ext cx="9164125" cy="3260138"/>
            <a:chOff x="2182483" y="2980892"/>
            <a:chExt cx="9164125" cy="326013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41438A9-9B13-F160-7542-46F2A71B4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82483" y="2980892"/>
              <a:ext cx="9164125" cy="326013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DACACB6-B82E-4679-A141-417BC107C74F}"/>
                </a:ext>
              </a:extLst>
            </p:cNvPr>
            <p:cNvSpPr/>
            <p:nvPr/>
          </p:nvSpPr>
          <p:spPr>
            <a:xfrm>
              <a:off x="5865962" y="3056435"/>
              <a:ext cx="5428890" cy="2375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rgbClr val="252526"/>
                  </a:solidFill>
                </a:ln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70815C-A351-4C3E-A4D1-3D571647AE90}"/>
                </a:ext>
              </a:extLst>
            </p:cNvPr>
            <p:cNvSpPr txBox="1"/>
            <p:nvPr/>
          </p:nvSpPr>
          <p:spPr>
            <a:xfrm>
              <a:off x="8233384" y="3015738"/>
              <a:ext cx="3025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200" dirty="0">
                  <a:solidFill>
                    <a:schemeClr val="bg1"/>
                  </a:solidFill>
                  <a:highlight>
                    <a:srgbClr val="1F1F1F"/>
                  </a:highlight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최초 </a:t>
              </a:r>
              <a:r>
                <a:rPr lang="ko-KR" altLang="en-US" sz="1200" dirty="0" err="1">
                  <a:solidFill>
                    <a:schemeClr val="bg1"/>
                  </a:solidFill>
                  <a:highlight>
                    <a:srgbClr val="1F1F1F"/>
                  </a:highlight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착화물별</a:t>
              </a:r>
              <a:r>
                <a:rPr lang="ko-KR" altLang="en-US" sz="1200" dirty="0">
                  <a:solidFill>
                    <a:schemeClr val="bg1"/>
                  </a:solidFill>
                  <a:highlight>
                    <a:srgbClr val="1F1F1F"/>
                  </a:highlight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화재현황 </a:t>
              </a:r>
              <a:r>
                <a:rPr lang="en-US" altLang="ko-KR" sz="1200" dirty="0">
                  <a:solidFill>
                    <a:schemeClr val="bg1"/>
                  </a:solidFill>
                  <a:highlight>
                    <a:srgbClr val="1F1F1F"/>
                  </a:highlight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– </a:t>
              </a:r>
              <a:r>
                <a:rPr lang="ko-KR" altLang="en-US" sz="1200" dirty="0" err="1">
                  <a:solidFill>
                    <a:schemeClr val="bg1"/>
                  </a:solidFill>
                  <a:highlight>
                    <a:srgbClr val="1F1F1F"/>
                  </a:highlight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중분류명별</a:t>
              </a:r>
              <a:r>
                <a:rPr lang="ko-KR" altLang="en-US" sz="1200" dirty="0">
                  <a:solidFill>
                    <a:schemeClr val="bg1"/>
                  </a:solidFill>
                  <a:highlight>
                    <a:srgbClr val="1F1F1F"/>
                  </a:highlight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데이터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262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529B8D15-A534-4690-9747-3DBD1ABE58DA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089F12-4A8B-476C-BF7D-5349C057A1C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1902" y="1404535"/>
            <a:ext cx="1220635" cy="11416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EF14FF-FD0C-45CC-B2A7-7717617915B8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홍은지</a:t>
            </a: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6BE3904C-86C7-4132-97C8-737FA0CD0DFF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A21555-059A-6BD9-ACE8-7FAE02FF37EA}"/>
              </a:ext>
            </a:extLst>
          </p:cNvPr>
          <p:cNvSpPr txBox="1"/>
          <p:nvPr/>
        </p:nvSpPr>
        <p:spPr>
          <a:xfrm>
            <a:off x="874740" y="1385135"/>
            <a:ext cx="607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가공 및 데이터베이스 저장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9A3FA2-6230-C917-A5B9-2DF2D054A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7363" y="1967973"/>
            <a:ext cx="6153150" cy="7357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EE1516-D852-C709-E45C-38FCB78873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14"/>
          <a:stretch/>
        </p:blipFill>
        <p:spPr>
          <a:xfrm>
            <a:off x="792480" y="2719312"/>
            <a:ext cx="10570057" cy="16357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D740B3CD-CE23-BB4A-AD69-84A18B993DB3}"/>
              </a:ext>
            </a:extLst>
          </p:cNvPr>
          <p:cNvGrpSpPr/>
          <p:nvPr/>
        </p:nvGrpSpPr>
        <p:grpSpPr>
          <a:xfrm>
            <a:off x="964382" y="2859970"/>
            <a:ext cx="10305597" cy="1095129"/>
            <a:chOff x="876993" y="2199065"/>
            <a:chExt cx="6027332" cy="99808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55CEDBD-01B3-CCDF-4224-8D1828B5719F}"/>
                </a:ext>
              </a:extLst>
            </p:cNvPr>
            <p:cNvSpPr/>
            <p:nvPr/>
          </p:nvSpPr>
          <p:spPr>
            <a:xfrm>
              <a:off x="876993" y="2468169"/>
              <a:ext cx="6027332" cy="72898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1CDC64-FAC1-5FED-45D4-D56F5EDF66C1}"/>
                </a:ext>
              </a:extLst>
            </p:cNvPr>
            <p:cNvSpPr txBox="1"/>
            <p:nvPr/>
          </p:nvSpPr>
          <p:spPr>
            <a:xfrm>
              <a:off x="1291931" y="2199065"/>
              <a:ext cx="1612780" cy="2805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solidFill>
                    <a:srgbClr val="00B05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CREATE TABLE  </a:t>
              </a:r>
              <a:r>
                <a:rPr lang="ko-KR" altLang="en-US" sz="1400" b="1" dirty="0">
                  <a:solidFill>
                    <a:srgbClr val="00B050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테이블 생성</a:t>
              </a:r>
              <a:endParaRPr lang="en-US" altLang="ko-KR" sz="1400" b="1" dirty="0">
                <a:solidFill>
                  <a:srgbClr val="00B05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7252324-9FFA-4304-BCBB-5B2EF0827BF9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31EC7B-ABBC-4719-AAF4-214E29215E4C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4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FF06297-D2A6-44BD-846E-3F9F300F7D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28" y="4043885"/>
            <a:ext cx="10570057" cy="24381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020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529B8D15-A534-4690-9747-3DBD1ABE58DA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089F12-4A8B-476C-BF7D-5349C057A1C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1902" y="1404535"/>
            <a:ext cx="1220635" cy="11416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EF14FF-FD0C-45CC-B2A7-7717617915B8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홍은지</a:t>
            </a: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6BE3904C-86C7-4132-97C8-737FA0CD0DFF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A21555-059A-6BD9-ACE8-7FAE02FF37EA}"/>
              </a:ext>
            </a:extLst>
          </p:cNvPr>
          <p:cNvSpPr txBox="1"/>
          <p:nvPr/>
        </p:nvSpPr>
        <p:spPr>
          <a:xfrm>
            <a:off x="867120" y="1385135"/>
            <a:ext cx="607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가공 및 데이터베이스 저장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EE36744-AD98-4D35-9787-61148C0D3AD3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A6F8F7-883B-4900-9ECC-A4FF844105C4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4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54BEAFE-FF18-4AA0-9CC0-1097229D34AE}"/>
              </a:ext>
            </a:extLst>
          </p:cNvPr>
          <p:cNvGrpSpPr/>
          <p:nvPr/>
        </p:nvGrpSpPr>
        <p:grpSpPr>
          <a:xfrm>
            <a:off x="5534489" y="2641013"/>
            <a:ext cx="5759630" cy="3564790"/>
            <a:chOff x="5534489" y="2641013"/>
            <a:chExt cx="5759630" cy="356479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3461B70-C88F-4E84-8EDF-B3D19AA417D5}"/>
                </a:ext>
              </a:extLst>
            </p:cNvPr>
            <p:cNvSpPr txBox="1"/>
            <p:nvPr/>
          </p:nvSpPr>
          <p:spPr>
            <a:xfrm>
              <a:off x="5576433" y="3178804"/>
              <a:ext cx="571768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시도단위 화재발생현황 데이터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045F89-97B1-929B-227D-4E290EE8B7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76434" y="3446515"/>
              <a:ext cx="5717685" cy="2759288"/>
            </a:xfrm>
            <a:prstGeom prst="rect">
              <a:avLst/>
            </a:prstGeom>
            <a:ln w="38100" cap="sq">
              <a:noFill/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47E8596-822A-4958-8241-A79721FE3C97}"/>
                </a:ext>
              </a:extLst>
            </p:cNvPr>
            <p:cNvSpPr/>
            <p:nvPr/>
          </p:nvSpPr>
          <p:spPr>
            <a:xfrm>
              <a:off x="5534489" y="2641013"/>
              <a:ext cx="5755785" cy="53843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데이터 조회 및 확인</a:t>
              </a: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876492F0-21D9-5080-9071-DFE4BDAC13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90" y="2104763"/>
            <a:ext cx="5717685" cy="3488170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24A59A5-D5C1-4597-A463-B3C1F6A8D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450" y="2523991"/>
            <a:ext cx="7277100" cy="3276600"/>
          </a:xfrm>
          <a:prstGeom prst="rect">
            <a:avLst/>
          </a:prstGeom>
          <a:ln w="571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0EDD62-20A9-4119-AF4C-7B910DBB676E}"/>
              </a:ext>
            </a:extLst>
          </p:cNvPr>
          <p:cNvSpPr txBox="1"/>
          <p:nvPr/>
        </p:nvSpPr>
        <p:spPr>
          <a:xfrm>
            <a:off x="885390" y="1848449"/>
            <a:ext cx="571768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지역별 화재장소별 화재현황 데이터</a:t>
            </a:r>
          </a:p>
        </p:txBody>
      </p:sp>
    </p:spTree>
    <p:extLst>
      <p:ext uri="{BB962C8B-B14F-4D97-AF65-F5344CB8AC3E}">
        <p14:creationId xmlns:p14="http://schemas.microsoft.com/office/powerpoint/2010/main" val="212321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88451F-90C1-1D78-6DAA-A8A7A59ADE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7A417F5-7DB5-5C7A-07CA-386BA632EE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9D9150-B446-E90B-CD69-1034691F48AE}"/>
              </a:ext>
            </a:extLst>
          </p:cNvPr>
          <p:cNvSpPr txBox="1"/>
          <p:nvPr/>
        </p:nvSpPr>
        <p:spPr>
          <a:xfrm>
            <a:off x="5507345" y="1098393"/>
            <a:ext cx="1177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5</a:t>
            </a:r>
            <a:endParaRPr lang="ko-KR" altLang="en-US" sz="24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A8AFD-AD83-37E2-4AD3-2F2E202BC710}"/>
              </a:ext>
            </a:extLst>
          </p:cNvPr>
          <p:cNvSpPr txBox="1"/>
          <p:nvPr/>
        </p:nvSpPr>
        <p:spPr>
          <a:xfrm>
            <a:off x="2942314" y="1675618"/>
            <a:ext cx="66046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자체 평가 의견 및 느낀 점</a:t>
            </a:r>
          </a:p>
        </p:txBody>
      </p:sp>
    </p:spTree>
    <p:extLst>
      <p:ext uri="{BB962C8B-B14F-4D97-AF65-F5344CB8AC3E}">
        <p14:creationId xmlns:p14="http://schemas.microsoft.com/office/powerpoint/2010/main" val="18356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0B0D2A-2772-ABB8-6732-1A58C7B460B7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054E7-8651-B52F-0B12-C64EA7A65B60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5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EC20A-3B6F-FB63-1AE5-5BC996B8446E}"/>
              </a:ext>
            </a:extLst>
          </p:cNvPr>
          <p:cNvSpPr txBox="1"/>
          <p:nvPr/>
        </p:nvSpPr>
        <p:spPr>
          <a:xfrm>
            <a:off x="1763806" y="436175"/>
            <a:ext cx="4012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자체 평가 의견 및 느낀 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BC62D4-4D52-D6E8-596B-C2BC260A4880}"/>
              </a:ext>
            </a:extLst>
          </p:cNvPr>
          <p:cNvSpPr/>
          <p:nvPr/>
        </p:nvSpPr>
        <p:spPr>
          <a:xfrm>
            <a:off x="773024" y="1972527"/>
            <a:ext cx="2342322" cy="2700632"/>
          </a:xfrm>
          <a:prstGeom prst="rect">
            <a:avLst/>
          </a:prstGeom>
          <a:solidFill>
            <a:srgbClr val="FFE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C9F01A-EE3B-2440-0E36-9F19FC41046B}"/>
              </a:ext>
            </a:extLst>
          </p:cNvPr>
          <p:cNvSpPr/>
          <p:nvPr/>
        </p:nvSpPr>
        <p:spPr>
          <a:xfrm>
            <a:off x="3541370" y="1972527"/>
            <a:ext cx="2342322" cy="27006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259D3-116E-09D9-AA5F-59E0ACDC8BB9}"/>
              </a:ext>
            </a:extLst>
          </p:cNvPr>
          <p:cNvSpPr txBox="1"/>
          <p:nvPr/>
        </p:nvSpPr>
        <p:spPr>
          <a:xfrm>
            <a:off x="467838" y="5114621"/>
            <a:ext cx="29526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수많은 데이터를 활용하여 우리 시스템의 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목적에 맞게 어떻게 시각화 시킬지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각자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희망하는 스타일로 밸런스를 맞추는데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고민을 많이 했었고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내가 찾지 못한 데이터를 팀원이 함께 의견을 내주면서 작업하는데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큰 힘이 되었다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 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6610048-58CE-70E8-AD2C-E037614A447A}"/>
              </a:ext>
            </a:extLst>
          </p:cNvPr>
          <p:cNvCxnSpPr>
            <a:cxnSpLocks/>
          </p:cNvCxnSpPr>
          <p:nvPr/>
        </p:nvCxnSpPr>
        <p:spPr>
          <a:xfrm>
            <a:off x="1300268" y="4926418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EEE02AA-C3A8-AAF5-6A08-9B1C64CD17B2}"/>
              </a:ext>
            </a:extLst>
          </p:cNvPr>
          <p:cNvCxnSpPr>
            <a:cxnSpLocks/>
          </p:cNvCxnSpPr>
          <p:nvPr/>
        </p:nvCxnSpPr>
        <p:spPr>
          <a:xfrm>
            <a:off x="4100380" y="4926418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3652614-E065-8E96-7CCB-3FAE91F70A7B}"/>
              </a:ext>
            </a:extLst>
          </p:cNvPr>
          <p:cNvCxnSpPr>
            <a:cxnSpLocks/>
          </p:cNvCxnSpPr>
          <p:nvPr/>
        </p:nvCxnSpPr>
        <p:spPr>
          <a:xfrm>
            <a:off x="6892735" y="4934817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03020D-8090-4B8D-A210-858ED5DE46B2}"/>
              </a:ext>
            </a:extLst>
          </p:cNvPr>
          <p:cNvSpPr/>
          <p:nvPr/>
        </p:nvSpPr>
        <p:spPr>
          <a:xfrm>
            <a:off x="9103233" y="1972527"/>
            <a:ext cx="2342322" cy="270063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44546A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A3C6DBD-958C-4C07-A1B4-4FBAB2D5D881}"/>
              </a:ext>
            </a:extLst>
          </p:cNvPr>
          <p:cNvCxnSpPr>
            <a:cxnSpLocks/>
          </p:cNvCxnSpPr>
          <p:nvPr/>
        </p:nvCxnSpPr>
        <p:spPr>
          <a:xfrm>
            <a:off x="9662243" y="4934817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D10433C-4CFC-4ABE-A330-D36F2D19634E}"/>
              </a:ext>
            </a:extLst>
          </p:cNvPr>
          <p:cNvSpPr txBox="1"/>
          <p:nvPr/>
        </p:nvSpPr>
        <p:spPr>
          <a:xfrm>
            <a:off x="708657" y="1512774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01.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서지우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F81FA-296D-4007-87CC-3B264FD4019C}"/>
              </a:ext>
            </a:extLst>
          </p:cNvPr>
          <p:cNvSpPr txBox="1"/>
          <p:nvPr/>
        </p:nvSpPr>
        <p:spPr>
          <a:xfrm>
            <a:off x="3541370" y="153460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02.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199CCF-E8AD-4151-B734-E82BF5579CBE}"/>
              </a:ext>
            </a:extLst>
          </p:cNvPr>
          <p:cNvSpPr txBox="1"/>
          <p:nvPr/>
        </p:nvSpPr>
        <p:spPr>
          <a:xfrm>
            <a:off x="9059708" y="153554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04.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홍은지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9BB4A-4D0C-4F15-B462-C95672E75796}"/>
              </a:ext>
            </a:extLst>
          </p:cNvPr>
          <p:cNvSpPr txBox="1"/>
          <p:nvPr/>
        </p:nvSpPr>
        <p:spPr>
          <a:xfrm>
            <a:off x="6243540" y="5107953"/>
            <a:ext cx="2580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10,000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개가 넘는 데이터를 데이터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베이스에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저장하는데 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1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초도 걸리지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않아서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이번 프로젝트가 개발 생산성을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크게 향상시키는 데에 도움이 되었다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  <a:endParaRPr lang="ko-KR" altLang="en-US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D43889-2D62-4D9B-93EB-8F1CC3483F1D}"/>
              </a:ext>
            </a:extLst>
          </p:cNvPr>
          <p:cNvSpPr txBox="1"/>
          <p:nvPr/>
        </p:nvSpPr>
        <p:spPr>
          <a:xfrm>
            <a:off x="9060364" y="5107953"/>
            <a:ext cx="2461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kern="0" dirty="0" err="1">
                <a:latin typeface="a타이틀고딕1" panose="02020600000000000000" pitchFamily="18" charset="-127"/>
                <a:ea typeface="a타이틀고딕1" panose="02020600000000000000" pitchFamily="18" charset="-127"/>
              </a:rPr>
              <a:t>파이썬을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활용한 데이터베이스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저장</a:t>
            </a:r>
            <a:endParaRPr lang="en-US" altLang="ko-KR" sz="1200" kern="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방식을 새롭게 알게 되었고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유용하게 쓰일 것 같다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  <a:endParaRPr lang="ko-KR" altLang="en-US" sz="1200" b="1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367ABD-0D97-48F3-A53E-D6FF82A75083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3D0CAE5-7958-4F2B-8150-C85CD1EBEC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2165" y="2070178"/>
            <a:ext cx="2242254" cy="248011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A52B8DA-E073-40E7-94E2-5348773743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99714" y="2401327"/>
            <a:ext cx="1923606" cy="179919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C898DDE-1CCD-426A-AC61-92033F7BFE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0405" y="2316208"/>
            <a:ext cx="1754777" cy="213228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7AAE9A8-9B8E-42C9-9C05-1991B6B6175A}"/>
              </a:ext>
            </a:extLst>
          </p:cNvPr>
          <p:cNvSpPr txBox="1"/>
          <p:nvPr/>
        </p:nvSpPr>
        <p:spPr>
          <a:xfrm>
            <a:off x="3372414" y="5114621"/>
            <a:ext cx="27865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사전 논의 및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점검하여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데이터를 선정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하였음에도 생각보다 겹치는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(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포함되는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)</a:t>
            </a: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데이터가 있었다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. 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파이널 프로젝트 시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각 레이아웃의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데이터가 최대한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중복되지 않도록 점검할 필요성을 느낀다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A7F4DD-8CB3-4277-BD3B-1398E62823B4}"/>
              </a:ext>
            </a:extLst>
          </p:cNvPr>
          <p:cNvSpPr/>
          <p:nvPr/>
        </p:nvSpPr>
        <p:spPr>
          <a:xfrm>
            <a:off x="6333726" y="1972527"/>
            <a:ext cx="2342322" cy="2700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D13308-9C99-4291-9D4F-596D8882284D}"/>
              </a:ext>
            </a:extLst>
          </p:cNvPr>
          <p:cNvSpPr txBox="1"/>
          <p:nvPr/>
        </p:nvSpPr>
        <p:spPr>
          <a:xfrm>
            <a:off x="6374083" y="153460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정민재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7BE2331B-F564-4087-B986-AA38B4FF90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8969005">
            <a:off x="7102790" y="2418843"/>
            <a:ext cx="495579" cy="365895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676057A-43E3-4EA7-AC32-2A2F40AE5E5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6036">
            <a:off x="6841117" y="2500034"/>
            <a:ext cx="1327537" cy="1698876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4156A16D-EDC9-4AA5-8DE3-4F83B8FC253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8260">
            <a:off x="7664989" y="2180108"/>
            <a:ext cx="371543" cy="37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그래픽, 포스터이(가) 표시된 사진&#10;&#10;자동 생성된 설명">
            <a:extLst>
              <a:ext uri="{FF2B5EF4-FFF2-40B4-BE49-F238E27FC236}">
                <a16:creationId xmlns:a16="http://schemas.microsoft.com/office/drawing/2014/main" id="{1F30EFCE-6676-5936-2E15-75F7EBAB78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D661985-C354-FEF0-4511-F51619C20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227B1E0-A31D-D9E3-7FF6-A1FCBAAF597D}"/>
              </a:ext>
            </a:extLst>
          </p:cNvPr>
          <p:cNvGrpSpPr/>
          <p:nvPr/>
        </p:nvGrpSpPr>
        <p:grpSpPr>
          <a:xfrm>
            <a:off x="3608780" y="4510666"/>
            <a:ext cx="5503430" cy="1404499"/>
            <a:chOff x="3608780" y="1098393"/>
            <a:chExt cx="5503430" cy="140449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F03CB4-ED7C-9AAA-FC89-594C06D0F323}"/>
                </a:ext>
              </a:extLst>
            </p:cNvPr>
            <p:cNvSpPr txBox="1"/>
            <p:nvPr/>
          </p:nvSpPr>
          <p:spPr>
            <a:xfrm>
              <a:off x="5508948" y="1098393"/>
              <a:ext cx="11741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Part 6</a:t>
              </a:r>
              <a:endParaRPr lang="ko-KR" altLang="en-US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C6D611-0D22-015E-0AD1-E2398FD98E6E}"/>
                </a:ext>
              </a:extLst>
            </p:cNvPr>
            <p:cNvSpPr txBox="1"/>
            <p:nvPr/>
          </p:nvSpPr>
          <p:spPr>
            <a:xfrm>
              <a:off x="3608780" y="1671895"/>
              <a:ext cx="55034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파이널 프로젝트 계획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653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A4D589DA-F433-4471-B748-C4FF18D37BDA}"/>
              </a:ext>
            </a:extLst>
          </p:cNvPr>
          <p:cNvSpPr/>
          <p:nvPr/>
        </p:nvSpPr>
        <p:spPr>
          <a:xfrm>
            <a:off x="503353" y="991898"/>
            <a:ext cx="11050018" cy="5383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071717-E99A-45D8-BB3F-B32B53FB2EC2}"/>
              </a:ext>
            </a:extLst>
          </p:cNvPr>
          <p:cNvSpPr txBox="1"/>
          <p:nvPr/>
        </p:nvSpPr>
        <p:spPr>
          <a:xfrm>
            <a:off x="5624254" y="1302580"/>
            <a:ext cx="2548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https://www.nfds.go.kr/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3209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모니터링시스템 설계</a:t>
            </a:r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4FCEB-8183-4B3C-E3BB-6F8E2B0B59EC}"/>
              </a:ext>
            </a:extLst>
          </p:cNvPr>
          <p:cNvSpPr txBox="1"/>
          <p:nvPr/>
        </p:nvSpPr>
        <p:spPr>
          <a:xfrm>
            <a:off x="787673" y="1179469"/>
            <a:ext cx="4836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[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참조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 </a:t>
            </a:r>
            <a:r>
              <a:rPr lang="ko-KR" alt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소방청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국가화재정보시스템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29E4B7-E23F-BEA9-589C-EF53E611958C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BF7B80-AFEE-4DCA-8F85-27AD6C11E894}"/>
              </a:ext>
            </a:extLst>
          </p:cNvPr>
          <p:cNvSpPr txBox="1"/>
          <p:nvPr/>
        </p:nvSpPr>
        <p:spPr>
          <a:xfrm>
            <a:off x="615823" y="482342"/>
            <a:ext cx="764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6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A2D2CED-1EF9-4DD3-B346-A573E4FF76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64" y="1801953"/>
            <a:ext cx="9857716" cy="422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3209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모니터링시스템 설계</a:t>
            </a:r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DB8EB6-B059-81BB-6282-96BF91FE18FE}"/>
              </a:ext>
            </a:extLst>
          </p:cNvPr>
          <p:cNvSpPr/>
          <p:nvPr/>
        </p:nvSpPr>
        <p:spPr>
          <a:xfrm>
            <a:off x="787673" y="1632957"/>
            <a:ext cx="10623705" cy="47888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2E1FA9-A180-0670-3FD3-C88ABAE84E6B}"/>
              </a:ext>
            </a:extLst>
          </p:cNvPr>
          <p:cNvSpPr/>
          <p:nvPr/>
        </p:nvSpPr>
        <p:spPr>
          <a:xfrm>
            <a:off x="2692865" y="4018327"/>
            <a:ext cx="3386381" cy="211424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 dirty="0"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4FCEB-8183-4B3C-E3BB-6F8E2B0B59EC}"/>
              </a:ext>
            </a:extLst>
          </p:cNvPr>
          <p:cNvSpPr txBox="1"/>
          <p:nvPr/>
        </p:nvSpPr>
        <p:spPr>
          <a:xfrm>
            <a:off x="787673" y="1038064"/>
            <a:ext cx="7260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화재발생 모니터링 시스템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[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메인 화면  레이아웃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806B7F-1B30-8C86-E691-522F0F302E7E}"/>
              </a:ext>
            </a:extLst>
          </p:cNvPr>
          <p:cNvSpPr/>
          <p:nvPr/>
        </p:nvSpPr>
        <p:spPr>
          <a:xfrm>
            <a:off x="2692865" y="2699286"/>
            <a:ext cx="3386381" cy="121721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 dirty="0"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40D710-085A-FB22-51B9-F873D598473E}"/>
              </a:ext>
            </a:extLst>
          </p:cNvPr>
          <p:cNvSpPr/>
          <p:nvPr/>
        </p:nvSpPr>
        <p:spPr>
          <a:xfrm>
            <a:off x="6168396" y="2699286"/>
            <a:ext cx="4879905" cy="1615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 dirty="0"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424547-3474-0440-C1A6-2CC4AECB6D52}"/>
              </a:ext>
            </a:extLst>
          </p:cNvPr>
          <p:cNvSpPr/>
          <p:nvPr/>
        </p:nvSpPr>
        <p:spPr>
          <a:xfrm>
            <a:off x="2692866" y="1867518"/>
            <a:ext cx="3386382" cy="638981"/>
          </a:xfrm>
          <a:prstGeom prst="rect">
            <a:avLst/>
          </a:prstGeom>
          <a:solidFill>
            <a:srgbClr val="ABC2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시스템 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CADF32-D44D-672D-1C82-2F81B7BD9638}"/>
              </a:ext>
            </a:extLst>
          </p:cNvPr>
          <p:cNvSpPr/>
          <p:nvPr/>
        </p:nvSpPr>
        <p:spPr>
          <a:xfrm>
            <a:off x="6168397" y="1867518"/>
            <a:ext cx="4879906" cy="634007"/>
          </a:xfrm>
          <a:prstGeom prst="rect">
            <a:avLst/>
          </a:prstGeom>
          <a:solidFill>
            <a:srgbClr val="ABC2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2">
                  <a:lumMod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C71280-2C19-8D10-6C9F-9E895D93425B}"/>
              </a:ext>
            </a:extLst>
          </p:cNvPr>
          <p:cNvSpPr/>
          <p:nvPr/>
        </p:nvSpPr>
        <p:spPr>
          <a:xfrm>
            <a:off x="6168396" y="4416669"/>
            <a:ext cx="4879904" cy="171590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 dirty="0"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B3D2E1-9B6F-7143-5158-A1672E8CA4D6}"/>
              </a:ext>
            </a:extLst>
          </p:cNvPr>
          <p:cNvSpPr txBox="1"/>
          <p:nvPr/>
        </p:nvSpPr>
        <p:spPr>
          <a:xfrm>
            <a:off x="3622645" y="2969321"/>
            <a:ext cx="2620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2023</a:t>
            </a:r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년 전체 화재발생</a:t>
            </a:r>
            <a:endParaRPr lang="en-US" altLang="ko-KR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건수 </a:t>
            </a:r>
            <a:r>
              <a:rPr lang="en-US" altLang="ko-KR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/ </a:t>
            </a:r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재산</a:t>
            </a:r>
            <a:r>
              <a:rPr lang="en-US" altLang="ko-KR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/ </a:t>
            </a:r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인명피해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F2D6E-5949-697B-8457-4A94EB86123E}"/>
              </a:ext>
            </a:extLst>
          </p:cNvPr>
          <p:cNvSpPr txBox="1"/>
          <p:nvPr/>
        </p:nvSpPr>
        <p:spPr>
          <a:xfrm>
            <a:off x="6315131" y="4970483"/>
            <a:ext cx="3530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2023</a:t>
            </a:r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년</a:t>
            </a:r>
            <a:endParaRPr lang="en-US" altLang="ko-KR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발화요인별</a:t>
            </a:r>
            <a:r>
              <a:rPr lang="en-US" altLang="ko-KR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/ </a:t>
            </a:r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화재장소별 화재현황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5BBA7-3B18-A97B-F2B5-80D2E16FE355}"/>
              </a:ext>
            </a:extLst>
          </p:cNvPr>
          <p:cNvSpPr txBox="1"/>
          <p:nvPr/>
        </p:nvSpPr>
        <p:spPr>
          <a:xfrm>
            <a:off x="6982987" y="3231851"/>
            <a:ext cx="3929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2023</a:t>
            </a:r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년 월별 </a:t>
            </a:r>
            <a:endParaRPr lang="en-US" altLang="ko-KR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r"/>
            <a:r>
              <a:rPr lang="ko-KR" altLang="en-US" sz="18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화재발생건수 </a:t>
            </a:r>
            <a:r>
              <a:rPr lang="en-US" altLang="ko-KR" sz="18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/ </a:t>
            </a:r>
            <a:r>
              <a:rPr lang="ko-KR" altLang="en-US" sz="18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재산 </a:t>
            </a:r>
            <a:r>
              <a:rPr lang="en-US" altLang="ko-KR" sz="18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/ </a:t>
            </a:r>
            <a:r>
              <a:rPr lang="ko-KR" altLang="en-US" sz="18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인명피해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B13DBA-851D-D470-3082-BB549B175F86}"/>
              </a:ext>
            </a:extLst>
          </p:cNvPr>
          <p:cNvSpPr txBox="1"/>
          <p:nvPr/>
        </p:nvSpPr>
        <p:spPr>
          <a:xfrm>
            <a:off x="2835157" y="4650455"/>
            <a:ext cx="2582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2023</a:t>
            </a:r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년 </a:t>
            </a:r>
            <a:endParaRPr lang="en-US" altLang="ko-KR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지역별 화재발생 현황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29E4B7-E23F-BEA9-589C-EF53E611958C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E6B9D-A746-4A30-AC71-8A5B58A427DE}"/>
              </a:ext>
            </a:extLst>
          </p:cNvPr>
          <p:cNvSpPr txBox="1"/>
          <p:nvPr/>
        </p:nvSpPr>
        <p:spPr>
          <a:xfrm>
            <a:off x="2754387" y="2809609"/>
            <a:ext cx="839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2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A</a:t>
            </a:r>
            <a:endParaRPr lang="ko-KR" altLang="en-US" sz="72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F9692C-FEE1-490B-8764-78C5437417D8}"/>
              </a:ext>
            </a:extLst>
          </p:cNvPr>
          <p:cNvSpPr txBox="1"/>
          <p:nvPr/>
        </p:nvSpPr>
        <p:spPr>
          <a:xfrm>
            <a:off x="6174155" y="3073712"/>
            <a:ext cx="7903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C</a:t>
            </a:r>
            <a:endParaRPr lang="ko-KR" altLang="en-US" sz="80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4DDE58-1151-4ED8-BA66-956C1B9D54B0}"/>
              </a:ext>
            </a:extLst>
          </p:cNvPr>
          <p:cNvSpPr txBox="1"/>
          <p:nvPr/>
        </p:nvSpPr>
        <p:spPr>
          <a:xfrm>
            <a:off x="5243600" y="4917195"/>
            <a:ext cx="8397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B</a:t>
            </a:r>
            <a:endParaRPr lang="ko-KR" altLang="en-US" sz="80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E0A14-4F84-4A8C-A866-E59E81B724B1}"/>
              </a:ext>
            </a:extLst>
          </p:cNvPr>
          <p:cNvSpPr txBox="1"/>
          <p:nvPr/>
        </p:nvSpPr>
        <p:spPr>
          <a:xfrm>
            <a:off x="10238025" y="4918441"/>
            <a:ext cx="7903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D</a:t>
            </a:r>
            <a:endParaRPr lang="ko-KR" altLang="en-US" sz="80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5276F9-4A5A-4585-8487-A5F71E846FB4}"/>
              </a:ext>
            </a:extLst>
          </p:cNvPr>
          <p:cNvSpPr txBox="1"/>
          <p:nvPr/>
        </p:nvSpPr>
        <p:spPr>
          <a:xfrm>
            <a:off x="6490644" y="2000304"/>
            <a:ext cx="4235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pc="300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메뉴 </a:t>
            </a:r>
            <a:r>
              <a:rPr lang="en-US" altLang="ko-KR" spc="300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1 | </a:t>
            </a:r>
            <a:r>
              <a:rPr lang="ko-KR" altLang="en-US" spc="300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메뉴 </a:t>
            </a:r>
            <a:r>
              <a:rPr lang="en-US" altLang="ko-KR" spc="300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2 | </a:t>
            </a:r>
            <a:r>
              <a:rPr lang="ko-KR" altLang="en-US" spc="300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메뉴 </a:t>
            </a:r>
            <a:r>
              <a:rPr lang="en-US" altLang="ko-KR" spc="300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3 | </a:t>
            </a:r>
            <a:r>
              <a:rPr lang="ko-KR" altLang="en-US" spc="300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메뉴 </a:t>
            </a:r>
            <a:r>
              <a:rPr lang="en-US" altLang="ko-KR" spc="300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4 </a:t>
            </a:r>
            <a:endParaRPr lang="ko-KR" altLang="en-US" spc="300" dirty="0">
              <a:solidFill>
                <a:schemeClr val="bg2">
                  <a:lumMod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BF7B80-AFEE-4DCA-8F85-27AD6C11E894}"/>
              </a:ext>
            </a:extLst>
          </p:cNvPr>
          <p:cNvSpPr txBox="1"/>
          <p:nvPr/>
        </p:nvSpPr>
        <p:spPr>
          <a:xfrm>
            <a:off x="615823" y="482342"/>
            <a:ext cx="764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6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45AABD-0F74-4037-8F39-2C21705ABBDE}"/>
              </a:ext>
            </a:extLst>
          </p:cNvPr>
          <p:cNvSpPr txBox="1"/>
          <p:nvPr/>
        </p:nvSpPr>
        <p:spPr>
          <a:xfrm>
            <a:off x="1119078" y="2008693"/>
            <a:ext cx="1180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HEADER</a:t>
            </a:r>
            <a:endParaRPr lang="ko-KR" altLang="en-US" sz="2000" b="1" dirty="0">
              <a:solidFill>
                <a:schemeClr val="bg2">
                  <a:lumMod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1B80B8-77A0-402E-B901-AE75627A32F7}"/>
              </a:ext>
            </a:extLst>
          </p:cNvPr>
          <p:cNvSpPr txBox="1"/>
          <p:nvPr/>
        </p:nvSpPr>
        <p:spPr>
          <a:xfrm>
            <a:off x="1275213" y="4295688"/>
            <a:ext cx="844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bg2">
                    <a:lumMod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BODY</a:t>
            </a:r>
            <a:endParaRPr lang="ko-KR" altLang="en-US" sz="2000" b="1" dirty="0">
              <a:solidFill>
                <a:schemeClr val="bg2">
                  <a:lumMod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0" name="왼쪽 중괄호 29">
            <a:extLst>
              <a:ext uri="{FF2B5EF4-FFF2-40B4-BE49-F238E27FC236}">
                <a16:creationId xmlns:a16="http://schemas.microsoft.com/office/drawing/2014/main" id="{52E54973-B4E5-42B3-94B2-DE0432214B66}"/>
              </a:ext>
            </a:extLst>
          </p:cNvPr>
          <p:cNvSpPr/>
          <p:nvPr/>
        </p:nvSpPr>
        <p:spPr>
          <a:xfrm flipV="1">
            <a:off x="2345878" y="1865508"/>
            <a:ext cx="179209" cy="634007"/>
          </a:xfrm>
          <a:prstGeom prst="leftBrace">
            <a:avLst>
              <a:gd name="adj1" fmla="val 54487"/>
              <a:gd name="adj2" fmla="val 47354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1" name="왼쪽 중괄호 30">
            <a:extLst>
              <a:ext uri="{FF2B5EF4-FFF2-40B4-BE49-F238E27FC236}">
                <a16:creationId xmlns:a16="http://schemas.microsoft.com/office/drawing/2014/main" id="{CFC2D7EB-9071-4E4C-AAA1-65EF6EA17F38}"/>
              </a:ext>
            </a:extLst>
          </p:cNvPr>
          <p:cNvSpPr/>
          <p:nvPr/>
        </p:nvSpPr>
        <p:spPr>
          <a:xfrm flipV="1">
            <a:off x="2345878" y="2698881"/>
            <a:ext cx="179209" cy="3433691"/>
          </a:xfrm>
          <a:prstGeom prst="leftBrace">
            <a:avLst>
              <a:gd name="adj1" fmla="val 54487"/>
              <a:gd name="adj2" fmla="val 47354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15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27219D8-481E-4213-9116-66154608B8CD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C9EA90-74F3-45D3-B616-239ED70C1E51}"/>
              </a:ext>
            </a:extLst>
          </p:cNvPr>
          <p:cNvSpPr txBox="1"/>
          <p:nvPr/>
        </p:nvSpPr>
        <p:spPr>
          <a:xfrm>
            <a:off x="1763806" y="436175"/>
            <a:ext cx="3209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모니터링시스템 설계</a:t>
            </a:r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4B60D6-8686-46AB-AD53-D4C2DABCEB04}"/>
              </a:ext>
            </a:extLst>
          </p:cNvPr>
          <p:cNvSpPr txBox="1"/>
          <p:nvPr/>
        </p:nvSpPr>
        <p:spPr>
          <a:xfrm>
            <a:off x="615823" y="482342"/>
            <a:ext cx="764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6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11E46E-5793-43A6-A65B-9EC804F3FF83}"/>
              </a:ext>
            </a:extLst>
          </p:cNvPr>
          <p:cNvSpPr txBox="1"/>
          <p:nvPr/>
        </p:nvSpPr>
        <p:spPr>
          <a:xfrm>
            <a:off x="488624" y="928361"/>
            <a:ext cx="8019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화재발생 모니터링 시스템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[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메인 화면  출력 예시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BD3FA45-15B3-41C7-91F9-5D8C5D7FC1ED}"/>
              </a:ext>
            </a:extLst>
          </p:cNvPr>
          <p:cNvGrpSpPr/>
          <p:nvPr/>
        </p:nvGrpSpPr>
        <p:grpSpPr>
          <a:xfrm>
            <a:off x="470965" y="1663338"/>
            <a:ext cx="2723105" cy="4885066"/>
            <a:chOff x="470965" y="1663338"/>
            <a:chExt cx="2723105" cy="4885066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4927DB8-54B8-42DE-A671-516AD6AFE377}"/>
                </a:ext>
              </a:extLst>
            </p:cNvPr>
            <p:cNvSpPr/>
            <p:nvPr/>
          </p:nvSpPr>
          <p:spPr>
            <a:xfrm>
              <a:off x="515912" y="1663338"/>
              <a:ext cx="2678158" cy="7019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27BBCFA-C313-470B-A724-8C7460CC0591}"/>
                </a:ext>
              </a:extLst>
            </p:cNvPr>
            <p:cNvSpPr/>
            <p:nvPr/>
          </p:nvSpPr>
          <p:spPr>
            <a:xfrm>
              <a:off x="515912" y="2365328"/>
              <a:ext cx="2678158" cy="4158325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58BB3CA-61B1-4112-B0A6-2627AFCEB233}"/>
                </a:ext>
              </a:extLst>
            </p:cNvPr>
            <p:cNvSpPr txBox="1"/>
            <p:nvPr/>
          </p:nvSpPr>
          <p:spPr>
            <a:xfrm>
              <a:off x="1095464" y="1731199"/>
              <a:ext cx="20905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2023 </a:t>
              </a:r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전체 화재발생</a:t>
              </a:r>
              <a:endParaRPr lang="en-US" altLang="ko-KR" sz="16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건수 </a:t>
              </a:r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/ </a:t>
              </a:r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재산 </a:t>
              </a:r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/ </a:t>
              </a:r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인명피해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5901287-3132-46FB-8A8E-DB5800D39A7E}"/>
                </a:ext>
              </a:extLst>
            </p:cNvPr>
            <p:cNvSpPr txBox="1"/>
            <p:nvPr/>
          </p:nvSpPr>
          <p:spPr>
            <a:xfrm>
              <a:off x="470965" y="1704266"/>
              <a:ext cx="793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A</a:t>
              </a:r>
              <a:endParaRPr lang="ko-KR" altLang="en-US" sz="32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661E187D-D05E-4ABE-BD44-6E77C56A5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5217" y="4085436"/>
              <a:ext cx="2170947" cy="1167329"/>
            </a:xfrm>
            <a:prstGeom prst="rect">
              <a:avLst/>
            </a:prstGeom>
            <a:ln w="38100" cap="sq">
              <a:noFill/>
              <a:prstDash val="solid"/>
              <a:miter lim="800000"/>
            </a:ln>
            <a:effectLst/>
          </p:spPr>
        </p:pic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72B8709C-BC34-41E2-A173-892D319CE2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712" b="6977"/>
            <a:stretch/>
          </p:blipFill>
          <p:spPr>
            <a:xfrm>
              <a:off x="769517" y="2663295"/>
              <a:ext cx="2170948" cy="1167329"/>
            </a:xfrm>
            <a:prstGeom prst="rect">
              <a:avLst/>
            </a:prstGeom>
            <a:ln w="38100" cap="sq">
              <a:noFill/>
              <a:prstDash val="solid"/>
              <a:miter lim="800000"/>
            </a:ln>
            <a:effectLst/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A586273-F783-46E5-B255-09EFC819E6AF}"/>
                </a:ext>
              </a:extLst>
            </p:cNvPr>
            <p:cNvGrpSpPr/>
            <p:nvPr/>
          </p:nvGrpSpPr>
          <p:grpSpPr>
            <a:xfrm>
              <a:off x="769293" y="5415382"/>
              <a:ext cx="2329514" cy="1133022"/>
              <a:chOff x="769293" y="5363128"/>
              <a:chExt cx="2329514" cy="1133022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1562B4C7-EC2B-463D-98E5-B98AC00C652F}"/>
                  </a:ext>
                </a:extLst>
              </p:cNvPr>
              <p:cNvGrpSpPr/>
              <p:nvPr/>
            </p:nvGrpSpPr>
            <p:grpSpPr>
              <a:xfrm>
                <a:off x="769293" y="5653149"/>
                <a:ext cx="1876425" cy="476250"/>
                <a:chOff x="8229600" y="1485900"/>
                <a:chExt cx="1876425" cy="476250"/>
              </a:xfrm>
            </p:grpSpPr>
            <p:sp>
              <p:nvSpPr>
                <p:cNvPr id="73" name="순서도: 대체 처리 72">
                  <a:extLst>
                    <a:ext uri="{FF2B5EF4-FFF2-40B4-BE49-F238E27FC236}">
                      <a16:creationId xmlns:a16="http://schemas.microsoft.com/office/drawing/2014/main" id="{E9DC297C-DA7E-4E3A-BF3D-C8D3A8C9CFDF}"/>
                    </a:ext>
                  </a:extLst>
                </p:cNvPr>
                <p:cNvSpPr/>
                <p:nvPr/>
              </p:nvSpPr>
              <p:spPr>
                <a:xfrm>
                  <a:off x="8229600" y="1485900"/>
                  <a:ext cx="1876425" cy="476250"/>
                </a:xfrm>
                <a:prstGeom prst="flowChartAlternateProcess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9997E6E-C61C-427B-857B-D3DEACCCDB81}"/>
                    </a:ext>
                  </a:extLst>
                </p:cNvPr>
                <p:cNvSpPr txBox="1"/>
                <p:nvPr/>
              </p:nvSpPr>
              <p:spPr>
                <a:xfrm>
                  <a:off x="8415167" y="1584608"/>
                  <a:ext cx="153256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200" dirty="0">
                      <a:solidFill>
                        <a:schemeClr val="bg1"/>
                      </a:solidFill>
                      <a:latin typeface="a타이틀고딕3" panose="02020600000000000000" pitchFamily="18" charset="-127"/>
                      <a:ea typeface="a타이틀고딕3" panose="02020600000000000000" pitchFamily="18" charset="-127"/>
                    </a:rPr>
                    <a:t>담당 조원 </a:t>
                  </a:r>
                  <a:r>
                    <a:rPr lang="en-US" altLang="ko-KR" sz="1200" dirty="0">
                      <a:solidFill>
                        <a:schemeClr val="bg1"/>
                      </a:solidFill>
                      <a:latin typeface="a타이틀고딕3" panose="02020600000000000000" pitchFamily="18" charset="-127"/>
                      <a:ea typeface="a타이틀고딕3" panose="02020600000000000000" pitchFamily="18" charset="-127"/>
                    </a:rPr>
                    <a:t>| </a:t>
                  </a:r>
                  <a:r>
                    <a:rPr lang="ko-KR" altLang="en-US" sz="1200" dirty="0">
                      <a:solidFill>
                        <a:schemeClr val="bg1"/>
                      </a:solidFill>
                      <a:latin typeface="a타이틀고딕3" panose="02020600000000000000" pitchFamily="18" charset="-127"/>
                      <a:ea typeface="a타이틀고딕3" panose="02020600000000000000" pitchFamily="18" charset="-127"/>
                    </a:rPr>
                    <a:t>서지우</a:t>
                  </a:r>
                </a:p>
              </p:txBody>
            </p:sp>
          </p:grpSp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E65D410B-6C70-4ECE-BAFA-C7A55ABCA28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166381" y="5363128"/>
                <a:ext cx="932426" cy="1133022"/>
              </a:xfrm>
              <a:prstGeom prst="rect">
                <a:avLst/>
              </a:prstGeom>
            </p:spPr>
          </p:pic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0C430F0C-0C57-4E9B-A4F3-E79A5FCEE193}"/>
              </a:ext>
            </a:extLst>
          </p:cNvPr>
          <p:cNvGrpSpPr/>
          <p:nvPr/>
        </p:nvGrpSpPr>
        <p:grpSpPr>
          <a:xfrm>
            <a:off x="6114732" y="1663338"/>
            <a:ext cx="2806096" cy="4860313"/>
            <a:chOff x="6114732" y="1663338"/>
            <a:chExt cx="2806096" cy="4860313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4D26B2A1-5B24-41DF-8A82-C35D30C3AA8B}"/>
                </a:ext>
              </a:extLst>
            </p:cNvPr>
            <p:cNvSpPr/>
            <p:nvPr/>
          </p:nvSpPr>
          <p:spPr>
            <a:xfrm>
              <a:off x="6177804" y="1663338"/>
              <a:ext cx="2678158" cy="7019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85CCAD3-3BBA-488C-BE69-A48886463D6F}"/>
                </a:ext>
              </a:extLst>
            </p:cNvPr>
            <p:cNvSpPr/>
            <p:nvPr/>
          </p:nvSpPr>
          <p:spPr>
            <a:xfrm>
              <a:off x="6177804" y="2365328"/>
              <a:ext cx="2678158" cy="4158323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23747E1-5909-4056-A4CE-900C7041BB86}"/>
                </a:ext>
              </a:extLst>
            </p:cNvPr>
            <p:cNvSpPr txBox="1"/>
            <p:nvPr/>
          </p:nvSpPr>
          <p:spPr>
            <a:xfrm>
              <a:off x="6114732" y="1714026"/>
              <a:ext cx="793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C</a:t>
              </a:r>
              <a:endParaRPr lang="ko-KR" altLang="en-US" sz="32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15EC6B3-0414-4AFE-B8DA-C5F7B46EE412}"/>
                </a:ext>
              </a:extLst>
            </p:cNvPr>
            <p:cNvSpPr txBox="1"/>
            <p:nvPr/>
          </p:nvSpPr>
          <p:spPr>
            <a:xfrm>
              <a:off x="6771358" y="1730654"/>
              <a:ext cx="21494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2023 </a:t>
              </a:r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</a:t>
              </a:r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</a:t>
              </a:r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화재발생</a:t>
              </a:r>
              <a:endParaRPr lang="en-US" altLang="ko-KR" sz="16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건수 </a:t>
              </a:r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/ </a:t>
              </a:r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재산 </a:t>
              </a:r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/ </a:t>
              </a:r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인명피해 </a:t>
              </a:r>
            </a:p>
          </p:txBody>
        </p: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E322B646-0746-476F-8B81-FC23361A95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0806"/>
            <a:stretch/>
          </p:blipFill>
          <p:spPr>
            <a:xfrm>
              <a:off x="6246814" y="3091543"/>
              <a:ext cx="2539476" cy="1796119"/>
            </a:xfrm>
            <a:prstGeom prst="rect">
              <a:avLst/>
            </a:prstGeom>
            <a:ln w="38100" cap="sq">
              <a:noFill/>
              <a:prstDash val="solid"/>
              <a:miter lim="800000"/>
            </a:ln>
            <a:effectLst/>
          </p:spPr>
        </p:pic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C01E484C-288B-487E-9D20-82EE511B9D38}"/>
                </a:ext>
              </a:extLst>
            </p:cNvPr>
            <p:cNvGrpSpPr/>
            <p:nvPr/>
          </p:nvGrpSpPr>
          <p:grpSpPr>
            <a:xfrm>
              <a:off x="6424010" y="5732904"/>
              <a:ext cx="1876425" cy="476250"/>
              <a:chOff x="8229600" y="1485900"/>
              <a:chExt cx="1876425" cy="476250"/>
            </a:xfrm>
          </p:grpSpPr>
          <p:sp>
            <p:nvSpPr>
              <p:cNvPr id="84" name="순서도: 대체 처리 83">
                <a:extLst>
                  <a:ext uri="{FF2B5EF4-FFF2-40B4-BE49-F238E27FC236}">
                    <a16:creationId xmlns:a16="http://schemas.microsoft.com/office/drawing/2014/main" id="{CABBED9F-C72E-4BF5-BEAA-5666A1C000DB}"/>
                  </a:ext>
                </a:extLst>
              </p:cNvPr>
              <p:cNvSpPr/>
              <p:nvPr/>
            </p:nvSpPr>
            <p:spPr>
              <a:xfrm>
                <a:off x="8229600" y="1485900"/>
                <a:ext cx="1876425" cy="476250"/>
              </a:xfrm>
              <a:prstGeom prst="flowChartAlternateProcess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5FDAB40-80C6-4538-BD78-3F418B27ADC6}"/>
                  </a:ext>
                </a:extLst>
              </p:cNvPr>
              <p:cNvSpPr txBox="1"/>
              <p:nvPr/>
            </p:nvSpPr>
            <p:spPr>
              <a:xfrm>
                <a:off x="8415167" y="1584608"/>
                <a:ext cx="15325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chemeClr val="bg1"/>
                    </a:solidFill>
                    <a:latin typeface="a타이틀고딕3" panose="02020600000000000000" pitchFamily="18" charset="-127"/>
                    <a:ea typeface="a타이틀고딕3" panose="02020600000000000000" pitchFamily="18" charset="-127"/>
                  </a:rPr>
                  <a:t>담당 조원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a타이틀고딕3" panose="02020600000000000000" pitchFamily="18" charset="-127"/>
                    <a:ea typeface="a타이틀고딕3" panose="02020600000000000000" pitchFamily="18" charset="-127"/>
                  </a:rPr>
                  <a:t>|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a타이틀고딕3" panose="02020600000000000000" pitchFamily="18" charset="-127"/>
                    <a:ea typeface="a타이틀고딕3" panose="02020600000000000000" pitchFamily="18" charset="-127"/>
                  </a:rPr>
                  <a:t>정민재</a:t>
                </a:r>
              </a:p>
            </p:txBody>
          </p:sp>
        </p:grp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510BCA0B-ED11-481F-BBF8-DD92B8CFF0A4}"/>
                </a:ext>
              </a:extLst>
            </p:cNvPr>
            <p:cNvGrpSpPr/>
            <p:nvPr/>
          </p:nvGrpSpPr>
          <p:grpSpPr>
            <a:xfrm>
              <a:off x="7925646" y="5449667"/>
              <a:ext cx="741034" cy="990334"/>
              <a:chOff x="10341071" y="1357237"/>
              <a:chExt cx="905552" cy="1210199"/>
            </a:xfrm>
          </p:grpSpPr>
          <p:pic>
            <p:nvPicPr>
              <p:cNvPr id="92" name="그림 91">
                <a:extLst>
                  <a:ext uri="{FF2B5EF4-FFF2-40B4-BE49-F238E27FC236}">
                    <a16:creationId xmlns:a16="http://schemas.microsoft.com/office/drawing/2014/main" id="{7037C183-0942-4A30-821D-AB25F2E12C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 rot="18969005">
                <a:off x="10524027" y="1357237"/>
                <a:ext cx="340136" cy="241183"/>
              </a:xfrm>
              <a:prstGeom prst="rect">
                <a:avLst/>
              </a:prstGeom>
            </p:spPr>
          </p:pic>
          <p:pic>
            <p:nvPicPr>
              <p:cNvPr id="93" name="그림 92">
                <a:extLst>
                  <a:ext uri="{FF2B5EF4-FFF2-40B4-BE49-F238E27FC236}">
                    <a16:creationId xmlns:a16="http://schemas.microsoft.com/office/drawing/2014/main" id="{F96DB354-3F08-4A1C-BE5D-FA5AB53965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956036">
                <a:off x="10341071" y="1408583"/>
                <a:ext cx="905552" cy="1158853"/>
              </a:xfrm>
              <a:prstGeom prst="rect">
                <a:avLst/>
              </a:prstGeom>
            </p:spPr>
          </p:pic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7E4913F3-54EE-41E7-96AE-16607ABB5F29}"/>
              </a:ext>
            </a:extLst>
          </p:cNvPr>
          <p:cNvGrpSpPr/>
          <p:nvPr/>
        </p:nvGrpSpPr>
        <p:grpSpPr>
          <a:xfrm>
            <a:off x="3310676" y="1663338"/>
            <a:ext cx="2714340" cy="4860315"/>
            <a:chOff x="3310676" y="1663338"/>
            <a:chExt cx="2714340" cy="4860315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6148101-0EEE-4C27-BC2B-A8B068B8A456}"/>
                </a:ext>
              </a:extLst>
            </p:cNvPr>
            <p:cNvSpPr/>
            <p:nvPr/>
          </p:nvSpPr>
          <p:spPr>
            <a:xfrm>
              <a:off x="3346858" y="1663338"/>
              <a:ext cx="2678158" cy="7019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405C1D6D-5689-4B7D-A1D6-E3214A5B4BA0}"/>
                </a:ext>
              </a:extLst>
            </p:cNvPr>
            <p:cNvSpPr/>
            <p:nvPr/>
          </p:nvSpPr>
          <p:spPr>
            <a:xfrm>
              <a:off x="3346858" y="2365329"/>
              <a:ext cx="2678158" cy="4158324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C970455-7C85-47FE-9DE3-CA2698EA11BA}"/>
                </a:ext>
              </a:extLst>
            </p:cNvPr>
            <p:cNvSpPr txBox="1"/>
            <p:nvPr/>
          </p:nvSpPr>
          <p:spPr>
            <a:xfrm>
              <a:off x="3310676" y="1714027"/>
              <a:ext cx="793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B</a:t>
              </a:r>
              <a:endParaRPr lang="ko-KR" altLang="en-US" sz="32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8F406BD-BD77-4821-A841-434B6ED4F44D}"/>
                </a:ext>
              </a:extLst>
            </p:cNvPr>
            <p:cNvSpPr txBox="1"/>
            <p:nvPr/>
          </p:nvSpPr>
          <p:spPr>
            <a:xfrm>
              <a:off x="3975138" y="1728009"/>
              <a:ext cx="189507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2023</a:t>
              </a:r>
            </a:p>
            <a:p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시도별 화재발생현황</a:t>
              </a:r>
            </a:p>
          </p:txBody>
        </p:sp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DD0485DA-E165-415B-A384-02C98200D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41414" y="2568182"/>
              <a:ext cx="2089045" cy="2933973"/>
            </a:xfrm>
            <a:prstGeom prst="rect">
              <a:avLst/>
            </a:prstGeom>
            <a:ln w="38100" cap="sq">
              <a:noFill/>
              <a:prstDash val="solid"/>
              <a:miter lim="800000"/>
            </a:ln>
            <a:effectLst/>
          </p:spPr>
        </p:pic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5E681F44-76B5-45B9-A41B-40BAC102F7CC}"/>
                </a:ext>
              </a:extLst>
            </p:cNvPr>
            <p:cNvGrpSpPr/>
            <p:nvPr/>
          </p:nvGrpSpPr>
          <p:grpSpPr>
            <a:xfrm>
              <a:off x="3587292" y="5699219"/>
              <a:ext cx="1876425" cy="476250"/>
              <a:chOff x="8229600" y="1485900"/>
              <a:chExt cx="1876425" cy="476250"/>
            </a:xfrm>
          </p:grpSpPr>
          <p:sp>
            <p:nvSpPr>
              <p:cNvPr id="79" name="순서도: 대체 처리 78">
                <a:extLst>
                  <a:ext uri="{FF2B5EF4-FFF2-40B4-BE49-F238E27FC236}">
                    <a16:creationId xmlns:a16="http://schemas.microsoft.com/office/drawing/2014/main" id="{447A3D60-01CB-4A86-B514-AAF972C4D87D}"/>
                  </a:ext>
                </a:extLst>
              </p:cNvPr>
              <p:cNvSpPr/>
              <p:nvPr/>
            </p:nvSpPr>
            <p:spPr>
              <a:xfrm>
                <a:off x="8229600" y="1485900"/>
                <a:ext cx="1876425" cy="476250"/>
              </a:xfrm>
              <a:prstGeom prst="flowChartAlternateProcess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6A34571-5590-4E55-A7DA-3E404FF86A68}"/>
                  </a:ext>
                </a:extLst>
              </p:cNvPr>
              <p:cNvSpPr txBox="1"/>
              <p:nvPr/>
            </p:nvSpPr>
            <p:spPr>
              <a:xfrm>
                <a:off x="8415167" y="1584608"/>
                <a:ext cx="15325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chemeClr val="bg1"/>
                    </a:solidFill>
                    <a:latin typeface="a타이틀고딕3" panose="02020600000000000000" pitchFamily="18" charset="-127"/>
                    <a:ea typeface="a타이틀고딕3" panose="02020600000000000000" pitchFamily="18" charset="-127"/>
                  </a:rPr>
                  <a:t>담당 조원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a타이틀고딕3" panose="02020600000000000000" pitchFamily="18" charset="-127"/>
                    <a:ea typeface="a타이틀고딕3" panose="02020600000000000000" pitchFamily="18" charset="-127"/>
                  </a:rPr>
                  <a:t>| </a:t>
                </a:r>
                <a:r>
                  <a:rPr lang="ko-KR" altLang="en-US" sz="1200" dirty="0">
                    <a:solidFill>
                      <a:schemeClr val="bg1"/>
                    </a:solidFill>
                    <a:latin typeface="a타이틀고딕3" panose="02020600000000000000" pitchFamily="18" charset="-127"/>
                    <a:ea typeface="a타이틀고딕3" panose="02020600000000000000" pitchFamily="18" charset="-127"/>
                  </a:rPr>
                  <a:t>홍은지</a:t>
                </a:r>
              </a:p>
            </p:txBody>
          </p:sp>
        </p:grpSp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22261624-B3EF-42FB-8EF9-B84CF19C07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86419" y="5456677"/>
              <a:ext cx="1004763" cy="939780"/>
            </a:xfrm>
            <a:prstGeom prst="rect">
              <a:avLst/>
            </a:prstGeom>
          </p:spPr>
        </p:pic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20360DB-030F-4082-97E2-4F5FC5D87A94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C5ECCCE-4D55-49BB-8BC4-EE5A4AB6F5F7}"/>
              </a:ext>
            </a:extLst>
          </p:cNvPr>
          <p:cNvGrpSpPr/>
          <p:nvPr/>
        </p:nvGrpSpPr>
        <p:grpSpPr>
          <a:xfrm>
            <a:off x="8997932" y="1663338"/>
            <a:ext cx="2810269" cy="4954142"/>
            <a:chOff x="8997932" y="1663338"/>
            <a:chExt cx="2810269" cy="495414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F6A2DC5-2471-4ABF-B3CF-5D90D4255CE9}"/>
                </a:ext>
              </a:extLst>
            </p:cNvPr>
            <p:cNvSpPr/>
            <p:nvPr/>
          </p:nvSpPr>
          <p:spPr>
            <a:xfrm>
              <a:off x="9034876" y="1663338"/>
              <a:ext cx="2678158" cy="70199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56CCD0B-9F7D-43B3-9D9A-B91C2F2B6812}"/>
                </a:ext>
              </a:extLst>
            </p:cNvPr>
            <p:cNvSpPr/>
            <p:nvPr/>
          </p:nvSpPr>
          <p:spPr>
            <a:xfrm>
              <a:off x="9034876" y="2365328"/>
              <a:ext cx="2678158" cy="4158323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C8A3D6D-DC39-4906-9C0E-2E650F9DFBCC}"/>
                </a:ext>
              </a:extLst>
            </p:cNvPr>
            <p:cNvSpPr txBox="1"/>
            <p:nvPr/>
          </p:nvSpPr>
          <p:spPr>
            <a:xfrm>
              <a:off x="8997932" y="1704265"/>
              <a:ext cx="7937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D</a:t>
              </a:r>
              <a:endParaRPr lang="ko-KR" altLang="en-US" sz="32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0739B69-7D3B-46EE-A273-BBD50173CA80}"/>
                </a:ext>
              </a:extLst>
            </p:cNvPr>
            <p:cNvSpPr txBox="1"/>
            <p:nvPr/>
          </p:nvSpPr>
          <p:spPr>
            <a:xfrm>
              <a:off x="9733248" y="1729011"/>
              <a:ext cx="1891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2023 </a:t>
              </a:r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발화요인별 </a:t>
              </a:r>
              <a:r>
                <a:rPr lang="en-US" altLang="ko-KR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/</a:t>
              </a:r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</a:t>
              </a:r>
              <a:endParaRPr lang="en-US" altLang="ko-KR" sz="16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  <a:p>
              <a:r>
                <a:rPr lang="ko-KR" altLang="en-US" sz="1600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화재장소별 발생건수</a:t>
              </a:r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5CEED4AA-8961-4EEC-969A-85C8A72A59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1432" t="1217" r="1212" b="1596"/>
            <a:stretch/>
          </p:blipFill>
          <p:spPr>
            <a:xfrm>
              <a:off x="9286890" y="2712644"/>
              <a:ext cx="2199716" cy="2627197"/>
            </a:xfrm>
            <a:prstGeom prst="rect">
              <a:avLst/>
            </a:prstGeom>
            <a:ln w="38100" cap="sq">
              <a:noFill/>
              <a:prstDash val="solid"/>
              <a:miter lim="800000"/>
            </a:ln>
            <a:effectLst/>
          </p:spPr>
        </p:pic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4635B1E6-7C4D-404A-94E6-1B47CAD01696}"/>
                </a:ext>
              </a:extLst>
            </p:cNvPr>
            <p:cNvGrpSpPr/>
            <p:nvPr/>
          </p:nvGrpSpPr>
          <p:grpSpPr>
            <a:xfrm>
              <a:off x="9295599" y="5693621"/>
              <a:ext cx="1876425" cy="476250"/>
              <a:chOff x="8229600" y="1485900"/>
              <a:chExt cx="1876425" cy="476250"/>
            </a:xfrm>
          </p:grpSpPr>
          <p:sp>
            <p:nvSpPr>
              <p:cNvPr id="89" name="순서도: 대체 처리 88">
                <a:extLst>
                  <a:ext uri="{FF2B5EF4-FFF2-40B4-BE49-F238E27FC236}">
                    <a16:creationId xmlns:a16="http://schemas.microsoft.com/office/drawing/2014/main" id="{D41F8E97-A261-4460-99FC-DB13122C3C2A}"/>
                  </a:ext>
                </a:extLst>
              </p:cNvPr>
              <p:cNvSpPr/>
              <p:nvPr/>
            </p:nvSpPr>
            <p:spPr>
              <a:xfrm>
                <a:off x="8229600" y="1485900"/>
                <a:ext cx="1876425" cy="476250"/>
              </a:xfrm>
              <a:prstGeom prst="flowChartAlternateProcess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593CF51-36E6-45CC-BC74-A9F09B5A6294}"/>
                  </a:ext>
                </a:extLst>
              </p:cNvPr>
              <p:cNvSpPr txBox="1"/>
              <p:nvPr/>
            </p:nvSpPr>
            <p:spPr>
              <a:xfrm>
                <a:off x="8415167" y="1584608"/>
                <a:ext cx="15325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>
                    <a:solidFill>
                      <a:schemeClr val="bg1"/>
                    </a:solidFill>
                    <a:latin typeface="a타이틀고딕3" panose="02020600000000000000" pitchFamily="18" charset="-127"/>
                    <a:ea typeface="a타이틀고딕3" panose="02020600000000000000" pitchFamily="18" charset="-127"/>
                  </a:rPr>
                  <a:t>담당 조원 </a:t>
                </a:r>
                <a:r>
                  <a:rPr lang="en-US" altLang="ko-KR" sz="1200" dirty="0">
                    <a:solidFill>
                      <a:schemeClr val="bg1"/>
                    </a:solidFill>
                    <a:latin typeface="a타이틀고딕3" panose="02020600000000000000" pitchFamily="18" charset="-127"/>
                    <a:ea typeface="a타이틀고딕3" panose="02020600000000000000" pitchFamily="18" charset="-127"/>
                  </a:rPr>
                  <a:t>| </a:t>
                </a:r>
                <a:r>
                  <a:rPr lang="ko-KR" altLang="en-US" sz="1200" dirty="0" err="1">
                    <a:solidFill>
                      <a:schemeClr val="bg1"/>
                    </a:solidFill>
                    <a:latin typeface="a타이틀고딕3" panose="02020600000000000000" pitchFamily="18" charset="-127"/>
                    <a:ea typeface="a타이틀고딕3" panose="02020600000000000000" pitchFamily="18" charset="-127"/>
                  </a:rPr>
                  <a:t>이송민</a:t>
                </a:r>
                <a:endParaRPr lang="ko-KR" altLang="en-US" sz="1200" dirty="0">
                  <a:solidFill>
                    <a:schemeClr val="bg1"/>
                  </a:solidFill>
                  <a:latin typeface="a타이틀고딕3" panose="02020600000000000000" pitchFamily="18" charset="-127"/>
                  <a:ea typeface="a타이틀고딕3" panose="02020600000000000000" pitchFamily="18" charset="-127"/>
                </a:endParaRPr>
              </a:p>
            </p:txBody>
          </p:sp>
        </p:grpSp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C469EADE-FFB4-4286-AD61-31105F7C12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658943" y="5346305"/>
              <a:ext cx="1149258" cy="1271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141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8F4BBB1-8F19-401C-B2B7-0143C87BCC48}"/>
              </a:ext>
            </a:extLst>
          </p:cNvPr>
          <p:cNvSpPr/>
          <p:nvPr/>
        </p:nvSpPr>
        <p:spPr>
          <a:xfrm>
            <a:off x="7226505" y="3563047"/>
            <a:ext cx="3966899" cy="1462839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F76802D-A320-44ED-9F81-D83007567D52}"/>
              </a:ext>
            </a:extLst>
          </p:cNvPr>
          <p:cNvSpPr/>
          <p:nvPr/>
        </p:nvSpPr>
        <p:spPr>
          <a:xfrm>
            <a:off x="7226505" y="5139084"/>
            <a:ext cx="3966899" cy="1384568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142D703-41A6-4B3A-AF14-D72BE4FF35E6}"/>
              </a:ext>
            </a:extLst>
          </p:cNvPr>
          <p:cNvSpPr/>
          <p:nvPr/>
        </p:nvSpPr>
        <p:spPr>
          <a:xfrm>
            <a:off x="7226506" y="1445723"/>
            <a:ext cx="3966899" cy="2031577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696B845-1DA8-49A2-A6B9-9F07B45C88E0}"/>
              </a:ext>
            </a:extLst>
          </p:cNvPr>
          <p:cNvSpPr/>
          <p:nvPr/>
        </p:nvSpPr>
        <p:spPr>
          <a:xfrm>
            <a:off x="7833294" y="2213133"/>
            <a:ext cx="2880000" cy="53830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1934A30-3C62-40EE-8A4F-227F974EED95}"/>
              </a:ext>
            </a:extLst>
          </p:cNvPr>
          <p:cNvSpPr/>
          <p:nvPr/>
        </p:nvSpPr>
        <p:spPr>
          <a:xfrm>
            <a:off x="7833294" y="2855742"/>
            <a:ext cx="2880000" cy="53830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0ABC355-3C8A-4E63-8187-AEAF0E89918E}"/>
              </a:ext>
            </a:extLst>
          </p:cNvPr>
          <p:cNvSpPr/>
          <p:nvPr/>
        </p:nvSpPr>
        <p:spPr>
          <a:xfrm>
            <a:off x="7833294" y="3702769"/>
            <a:ext cx="2880000" cy="53830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0CB534D-7A4B-424E-A218-25BB35BEFDA8}"/>
              </a:ext>
            </a:extLst>
          </p:cNvPr>
          <p:cNvSpPr/>
          <p:nvPr/>
        </p:nvSpPr>
        <p:spPr>
          <a:xfrm>
            <a:off x="7833294" y="4335951"/>
            <a:ext cx="2880000" cy="53830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A0BA9F4-B36C-4751-A78E-DC61E92F77DB}"/>
              </a:ext>
            </a:extLst>
          </p:cNvPr>
          <p:cNvSpPr/>
          <p:nvPr/>
        </p:nvSpPr>
        <p:spPr>
          <a:xfrm>
            <a:off x="7833294" y="5250059"/>
            <a:ext cx="2880000" cy="53830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093228C-AB8E-45C3-924A-B2F3B309B66E}"/>
              </a:ext>
            </a:extLst>
          </p:cNvPr>
          <p:cNvSpPr/>
          <p:nvPr/>
        </p:nvSpPr>
        <p:spPr>
          <a:xfrm>
            <a:off x="7833294" y="5883241"/>
            <a:ext cx="2880000" cy="53830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2C33601-5782-4582-8643-B732C9F86C56}"/>
              </a:ext>
            </a:extLst>
          </p:cNvPr>
          <p:cNvSpPr/>
          <p:nvPr/>
        </p:nvSpPr>
        <p:spPr>
          <a:xfrm>
            <a:off x="7833294" y="1569409"/>
            <a:ext cx="2880000" cy="53830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0B0D2A-2772-ABB8-6732-1A58C7B460B7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1F14842-2110-9307-3809-5B1AB9E50908}"/>
              </a:ext>
            </a:extLst>
          </p:cNvPr>
          <p:cNvSpPr/>
          <p:nvPr/>
        </p:nvSpPr>
        <p:spPr>
          <a:xfrm>
            <a:off x="866701" y="3345382"/>
            <a:ext cx="1741491" cy="171284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39768DA-DA57-0E67-74BB-EB257E862AB9}"/>
              </a:ext>
            </a:extLst>
          </p:cNvPr>
          <p:cNvSpPr/>
          <p:nvPr/>
        </p:nvSpPr>
        <p:spPr>
          <a:xfrm>
            <a:off x="3376242" y="1858104"/>
            <a:ext cx="2835489" cy="454355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78CF86F-16EA-FD20-AD76-77D05FC56528}"/>
              </a:ext>
            </a:extLst>
          </p:cNvPr>
          <p:cNvSpPr/>
          <p:nvPr/>
        </p:nvSpPr>
        <p:spPr>
          <a:xfrm>
            <a:off x="4171132" y="1965841"/>
            <a:ext cx="1245708" cy="12457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DD9A3E2-D138-F906-DF7B-CE12C8F57A31}"/>
              </a:ext>
            </a:extLst>
          </p:cNvPr>
          <p:cNvSpPr/>
          <p:nvPr/>
        </p:nvSpPr>
        <p:spPr>
          <a:xfrm>
            <a:off x="4149820" y="3509040"/>
            <a:ext cx="1245708" cy="12457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C0ED6-4035-24B2-B9E0-2BC8E42C3B30}"/>
              </a:ext>
            </a:extLst>
          </p:cNvPr>
          <p:cNvSpPr txBox="1"/>
          <p:nvPr/>
        </p:nvSpPr>
        <p:spPr>
          <a:xfrm flipH="1">
            <a:off x="977334" y="2832588"/>
            <a:ext cx="168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3">
                    <a:lumMod val="7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STEP.1</a:t>
            </a:r>
            <a:endParaRPr lang="ko-KR" altLang="en-US" sz="2400" dirty="0">
              <a:solidFill>
                <a:schemeClr val="accent3">
                  <a:lumMod val="7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4CB4A3-2B12-B13F-5A08-6B468B825229}"/>
              </a:ext>
            </a:extLst>
          </p:cNvPr>
          <p:cNvSpPr txBox="1"/>
          <p:nvPr/>
        </p:nvSpPr>
        <p:spPr>
          <a:xfrm flipH="1">
            <a:off x="893060" y="3779407"/>
            <a:ext cx="1688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[ </a:t>
            </a:r>
            <a:r>
              <a:rPr lang="ko-KR" altLang="en-US" dirty="0">
                <a:solidFill>
                  <a:schemeClr val="bg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메인 화면 </a:t>
            </a:r>
            <a:r>
              <a:rPr lang="en-US" altLang="ko-KR" dirty="0">
                <a:solidFill>
                  <a:schemeClr val="bg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]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2023</a:t>
            </a:r>
            <a:r>
              <a:rPr lang="ko-KR" altLang="en-US" dirty="0">
                <a:solidFill>
                  <a:schemeClr val="bg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년</a:t>
            </a:r>
            <a:endParaRPr lang="en-US" altLang="ko-KR" dirty="0">
              <a:solidFill>
                <a:schemeClr val="bg1"/>
              </a:solidFill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화재 통계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2E5808-F107-34C7-445C-6CC9683283F1}"/>
              </a:ext>
            </a:extLst>
          </p:cNvPr>
          <p:cNvSpPr txBox="1"/>
          <p:nvPr/>
        </p:nvSpPr>
        <p:spPr>
          <a:xfrm flipH="1">
            <a:off x="3935755" y="2394018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화재피해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6D3938-0CA3-408C-E47D-477EF1E427AA}"/>
              </a:ext>
            </a:extLst>
          </p:cNvPr>
          <p:cNvSpPr txBox="1"/>
          <p:nvPr/>
        </p:nvSpPr>
        <p:spPr>
          <a:xfrm flipH="1">
            <a:off x="3949600" y="3973703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화재장소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D763C-08CD-B447-41EE-E3432339160A}"/>
              </a:ext>
            </a:extLst>
          </p:cNvPr>
          <p:cNvSpPr txBox="1"/>
          <p:nvPr/>
        </p:nvSpPr>
        <p:spPr>
          <a:xfrm>
            <a:off x="1763806" y="436175"/>
            <a:ext cx="3209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모니터링시스템 설계</a:t>
            </a:r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E92A8-9E37-D88F-6500-467884B1220F}"/>
              </a:ext>
            </a:extLst>
          </p:cNvPr>
          <p:cNvSpPr txBox="1"/>
          <p:nvPr/>
        </p:nvSpPr>
        <p:spPr>
          <a:xfrm>
            <a:off x="495300" y="988713"/>
            <a:ext cx="8852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3.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시스템 메뉴 세분화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626B3E7-AF0A-293D-FACC-C6A6AA0679EC}"/>
              </a:ext>
            </a:extLst>
          </p:cNvPr>
          <p:cNvSpPr/>
          <p:nvPr/>
        </p:nvSpPr>
        <p:spPr>
          <a:xfrm>
            <a:off x="4189303" y="5007033"/>
            <a:ext cx="1245708" cy="12457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B769410-CCB7-3872-0D06-B2468F8CA4C8}"/>
              </a:ext>
            </a:extLst>
          </p:cNvPr>
          <p:cNvCxnSpPr>
            <a:cxnSpLocks/>
          </p:cNvCxnSpPr>
          <p:nvPr/>
        </p:nvCxnSpPr>
        <p:spPr>
          <a:xfrm>
            <a:off x="5623417" y="2581190"/>
            <a:ext cx="18897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7D2CB1A-0C67-CF36-97B9-74C491B397A1}"/>
              </a:ext>
            </a:extLst>
          </p:cNvPr>
          <p:cNvCxnSpPr>
            <a:cxnSpLocks/>
          </p:cNvCxnSpPr>
          <p:nvPr/>
        </p:nvCxnSpPr>
        <p:spPr>
          <a:xfrm>
            <a:off x="5625204" y="4201804"/>
            <a:ext cx="1887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B8E6C07-4AC6-08AF-DD8A-05B3D02F6A5C}"/>
              </a:ext>
            </a:extLst>
          </p:cNvPr>
          <p:cNvCxnSpPr>
            <a:cxnSpLocks/>
          </p:cNvCxnSpPr>
          <p:nvPr/>
        </p:nvCxnSpPr>
        <p:spPr>
          <a:xfrm>
            <a:off x="5602934" y="5698112"/>
            <a:ext cx="19102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B8FCBEF-2F47-FB6D-8758-821F760E8EF8}"/>
              </a:ext>
            </a:extLst>
          </p:cNvPr>
          <p:cNvSpPr txBox="1"/>
          <p:nvPr/>
        </p:nvSpPr>
        <p:spPr>
          <a:xfrm flipH="1">
            <a:off x="3991014" y="1348278"/>
            <a:ext cx="168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3">
                    <a:lumMod val="7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STEP.2</a:t>
            </a:r>
            <a:endParaRPr lang="ko-KR" altLang="en-US" sz="2400" dirty="0">
              <a:solidFill>
                <a:schemeClr val="accent3">
                  <a:lumMod val="7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B21CFE-8FE9-AA64-3E20-EA15BBF9AD85}"/>
              </a:ext>
            </a:extLst>
          </p:cNvPr>
          <p:cNvSpPr txBox="1"/>
          <p:nvPr/>
        </p:nvSpPr>
        <p:spPr>
          <a:xfrm flipH="1">
            <a:off x="8303118" y="901364"/>
            <a:ext cx="168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3">
                    <a:lumMod val="7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STEP.3</a:t>
            </a:r>
            <a:endParaRPr lang="ko-KR" altLang="en-US" sz="2400" dirty="0">
              <a:solidFill>
                <a:schemeClr val="accent3">
                  <a:lumMod val="7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7EAD71-0B6F-5869-B903-B65D5B83ACE5}"/>
              </a:ext>
            </a:extLst>
          </p:cNvPr>
          <p:cNvSpPr txBox="1"/>
          <p:nvPr/>
        </p:nvSpPr>
        <p:spPr>
          <a:xfrm flipH="1">
            <a:off x="3991014" y="5479506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화재원인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696A520-5155-4257-8E4A-33DFF0D97F4C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9CABE0B-0508-4035-85FF-5F4C032F9205}"/>
              </a:ext>
            </a:extLst>
          </p:cNvPr>
          <p:cNvGrpSpPr/>
          <p:nvPr/>
        </p:nvGrpSpPr>
        <p:grpSpPr>
          <a:xfrm>
            <a:off x="7833294" y="1569409"/>
            <a:ext cx="2880000" cy="4860000"/>
            <a:chOff x="7833294" y="1569409"/>
            <a:chExt cx="2880000" cy="4926113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E62D3F2-A004-7464-8385-B260579DEF50}"/>
                </a:ext>
              </a:extLst>
            </p:cNvPr>
            <p:cNvSpPr/>
            <p:nvPr/>
          </p:nvSpPr>
          <p:spPr>
            <a:xfrm>
              <a:off x="7833294" y="1569409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 </a:t>
              </a:r>
              <a:r>
                <a:rPr lang="ko-KR" altLang="en-US" dirty="0" err="1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피해인명</a:t>
              </a:r>
              <a:endPara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D6598C63-DEAC-2CAF-22B9-F2A78889CDB2}"/>
                </a:ext>
              </a:extLst>
            </p:cNvPr>
            <p:cNvSpPr/>
            <p:nvPr/>
          </p:nvSpPr>
          <p:spPr>
            <a:xfrm>
              <a:off x="7833294" y="2222279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 재산피해</a:t>
              </a: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62C32B83-B198-51D5-8962-4F347AAD55D9}"/>
                </a:ext>
              </a:extLst>
            </p:cNvPr>
            <p:cNvSpPr/>
            <p:nvPr/>
          </p:nvSpPr>
          <p:spPr>
            <a:xfrm>
              <a:off x="7833294" y="3741132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 발화장소</a:t>
              </a: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307778E0-864E-B5F0-E960-C864344B9121}"/>
                </a:ext>
              </a:extLst>
            </p:cNvPr>
            <p:cNvSpPr/>
            <p:nvPr/>
          </p:nvSpPr>
          <p:spPr>
            <a:xfrm>
              <a:off x="7833294" y="4374091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 지역별</a:t>
              </a:r>
              <a:r>
                <a:rPr lang="en-US" altLang="ko-KR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 </a:t>
              </a:r>
              <a:r>
                <a:rPr lang="ko-KR" altLang="en-US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화재장소</a:t>
              </a: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197995F4-E2C9-DBAF-C340-FE140E785F81}"/>
                </a:ext>
              </a:extLst>
            </p:cNvPr>
            <p:cNvSpPr/>
            <p:nvPr/>
          </p:nvSpPr>
          <p:spPr>
            <a:xfrm>
              <a:off x="7833294" y="2880738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 화재발생현황</a:t>
              </a:r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7C52554-5C57-2579-BF4B-1AEEA59ACCE7}"/>
                </a:ext>
              </a:extLst>
            </p:cNvPr>
            <p:cNvSpPr/>
            <p:nvPr/>
          </p:nvSpPr>
          <p:spPr>
            <a:xfrm>
              <a:off x="7833294" y="5300955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 최초 </a:t>
              </a:r>
              <a:r>
                <a:rPr lang="ko-KR" altLang="en-US" dirty="0" err="1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착화물별</a:t>
              </a:r>
              <a:endParaRPr lang="ko-KR" altLang="en-US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BD0B2836-C12A-D7C5-E946-7110015E7FAE}"/>
                </a:ext>
              </a:extLst>
            </p:cNvPr>
            <p:cNvSpPr/>
            <p:nvPr/>
          </p:nvSpPr>
          <p:spPr>
            <a:xfrm>
              <a:off x="7833294" y="5955522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월별 발화요인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84C81CA-D633-4A4E-9973-ED7146006724}"/>
              </a:ext>
            </a:extLst>
          </p:cNvPr>
          <p:cNvSpPr txBox="1"/>
          <p:nvPr/>
        </p:nvSpPr>
        <p:spPr>
          <a:xfrm>
            <a:off x="615823" y="482342"/>
            <a:ext cx="764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6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420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DAF4907-95F3-480D-9D4C-492BF2BD67FB}"/>
              </a:ext>
            </a:extLst>
          </p:cNvPr>
          <p:cNvSpPr/>
          <p:nvPr/>
        </p:nvSpPr>
        <p:spPr>
          <a:xfrm>
            <a:off x="787673" y="1632957"/>
            <a:ext cx="10623705" cy="47888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3209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모니터링시스템 설계</a:t>
            </a:r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4FCEB-8183-4B3C-E3BB-6F8E2B0B59EC}"/>
              </a:ext>
            </a:extLst>
          </p:cNvPr>
          <p:cNvSpPr txBox="1"/>
          <p:nvPr/>
        </p:nvSpPr>
        <p:spPr>
          <a:xfrm>
            <a:off x="787673" y="1038064"/>
            <a:ext cx="7827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화재발생 모니터링 시스템 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[ 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파이널 프로젝트 추진 상황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]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29E4B7-E23F-BEA9-589C-EF53E611958C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2739C5-9B1A-4B8F-A055-411ED9717B0D}"/>
              </a:ext>
            </a:extLst>
          </p:cNvPr>
          <p:cNvSpPr txBox="1"/>
          <p:nvPr/>
        </p:nvSpPr>
        <p:spPr>
          <a:xfrm>
            <a:off x="610212" y="482342"/>
            <a:ext cx="775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5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369FC4-C021-4F86-8C65-33D6E52A4EF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429" y="2168430"/>
            <a:ext cx="7871141" cy="38296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BBF844-7194-43CF-A641-BE99CA405955}"/>
              </a:ext>
            </a:extLst>
          </p:cNvPr>
          <p:cNvSpPr txBox="1"/>
          <p:nvPr/>
        </p:nvSpPr>
        <p:spPr>
          <a:xfrm rot="710980">
            <a:off x="871511" y="3227149"/>
            <a:ext cx="10448980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To</a:t>
            </a:r>
            <a:r>
              <a:rPr lang="ko-KR" altLang="en-US" sz="80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</a:t>
            </a:r>
            <a:r>
              <a:rPr lang="en-US" altLang="ko-KR" sz="80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be</a:t>
            </a:r>
            <a:r>
              <a:rPr lang="ko-KR" altLang="en-US" sz="80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</a:t>
            </a:r>
            <a:r>
              <a:rPr lang="en-US" altLang="ko-KR" sz="80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continued </a:t>
            </a:r>
            <a:r>
              <a:rPr lang="ko-KR" altLang="en-US" sz="80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😎</a:t>
            </a:r>
          </a:p>
        </p:txBody>
      </p:sp>
    </p:spTree>
    <p:extLst>
      <p:ext uri="{BB962C8B-B14F-4D97-AF65-F5344CB8AC3E}">
        <p14:creationId xmlns:p14="http://schemas.microsoft.com/office/powerpoint/2010/main" val="299372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컴퓨터, 텍스트, 노트북이(가) 표시된 사진&#10;&#10;자동 생성된 설명">
            <a:extLst>
              <a:ext uri="{FF2B5EF4-FFF2-40B4-BE49-F238E27FC236}">
                <a16:creationId xmlns:a16="http://schemas.microsoft.com/office/drawing/2014/main" id="{497AF256-AFB9-657A-1508-0DB1A79CF8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D9D6E2-DD50-58BE-91E8-108BAC31359B}"/>
              </a:ext>
            </a:extLst>
          </p:cNvPr>
          <p:cNvSpPr txBox="1"/>
          <p:nvPr/>
        </p:nvSpPr>
        <p:spPr>
          <a:xfrm>
            <a:off x="669070" y="773288"/>
            <a:ext cx="1626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pc="300" dirty="0">
                <a:latin typeface="a로케트" panose="02020600000000000000" pitchFamily="18" charset="-127"/>
                <a:ea typeface="a로케트" panose="02020600000000000000" pitchFamily="18" charset="-127"/>
              </a:rPr>
              <a:t>Q&amp;A</a:t>
            </a:r>
            <a:endParaRPr lang="ko-KR" altLang="en-US" sz="2400" b="1" spc="300" dirty="0"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2ECBA-9841-FDD0-F19A-39929D433254}"/>
              </a:ext>
            </a:extLst>
          </p:cNvPr>
          <p:cNvSpPr txBox="1"/>
          <p:nvPr/>
        </p:nvSpPr>
        <p:spPr>
          <a:xfrm>
            <a:off x="602164" y="1356731"/>
            <a:ext cx="3940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atin typeface="a로케트" panose="02020600000000000000" pitchFamily="18" charset="-127"/>
                <a:ea typeface="a로케트" panose="02020600000000000000" pitchFamily="18" charset="-127"/>
              </a:rPr>
              <a:t>Thank you</a:t>
            </a:r>
            <a:endParaRPr lang="ko-KR" altLang="en-US" sz="5400" b="1" dirty="0"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57FA4F-1996-1746-BB89-A3FB7F84960D}"/>
              </a:ext>
            </a:extLst>
          </p:cNvPr>
          <p:cNvCxnSpPr>
            <a:cxnSpLocks/>
          </p:cNvCxnSpPr>
          <p:nvPr/>
        </p:nvCxnSpPr>
        <p:spPr>
          <a:xfrm>
            <a:off x="669070" y="1244478"/>
            <a:ext cx="997805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89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8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5264E"/>
      </a:accent1>
      <a:accent2>
        <a:srgbClr val="3F668F"/>
      </a:accent2>
      <a:accent3>
        <a:srgbClr val="4A7ECA"/>
      </a:accent3>
      <a:accent4>
        <a:srgbClr val="B28659"/>
      </a:accent4>
      <a:accent5>
        <a:srgbClr val="FDC467"/>
      </a:accent5>
      <a:accent6>
        <a:srgbClr val="E5D8C9"/>
      </a:accent6>
      <a:hlink>
        <a:srgbClr val="262626"/>
      </a:hlink>
      <a:folHlink>
        <a:srgbClr val="262626"/>
      </a:folHlink>
    </a:clrScheme>
    <a:fontScheme name="Pretendard_BLACK_M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3071</TotalTime>
  <Words>997</Words>
  <Application>Microsoft Office PowerPoint</Application>
  <PresentationFormat>와이드스크린</PresentationFormat>
  <Paragraphs>258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0" baseType="lpstr">
      <vt:lpstr>Pretendard Black</vt:lpstr>
      <vt:lpstr>a타이틀고딕2</vt:lpstr>
      <vt:lpstr>a드림고딕2</vt:lpstr>
      <vt:lpstr>a로케트</vt:lpstr>
      <vt:lpstr>a타이틀고딕3</vt:lpstr>
      <vt:lpstr>Pretendard</vt:lpstr>
      <vt:lpstr>Arial</vt:lpstr>
      <vt:lpstr>a타이틀고딕1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GRS</cp:lastModifiedBy>
  <cp:revision>435</cp:revision>
  <dcterms:created xsi:type="dcterms:W3CDTF">2023-04-24T02:25:46Z</dcterms:created>
  <dcterms:modified xsi:type="dcterms:W3CDTF">2024-04-12T02:44:15Z</dcterms:modified>
</cp:coreProperties>
</file>