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210 밀레니얼" panose="020B0600000101010101" charset="-127"/>
      <p:regular r:id="rId19"/>
    </p:embeddedFont>
    <p:embeddedFont>
      <p:font typeface="210 밀레니얼 Bold" panose="020B0600000101010101" charset="-127"/>
      <p:regular r:id="rId20"/>
    </p:embeddedFont>
    <p:embeddedFont>
      <p:font typeface="210 밀레니얼 Light" panose="020B0600000101010101" charset="-127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27.03.2024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한국 마사회 실내센서데이터를 가지고 데이터 분석을 해보았습니다.</a:t>
            </a:r>
          </a:p>
          <a:p>
            <a:endParaRPr lang="en-US"/>
          </a:p>
          <a:p>
            <a:r>
              <a:rPr lang="en-US"/>
              <a:t>2.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3. 저희 팀은 마사회실내 데이터 그리고 화재발생 데이터를 이용한 마사회 실내 공기질 분석을 목적으로 데이터를 분석해보았습니다.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 마사회 실내 공기질 데이터 그리고 날짜별 데이터를 수집하여서 총 4가지로 분류하여 데이터를 가공해보았습니다. </a:t>
            </a:r>
          </a:p>
          <a:p>
            <a:r>
              <a:rPr lang="en-US"/>
              <a:t>첫번째는 최고기온 및 최저기온 </a:t>
            </a:r>
          </a:p>
          <a:p>
            <a:r>
              <a:rPr lang="en-US"/>
              <a:t>두번째로는 화재위험성 여부 조회입니다 </a:t>
            </a:r>
          </a:p>
          <a:p>
            <a:r>
              <a:rPr lang="en-US"/>
              <a:t>세번째는 온도 습도의 평균 </a:t>
            </a:r>
          </a:p>
          <a:p>
            <a:r>
              <a:rPr lang="en-US"/>
              <a:t>마지막으로 시간대별 불쾌지수 조회가 있겠습니다.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5. 팀명 야생마로 정한 이유</a:t>
            </a:r>
          </a:p>
          <a:p>
            <a:r>
              <a:rPr lang="en-US"/>
              <a:t>: 경주마들은 은퇴 후 대부분 강제로 도축을 당한다.</a:t>
            </a:r>
          </a:p>
          <a:p>
            <a:endParaRPr lang="en-US"/>
          </a:p>
          <a:p>
            <a:r>
              <a:rPr lang="en-US"/>
              <a:t>경주마들은 돈벌이의 수단으로 쓰이다가 은퇴 후 쓸모가 없어지게 되면 도축의 목적으로 팔려갈 수밖에 없게 되는데</a:t>
            </a:r>
          </a:p>
          <a:p>
            <a:r>
              <a:rPr lang="en-US"/>
              <a:t>평생을 경주마로써 살던 말들의 마지막은 야생에서 살아갈 수 있도록 해줬으면 좋겠다는 마음에서 팀 이름을 야생마로 짓게 되었습니다.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6. 본격적으로 프로젝트 수행 절차를 보겠습니다. </a:t>
            </a:r>
          </a:p>
          <a:p>
            <a:r>
              <a:rPr lang="en-US"/>
              <a:t>저희는 공공데이터포털 사이트를 활용해서 데이터를 수집했습니다.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7. 공공 데이터 포털에서 받아온 데이터에서 </a:t>
            </a:r>
          </a:p>
          <a:p>
            <a:r>
              <a:rPr lang="en-US"/>
              <a:t>API 연결 코드를 함수로 구현하여 날짜만큼 반복 호출하였고</a:t>
            </a:r>
          </a:p>
          <a:p>
            <a:r>
              <a:rPr lang="en-US"/>
              <a:t>모든 날짜의 데이터를 받기 위해 날짜 파라메터 변수를 설정해주었습니다.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8. 그렇게 가져온 데이터가 이렇게 산출되었습니다. </a:t>
            </a:r>
          </a:p>
          <a:p>
            <a:r>
              <a:rPr lang="en-US"/>
              <a:t>처음 데이터 분석을 시작할 때 기간을 1년으로 잡았었는데 </a:t>
            </a:r>
          </a:p>
          <a:p>
            <a:r>
              <a:rPr lang="en-US"/>
              <a:t>최근 데이터가 부족하고 월별 데이터 중 생략되는 데이터가 많아서 2021년 12월 한 달 간의 데이터만 받아왔습니다.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55216" y="252412"/>
            <a:ext cx="11975650" cy="308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0"/>
              </a:lnSpc>
            </a:pPr>
            <a:r>
              <a:rPr lang="en-US" sz="9730" spc="350">
                <a:solidFill>
                  <a:srgbClr val="FFFFFF"/>
                </a:solidFill>
                <a:ea typeface="210 밀레니얼"/>
              </a:rPr>
              <a:t>한국마사회 </a:t>
            </a:r>
          </a:p>
          <a:p>
            <a:pPr algn="ctr">
              <a:lnSpc>
                <a:spcPts val="12260"/>
              </a:lnSpc>
            </a:pPr>
            <a:r>
              <a:rPr lang="en-US" sz="9730" spc="350">
                <a:solidFill>
                  <a:srgbClr val="FFFFFF"/>
                </a:solidFill>
                <a:ea typeface="210 밀레니얼"/>
              </a:rPr>
              <a:t>실내센서데이터 분석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16707" y="8905240"/>
            <a:ext cx="387533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ea typeface="210 밀레니얼"/>
              </a:rPr>
              <a:t>팀 야생마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02" r="-30502" b="-910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922608" y="1013782"/>
            <a:ext cx="13477022" cy="10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0"/>
              </a:lnSpc>
            </a:pPr>
            <a:r>
              <a:rPr lang="en-US" sz="6163">
                <a:solidFill>
                  <a:srgbClr val="FFFFFF"/>
                </a:solidFill>
                <a:latin typeface="210 밀레니얼 Light"/>
                <a:ea typeface="210 밀레니얼 Light"/>
              </a:rPr>
              <a:t>-목차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35395" y="2485791"/>
            <a:ext cx="13588381" cy="571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12"/>
              </a:lnSpc>
            </a:pPr>
            <a:r>
              <a:rPr lang="en-US" sz="5175" spc="186">
                <a:solidFill>
                  <a:srgbClr val="FFFFFF"/>
                </a:solidFill>
                <a:latin typeface="210 밀레니얼 Light"/>
                <a:ea typeface="210 밀레니얼 Light"/>
              </a:rPr>
              <a:t>01.  프로젝트 개요 </a:t>
            </a:r>
          </a:p>
          <a:p>
            <a:pPr>
              <a:lnSpc>
                <a:spcPts val="9212"/>
              </a:lnSpc>
            </a:pPr>
            <a:r>
              <a:rPr lang="en-US" sz="5175" spc="186">
                <a:solidFill>
                  <a:srgbClr val="FFFFFF"/>
                </a:solidFill>
                <a:latin typeface="210 밀레니얼 Light"/>
                <a:ea typeface="210 밀레니얼 Light"/>
              </a:rPr>
              <a:t>02. 팀 구성 및 역할 </a:t>
            </a:r>
          </a:p>
          <a:p>
            <a:pPr>
              <a:lnSpc>
                <a:spcPts val="9212"/>
              </a:lnSpc>
            </a:pPr>
            <a:r>
              <a:rPr lang="en-US" sz="5175" spc="186">
                <a:solidFill>
                  <a:srgbClr val="FFFFFF"/>
                </a:solidFill>
                <a:latin typeface="210 밀레니얼 Light"/>
                <a:ea typeface="210 밀레니얼 Light"/>
              </a:rPr>
              <a:t>03. 프로젝트 수행 절차 </a:t>
            </a:r>
          </a:p>
          <a:p>
            <a:pPr>
              <a:lnSpc>
                <a:spcPts val="9212"/>
              </a:lnSpc>
            </a:pPr>
            <a:r>
              <a:rPr lang="en-US" sz="5175" spc="186">
                <a:solidFill>
                  <a:srgbClr val="FFFFFF"/>
                </a:solidFill>
                <a:latin typeface="210 밀레니얼 Light"/>
                <a:ea typeface="210 밀레니얼 Light"/>
              </a:rPr>
              <a:t>04. 프로젝트 수행 결과 </a:t>
            </a:r>
          </a:p>
          <a:p>
            <a:pPr>
              <a:lnSpc>
                <a:spcPts val="9212"/>
              </a:lnSpc>
            </a:pPr>
            <a:r>
              <a:rPr lang="en-US" sz="5175" spc="186">
                <a:solidFill>
                  <a:srgbClr val="FFFFFF"/>
                </a:solidFill>
                <a:latin typeface="210 밀레니얼 Light"/>
                <a:ea typeface="210 밀레니얼 Light"/>
              </a:rPr>
              <a:t>05. 자체 평가 의견 및 느낀점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58673" y="12138887"/>
            <a:ext cx="6159203" cy="148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79"/>
              </a:lnSpc>
            </a:pPr>
            <a:r>
              <a:rPr lang="en-US" sz="4271">
                <a:solidFill>
                  <a:srgbClr val="D9D9D9"/>
                </a:solidFill>
                <a:ea typeface="TDTD고딕 Light"/>
              </a:rPr>
              <a:t>ㆍ프로젝트 내용과 의미</a:t>
            </a:r>
          </a:p>
          <a:p>
            <a:pPr>
              <a:lnSpc>
                <a:spcPts val="5979"/>
              </a:lnSpc>
            </a:pPr>
            <a:r>
              <a:rPr lang="en-US" sz="4271">
                <a:solidFill>
                  <a:srgbClr val="D9D9D9"/>
                </a:solidFill>
                <a:ea typeface="TDTD고딕 Light"/>
              </a:rPr>
              <a:t>ㆍ프로젝트의 목적과 중요성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6503900" y="-1001386"/>
            <a:ext cx="15121643" cy="12289772"/>
          </a:xfrm>
          <a:custGeom>
            <a:avLst/>
            <a:gdLst/>
            <a:ahLst/>
            <a:cxnLst/>
            <a:rect l="l" t="t" r="r" b="b"/>
            <a:pathLst>
              <a:path w="15121643" h="12289772">
                <a:moveTo>
                  <a:pt x="0" y="0"/>
                </a:moveTo>
                <a:lnTo>
                  <a:pt x="15121643" y="0"/>
                </a:lnTo>
                <a:lnTo>
                  <a:pt x="15121643" y="12289772"/>
                </a:lnTo>
                <a:lnTo>
                  <a:pt x="0" y="12289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3477022" cy="10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0"/>
              </a:lnSpc>
            </a:pPr>
            <a:r>
              <a:rPr lang="en-US" sz="6163" spc="172" dirty="0">
                <a:solidFill>
                  <a:srgbClr val="FFFFFF"/>
                </a:solidFill>
                <a:latin typeface="210 밀레니얼 Bold"/>
                <a:ea typeface="210 밀레니얼 Bold"/>
              </a:rPr>
              <a:t>01.프로젝트 </a:t>
            </a:r>
            <a:r>
              <a:rPr lang="en-US" sz="6163" spc="172" dirty="0" err="1">
                <a:solidFill>
                  <a:srgbClr val="FFFFFF"/>
                </a:solidFill>
                <a:latin typeface="210 밀레니얼 Bold"/>
                <a:ea typeface="210 밀레니얼 Bold"/>
              </a:rPr>
              <a:t>개요</a:t>
            </a:r>
            <a:endParaRPr lang="en-US" sz="6163" spc="172" dirty="0">
              <a:solidFill>
                <a:srgbClr val="FFFFFF"/>
              </a:solidFill>
              <a:latin typeface="210 밀레니얼 Bold"/>
              <a:ea typeface="210 밀레니얼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54339" y="3039454"/>
            <a:ext cx="16204961" cy="5046268"/>
          </a:xfrm>
          <a:prstGeom prst="rect">
            <a:avLst/>
          </a:prstGeom>
          <a:solidFill>
            <a:srgbClr val="D9D9D9">
              <a:alpha val="31765"/>
            </a:srgbClr>
          </a:solidFill>
        </p:spPr>
      </p:sp>
      <p:sp>
        <p:nvSpPr>
          <p:cNvPr id="5" name="TextBox 5"/>
          <p:cNvSpPr txBox="1"/>
          <p:nvPr/>
        </p:nvSpPr>
        <p:spPr>
          <a:xfrm>
            <a:off x="2148357" y="5048250"/>
            <a:ext cx="16992245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1"/>
              </a:lnSpc>
            </a:pP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마사회</a:t>
            </a:r>
            <a:r>
              <a:rPr lang="en-US" sz="4681" spc="229" dirty="0">
                <a:solidFill>
                  <a:srgbClr val="FFFFFF"/>
                </a:solidFill>
                <a:latin typeface="210 밀레니얼 Light"/>
                <a:ea typeface="210 밀레니얼 Light"/>
              </a:rPr>
              <a:t> </a:t>
            </a: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실내</a:t>
            </a:r>
            <a:r>
              <a:rPr lang="en-US" sz="4681" spc="229" dirty="0">
                <a:solidFill>
                  <a:srgbClr val="FFFFFF"/>
                </a:solidFill>
                <a:latin typeface="210 밀레니얼 Light"/>
                <a:ea typeface="210 밀레니얼 Light"/>
              </a:rPr>
              <a:t> </a:t>
            </a: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공기질,화재발생</a:t>
            </a:r>
            <a:r>
              <a:rPr lang="en-US" sz="4681" spc="229" dirty="0">
                <a:solidFill>
                  <a:srgbClr val="FFFFFF"/>
                </a:solidFill>
                <a:latin typeface="210 밀레니얼 Light"/>
                <a:ea typeface="210 밀레니얼 Light"/>
              </a:rPr>
              <a:t> </a:t>
            </a: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데이터</a:t>
            </a:r>
            <a:r>
              <a:rPr lang="en-US" sz="4681" spc="229" dirty="0">
                <a:solidFill>
                  <a:srgbClr val="FFFFFF"/>
                </a:solidFill>
                <a:latin typeface="210 밀레니얼 Light"/>
                <a:ea typeface="210 밀레니얼 Light"/>
              </a:rPr>
              <a:t> </a:t>
            </a: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수집</a:t>
            </a:r>
            <a:r>
              <a:rPr lang="en-US" sz="4681" spc="229" dirty="0">
                <a:solidFill>
                  <a:srgbClr val="FFFFFF"/>
                </a:solidFill>
                <a:latin typeface="210 밀레니얼 Light"/>
                <a:ea typeface="210 밀레니얼 Light"/>
              </a:rPr>
              <a:t> 및 </a:t>
            </a:r>
            <a:r>
              <a:rPr lang="en-US" sz="4681" spc="229" dirty="0" err="1">
                <a:solidFill>
                  <a:srgbClr val="FFFFFF"/>
                </a:solidFill>
                <a:latin typeface="210 밀레니얼 Light"/>
                <a:ea typeface="210 밀레니얼 Light"/>
              </a:rPr>
              <a:t>분석</a:t>
            </a:r>
            <a:endParaRPr lang="en-US" sz="4681" spc="229" dirty="0">
              <a:solidFill>
                <a:srgbClr val="FFFFFF"/>
              </a:solidFill>
              <a:latin typeface="210 밀레니얼 Light"/>
              <a:ea typeface="210 밀레니얼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1088513" y="-4064625"/>
            <a:ext cx="9266709" cy="7531307"/>
          </a:xfrm>
          <a:custGeom>
            <a:avLst/>
            <a:gdLst/>
            <a:ahLst/>
            <a:cxnLst/>
            <a:rect l="l" t="t" r="r" b="b"/>
            <a:pathLst>
              <a:path w="9266709" h="7531307">
                <a:moveTo>
                  <a:pt x="0" y="0"/>
                </a:moveTo>
                <a:lnTo>
                  <a:pt x="9266709" y="0"/>
                </a:lnTo>
                <a:lnTo>
                  <a:pt x="9266709" y="7531307"/>
                </a:lnTo>
                <a:lnTo>
                  <a:pt x="0" y="7531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587700" y="669382"/>
            <a:ext cx="13477022" cy="10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0"/>
              </a:lnSpc>
            </a:pPr>
            <a:r>
              <a:rPr lang="en-US" sz="6163">
                <a:solidFill>
                  <a:srgbClr val="FFFFFF"/>
                </a:solidFill>
                <a:latin typeface="210 밀레니얼 Bold"/>
                <a:ea typeface="210 밀레니얼 Bold"/>
              </a:rPr>
              <a:t>02. 팀 구성 및 역할</a:t>
            </a:r>
          </a:p>
        </p:txBody>
      </p:sp>
      <p:sp>
        <p:nvSpPr>
          <p:cNvPr id="4" name="AutoShape 4"/>
          <p:cNvSpPr/>
          <p:nvPr/>
        </p:nvSpPr>
        <p:spPr>
          <a:xfrm>
            <a:off x="13779757" y="3466682"/>
            <a:ext cx="3884222" cy="4459018"/>
          </a:xfrm>
          <a:prstGeom prst="rect">
            <a:avLst/>
          </a:prstGeom>
          <a:solidFill>
            <a:srgbClr val="D9D9D9">
              <a:alpha val="31765"/>
            </a:srgbClr>
          </a:solidFill>
        </p:spPr>
      </p:sp>
      <p:sp>
        <p:nvSpPr>
          <p:cNvPr id="5" name="TextBox 5"/>
          <p:cNvSpPr txBox="1"/>
          <p:nvPr/>
        </p:nvSpPr>
        <p:spPr>
          <a:xfrm>
            <a:off x="1698900" y="4250749"/>
            <a:ext cx="1664196" cy="62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4598">
                <a:solidFill>
                  <a:srgbClr val="F1EEEB"/>
                </a:solidFill>
                <a:ea typeface="210 밀레니얼 Light"/>
              </a:rPr>
              <a:t>곽전규</a:t>
            </a:r>
          </a:p>
        </p:txBody>
      </p:sp>
      <p:sp>
        <p:nvSpPr>
          <p:cNvPr id="6" name="AutoShape 6"/>
          <p:cNvSpPr/>
          <p:nvPr/>
        </p:nvSpPr>
        <p:spPr>
          <a:xfrm>
            <a:off x="588887" y="3466682"/>
            <a:ext cx="3884222" cy="4459018"/>
          </a:xfrm>
          <a:prstGeom prst="rect">
            <a:avLst/>
          </a:prstGeom>
          <a:solidFill>
            <a:srgbClr val="D9D9D9">
              <a:alpha val="31765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4958884" y="3466682"/>
            <a:ext cx="3884222" cy="4459018"/>
          </a:xfrm>
          <a:prstGeom prst="rect">
            <a:avLst/>
          </a:prstGeom>
          <a:solidFill>
            <a:srgbClr val="D9D9D9">
              <a:alpha val="31765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9330069" y="3466682"/>
            <a:ext cx="3884222" cy="4459018"/>
          </a:xfrm>
          <a:prstGeom prst="rect">
            <a:avLst/>
          </a:prstGeom>
          <a:solidFill>
            <a:srgbClr val="D9D9D9">
              <a:alpha val="31765"/>
            </a:srgbClr>
          </a:solidFill>
        </p:spPr>
      </p:sp>
      <p:sp>
        <p:nvSpPr>
          <p:cNvPr id="9" name="TextBox 9"/>
          <p:cNvSpPr txBox="1"/>
          <p:nvPr/>
        </p:nvSpPr>
        <p:spPr>
          <a:xfrm>
            <a:off x="6068869" y="4250749"/>
            <a:ext cx="1664252" cy="63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4598">
                <a:solidFill>
                  <a:srgbClr val="FFFFFF"/>
                </a:solidFill>
                <a:ea typeface="210 밀레니얼 Light"/>
              </a:rPr>
              <a:t>손우성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40054" y="4250749"/>
            <a:ext cx="1664252" cy="63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4598">
                <a:solidFill>
                  <a:srgbClr val="FFFFFF"/>
                </a:solidFill>
                <a:ea typeface="210 밀레니얼 Light"/>
              </a:rPr>
              <a:t>주진솔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08825" y="4250749"/>
            <a:ext cx="1693455" cy="63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4598">
                <a:solidFill>
                  <a:srgbClr val="FFFFFF"/>
                </a:solidFill>
                <a:ea typeface="210 밀레니얼 Light"/>
              </a:rPr>
              <a:t>최혜빈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98431" y="5379326"/>
            <a:ext cx="3816853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282">
                <a:solidFill>
                  <a:srgbClr val="FFFFFF"/>
                </a:solidFill>
                <a:ea typeface="210 밀레니얼 Light"/>
              </a:rPr>
              <a:t>시간대별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82">
                <a:solidFill>
                  <a:srgbClr val="FFFFFF"/>
                </a:solidFill>
                <a:latin typeface="210 밀레니얼 Light"/>
                <a:ea typeface="210 밀레니얼 Light"/>
              </a:rPr>
              <a:t>  평균 불쾌지수 조회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54469" y="5379326"/>
            <a:ext cx="3893053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82">
                <a:solidFill>
                  <a:srgbClr val="FFFFFF"/>
                </a:solidFill>
                <a:ea typeface="210 밀레니얼 Light"/>
              </a:rPr>
              <a:t>실효습도로 화재위험성 여부 조회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9128" y="5379326"/>
            <a:ext cx="4054978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282">
                <a:solidFill>
                  <a:srgbClr val="FFFFFF"/>
                </a:solidFill>
                <a:ea typeface="210 밀레니얼 Light"/>
              </a:rPr>
              <a:t>온도 습도의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82">
                <a:solidFill>
                  <a:srgbClr val="FFFFFF"/>
                </a:solidFill>
                <a:ea typeface="210 밀레니얼"/>
              </a:rPr>
              <a:t>평균 조회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3509" y="5379326"/>
            <a:ext cx="4054978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282">
                <a:solidFill>
                  <a:srgbClr val="FFFFFF"/>
                </a:solidFill>
                <a:ea typeface="210 밀레니얼 Light"/>
              </a:rPr>
              <a:t>최고기온 및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82">
                <a:solidFill>
                  <a:srgbClr val="FFFFFF"/>
                </a:solidFill>
                <a:ea typeface="210 밀레니얼 Light"/>
              </a:rPr>
              <a:t>최저기온 조회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56850" y="1991966"/>
            <a:ext cx="10974301" cy="7266334"/>
          </a:xfrm>
          <a:custGeom>
            <a:avLst/>
            <a:gdLst/>
            <a:ahLst/>
            <a:cxnLst/>
            <a:rect l="l" t="t" r="r" b="b"/>
            <a:pathLst>
              <a:path w="10974301" h="7266334">
                <a:moveTo>
                  <a:pt x="0" y="0"/>
                </a:moveTo>
                <a:lnTo>
                  <a:pt x="10974300" y="0"/>
                </a:lnTo>
                <a:lnTo>
                  <a:pt x="10974300" y="7266334"/>
                </a:lnTo>
                <a:lnTo>
                  <a:pt x="0" y="726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3833" y="637286"/>
            <a:ext cx="13477022" cy="10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0"/>
              </a:lnSpc>
            </a:pPr>
            <a:r>
              <a:rPr lang="en-US" sz="6163">
                <a:solidFill>
                  <a:srgbClr val="FFFFFF"/>
                </a:solidFill>
                <a:latin typeface="210 밀레니얼"/>
                <a:ea typeface="210 밀레니얼"/>
              </a:rPr>
              <a:t>팀명이 왜 야생마?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6685" y="2386304"/>
            <a:ext cx="15265559" cy="6871996"/>
          </a:xfrm>
          <a:custGeom>
            <a:avLst/>
            <a:gdLst/>
            <a:ahLst/>
            <a:cxnLst/>
            <a:rect l="l" t="t" r="r" b="b"/>
            <a:pathLst>
              <a:path w="15265559" h="6871996">
                <a:moveTo>
                  <a:pt x="0" y="0"/>
                </a:moveTo>
                <a:lnTo>
                  <a:pt x="15265558" y="0"/>
                </a:lnTo>
                <a:lnTo>
                  <a:pt x="15265558" y="6871996"/>
                </a:lnTo>
                <a:lnTo>
                  <a:pt x="0" y="68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14400"/>
            <a:ext cx="13477022" cy="104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0"/>
              </a:lnSpc>
            </a:pPr>
            <a:r>
              <a:rPr lang="en-US" sz="6163">
                <a:solidFill>
                  <a:srgbClr val="545454"/>
                </a:solidFill>
                <a:latin typeface="210 밀레니얼 Bold"/>
                <a:ea typeface="210 밀레니얼 Bold"/>
              </a:rPr>
              <a:t>03. 프로젝트 수행 절차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46" r="-1492" b="-746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813" y="3216569"/>
            <a:ext cx="10865020" cy="5537936"/>
          </a:xfrm>
          <a:custGeom>
            <a:avLst/>
            <a:gdLst/>
            <a:ahLst/>
            <a:cxnLst/>
            <a:rect l="l" t="t" r="r" b="b"/>
            <a:pathLst>
              <a:path w="10865020" h="5537936">
                <a:moveTo>
                  <a:pt x="0" y="0"/>
                </a:moveTo>
                <a:lnTo>
                  <a:pt x="10865021" y="0"/>
                </a:lnTo>
                <a:lnTo>
                  <a:pt x="10865021" y="5537936"/>
                </a:lnTo>
                <a:lnTo>
                  <a:pt x="0" y="553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0721" b="-381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774267" y="5632017"/>
            <a:ext cx="1039918" cy="783143"/>
            <a:chOff x="0" y="0"/>
            <a:chExt cx="812800" cy="612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612104"/>
            </a:xfrm>
            <a:custGeom>
              <a:avLst/>
              <a:gdLst/>
              <a:ahLst/>
              <a:cxnLst/>
              <a:rect l="l" t="t" r="r" b="b"/>
              <a:pathLst>
                <a:path w="812800" h="612104">
                  <a:moveTo>
                    <a:pt x="812800" y="30605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08904"/>
                  </a:lnTo>
                  <a:lnTo>
                    <a:pt x="406400" y="408904"/>
                  </a:lnTo>
                  <a:lnTo>
                    <a:pt x="406400" y="612104"/>
                  </a:lnTo>
                  <a:lnTo>
                    <a:pt x="812800" y="306052"/>
                  </a:ln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69875"/>
              <a:ext cx="711200" cy="139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296618" y="1434228"/>
            <a:ext cx="3060561" cy="8395579"/>
          </a:xfrm>
          <a:custGeom>
            <a:avLst/>
            <a:gdLst/>
            <a:ahLst/>
            <a:cxnLst/>
            <a:rect l="l" t="t" r="r" b="b"/>
            <a:pathLst>
              <a:path w="3060561" h="8395579">
                <a:moveTo>
                  <a:pt x="0" y="0"/>
                </a:moveTo>
                <a:lnTo>
                  <a:pt x="3060561" y="0"/>
                </a:lnTo>
                <a:lnTo>
                  <a:pt x="3060561" y="8395579"/>
                </a:lnTo>
                <a:lnTo>
                  <a:pt x="0" y="8395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10979" y="1166929"/>
            <a:ext cx="8946047" cy="82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6"/>
              </a:lnSpc>
              <a:spcBef>
                <a:spcPct val="0"/>
              </a:spcBef>
            </a:pPr>
            <a:r>
              <a:rPr lang="en-US" sz="4798" spc="235">
                <a:solidFill>
                  <a:srgbClr val="000000"/>
                </a:solidFill>
                <a:latin typeface="210 밀레니얼"/>
              </a:rPr>
              <a:t>-</a:t>
            </a:r>
            <a:r>
              <a:rPr lang="en-US" sz="4798" spc="235">
                <a:solidFill>
                  <a:srgbClr val="000000"/>
                </a:solidFill>
                <a:ea typeface="210 밀레니얼"/>
              </a:rPr>
              <a:t>최고기온 및 최저기온 조회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95368" y="339369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8" t="-15009" b="-533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2512" y="3712388"/>
            <a:ext cx="7494699" cy="3647216"/>
          </a:xfrm>
          <a:custGeom>
            <a:avLst/>
            <a:gdLst/>
            <a:ahLst/>
            <a:cxnLst/>
            <a:rect l="l" t="t" r="r" b="b"/>
            <a:pathLst>
              <a:path w="7494699" h="3647216">
                <a:moveTo>
                  <a:pt x="0" y="0"/>
                </a:moveTo>
                <a:lnTo>
                  <a:pt x="7494699" y="0"/>
                </a:lnTo>
                <a:lnTo>
                  <a:pt x="7494699" y="3647216"/>
                </a:lnTo>
                <a:lnTo>
                  <a:pt x="0" y="36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44" t="-63101" r="-1623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47803" y="1357690"/>
            <a:ext cx="13477022" cy="84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8"/>
              </a:lnSpc>
            </a:pPr>
            <a:r>
              <a:rPr lang="en-US" sz="4963" spc="198">
                <a:solidFill>
                  <a:srgbClr val="404040"/>
                </a:solidFill>
                <a:latin typeface="210 밀레니얼"/>
                <a:ea typeface="210 밀레니얼"/>
              </a:rPr>
              <a:t>-실효습도로 화재위험성 여부 조회</a:t>
            </a:r>
          </a:p>
        </p:txBody>
      </p:sp>
      <p:sp>
        <p:nvSpPr>
          <p:cNvPr id="5" name="Freeform 5"/>
          <p:cNvSpPr/>
          <p:nvPr/>
        </p:nvSpPr>
        <p:spPr>
          <a:xfrm>
            <a:off x="8049296" y="3712388"/>
            <a:ext cx="9943192" cy="3666828"/>
          </a:xfrm>
          <a:custGeom>
            <a:avLst/>
            <a:gdLst/>
            <a:ahLst/>
            <a:cxnLst/>
            <a:rect l="l" t="t" r="r" b="b"/>
            <a:pathLst>
              <a:path w="9943192" h="3666828">
                <a:moveTo>
                  <a:pt x="0" y="0"/>
                </a:moveTo>
                <a:lnTo>
                  <a:pt x="9943191" y="0"/>
                </a:lnTo>
                <a:lnTo>
                  <a:pt x="9943191" y="3666828"/>
                </a:lnTo>
                <a:lnTo>
                  <a:pt x="0" y="366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00" t="-40840" r="-122018" b="-24156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180338" y="401742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8" t="-15009" b="-533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8556" y="3288200"/>
            <a:ext cx="10564493" cy="5326661"/>
          </a:xfrm>
          <a:custGeom>
            <a:avLst/>
            <a:gdLst/>
            <a:ahLst/>
            <a:cxnLst/>
            <a:rect l="l" t="t" r="r" b="b"/>
            <a:pathLst>
              <a:path w="10564493" h="5326661">
                <a:moveTo>
                  <a:pt x="0" y="0"/>
                </a:moveTo>
                <a:lnTo>
                  <a:pt x="10564493" y="0"/>
                </a:lnTo>
                <a:lnTo>
                  <a:pt x="10564493" y="5326661"/>
                </a:lnTo>
                <a:lnTo>
                  <a:pt x="0" y="5326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53" t="-68037" r="-50582" b="-1872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22193" y="2134573"/>
            <a:ext cx="4537107" cy="7633915"/>
          </a:xfrm>
          <a:custGeom>
            <a:avLst/>
            <a:gdLst/>
            <a:ahLst/>
            <a:cxnLst/>
            <a:rect l="l" t="t" r="r" b="b"/>
            <a:pathLst>
              <a:path w="4537107" h="7633915">
                <a:moveTo>
                  <a:pt x="0" y="0"/>
                </a:moveTo>
                <a:lnTo>
                  <a:pt x="4537107" y="0"/>
                </a:lnTo>
                <a:lnTo>
                  <a:pt x="4537107" y="7633915"/>
                </a:lnTo>
                <a:lnTo>
                  <a:pt x="0" y="763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51" t="-53610" r="-32591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286031" y="5568897"/>
            <a:ext cx="1133179" cy="765267"/>
            <a:chOff x="0" y="0"/>
            <a:chExt cx="795411" cy="5371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5411" cy="537163"/>
            </a:xfrm>
            <a:custGeom>
              <a:avLst/>
              <a:gdLst/>
              <a:ahLst/>
              <a:cxnLst/>
              <a:rect l="l" t="t" r="r" b="b"/>
              <a:pathLst>
                <a:path w="795411" h="537163">
                  <a:moveTo>
                    <a:pt x="795411" y="268581"/>
                  </a:moveTo>
                  <a:lnTo>
                    <a:pt x="389011" y="0"/>
                  </a:lnTo>
                  <a:lnTo>
                    <a:pt x="389011" y="203200"/>
                  </a:lnTo>
                  <a:lnTo>
                    <a:pt x="0" y="203200"/>
                  </a:lnTo>
                  <a:lnTo>
                    <a:pt x="0" y="333963"/>
                  </a:lnTo>
                  <a:lnTo>
                    <a:pt x="389011" y="333963"/>
                  </a:lnTo>
                  <a:lnTo>
                    <a:pt x="389011" y="537163"/>
                  </a:lnTo>
                  <a:lnTo>
                    <a:pt x="795411" y="268581"/>
                  </a:lnTo>
                  <a:close/>
                </a:path>
              </a:pathLst>
            </a:custGeom>
            <a:solidFill>
              <a:srgbClr val="9A684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69875"/>
              <a:ext cx="693811" cy="64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0639" y="1253099"/>
            <a:ext cx="13477022" cy="84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8"/>
              </a:lnSpc>
            </a:pPr>
            <a:r>
              <a:rPr lang="en-US" sz="4963" spc="198">
                <a:solidFill>
                  <a:srgbClr val="404040"/>
                </a:solidFill>
                <a:latin typeface="210 밀레니얼"/>
                <a:ea typeface="210 밀레니얼"/>
              </a:rPr>
              <a:t>- 실효습도로 화재위험성 여부 조회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08726" y="385693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6317" y="4417248"/>
            <a:ext cx="12065731" cy="3037843"/>
          </a:xfrm>
          <a:custGeom>
            <a:avLst/>
            <a:gdLst/>
            <a:ahLst/>
            <a:cxnLst/>
            <a:rect l="l" t="t" r="r" b="b"/>
            <a:pathLst>
              <a:path w="12065731" h="3037843">
                <a:moveTo>
                  <a:pt x="0" y="0"/>
                </a:moveTo>
                <a:lnTo>
                  <a:pt x="12065731" y="0"/>
                </a:lnTo>
                <a:lnTo>
                  <a:pt x="12065731" y="3037843"/>
                </a:lnTo>
                <a:lnTo>
                  <a:pt x="0" y="3037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43" t="-54509" r="-115618" b="-35970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19935" y="3235467"/>
            <a:ext cx="4331903" cy="5401405"/>
          </a:xfrm>
          <a:custGeom>
            <a:avLst/>
            <a:gdLst/>
            <a:ahLst/>
            <a:cxnLst/>
            <a:rect l="l" t="t" r="r" b="b"/>
            <a:pathLst>
              <a:path w="4331903" h="5401405">
                <a:moveTo>
                  <a:pt x="0" y="0"/>
                </a:moveTo>
                <a:lnTo>
                  <a:pt x="4331903" y="0"/>
                </a:lnTo>
                <a:lnTo>
                  <a:pt x="4331903" y="5401405"/>
                </a:lnTo>
                <a:lnTo>
                  <a:pt x="0" y="540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338" t="-104210" r="-405587" b="-3439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570886" y="5407653"/>
            <a:ext cx="734724" cy="7347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69875"/>
              <a:ext cx="711200" cy="339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08864" y="1501670"/>
            <a:ext cx="13477022" cy="84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57"/>
              </a:lnSpc>
            </a:pPr>
            <a:r>
              <a:rPr lang="en-US" sz="4863" spc="194">
                <a:solidFill>
                  <a:srgbClr val="404040"/>
                </a:solidFill>
                <a:latin typeface="210 밀레니얼"/>
                <a:ea typeface="210 밀레니얼"/>
              </a:rPr>
              <a:t> -온도 습도 평균 조회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48241" y="514908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37365" y="2625185"/>
            <a:ext cx="5583791" cy="3744635"/>
          </a:xfrm>
          <a:custGeom>
            <a:avLst/>
            <a:gdLst/>
            <a:ahLst/>
            <a:cxnLst/>
            <a:rect l="l" t="t" r="r" b="b"/>
            <a:pathLst>
              <a:path w="5583791" h="3744635">
                <a:moveTo>
                  <a:pt x="0" y="0"/>
                </a:moveTo>
                <a:lnTo>
                  <a:pt x="5583791" y="0"/>
                </a:lnTo>
                <a:lnTo>
                  <a:pt x="5583791" y="3744635"/>
                </a:lnTo>
                <a:lnTo>
                  <a:pt x="0" y="374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28" r="-205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76905" y="2625185"/>
            <a:ext cx="5692445" cy="3744635"/>
          </a:xfrm>
          <a:custGeom>
            <a:avLst/>
            <a:gdLst/>
            <a:ahLst/>
            <a:cxnLst/>
            <a:rect l="l" t="t" r="r" b="b"/>
            <a:pathLst>
              <a:path w="5692445" h="3744635">
                <a:moveTo>
                  <a:pt x="0" y="0"/>
                </a:moveTo>
                <a:lnTo>
                  <a:pt x="5692446" y="0"/>
                </a:lnTo>
                <a:lnTo>
                  <a:pt x="5692446" y="3744635"/>
                </a:lnTo>
                <a:lnTo>
                  <a:pt x="0" y="374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13" t="-8711" r="-12462" b="-874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95318" y="1181156"/>
            <a:ext cx="13477022" cy="84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8"/>
              </a:lnSpc>
            </a:pPr>
            <a:r>
              <a:rPr lang="en-US" sz="4963" spc="198">
                <a:solidFill>
                  <a:srgbClr val="404040"/>
                </a:solidFill>
                <a:latin typeface="210 밀레니얼"/>
                <a:ea typeface="210 밀레니얼"/>
              </a:rPr>
              <a:t> -온도 습도 활용한 불쾌지수 조회</a:t>
            </a:r>
          </a:p>
        </p:txBody>
      </p:sp>
      <p:sp>
        <p:nvSpPr>
          <p:cNvPr id="6" name="Freeform 6"/>
          <p:cNvSpPr/>
          <p:nvPr/>
        </p:nvSpPr>
        <p:spPr>
          <a:xfrm>
            <a:off x="389416" y="7093720"/>
            <a:ext cx="17509169" cy="1829923"/>
          </a:xfrm>
          <a:custGeom>
            <a:avLst/>
            <a:gdLst/>
            <a:ahLst/>
            <a:cxnLst/>
            <a:rect l="l" t="t" r="r" b="b"/>
            <a:pathLst>
              <a:path w="17509169" h="1829923">
                <a:moveTo>
                  <a:pt x="0" y="0"/>
                </a:moveTo>
                <a:lnTo>
                  <a:pt x="17509168" y="0"/>
                </a:lnTo>
                <a:lnTo>
                  <a:pt x="17509168" y="1829922"/>
                </a:lnTo>
                <a:lnTo>
                  <a:pt x="0" y="1829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43" t="-84959" r="-13030" b="-699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453162" y="353596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9644" y="3082434"/>
            <a:ext cx="10448857" cy="6385148"/>
          </a:xfrm>
          <a:custGeom>
            <a:avLst/>
            <a:gdLst/>
            <a:ahLst/>
            <a:cxnLst/>
            <a:rect l="l" t="t" r="r" b="b"/>
            <a:pathLst>
              <a:path w="10448857" h="6385148">
                <a:moveTo>
                  <a:pt x="0" y="0"/>
                </a:moveTo>
                <a:lnTo>
                  <a:pt x="10448857" y="0"/>
                </a:lnTo>
                <a:lnTo>
                  <a:pt x="10448857" y="6385148"/>
                </a:lnTo>
                <a:lnTo>
                  <a:pt x="0" y="638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56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88811" y="3082434"/>
            <a:ext cx="5977585" cy="6385148"/>
          </a:xfrm>
          <a:custGeom>
            <a:avLst/>
            <a:gdLst/>
            <a:ahLst/>
            <a:cxnLst/>
            <a:rect l="l" t="t" r="r" b="b"/>
            <a:pathLst>
              <a:path w="5977585" h="6385148">
                <a:moveTo>
                  <a:pt x="0" y="0"/>
                </a:moveTo>
                <a:lnTo>
                  <a:pt x="5977586" y="0"/>
                </a:lnTo>
                <a:lnTo>
                  <a:pt x="5977586" y="6385148"/>
                </a:lnTo>
                <a:lnTo>
                  <a:pt x="0" y="6385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42251" y="1197205"/>
            <a:ext cx="13477022" cy="848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8"/>
              </a:lnSpc>
            </a:pPr>
            <a:r>
              <a:rPr lang="en-US" sz="4963" spc="198">
                <a:solidFill>
                  <a:srgbClr val="404040"/>
                </a:solidFill>
                <a:latin typeface="210 밀레니얼"/>
                <a:ea typeface="210 밀레니얼"/>
              </a:rPr>
              <a:t>-온도 습도 활용한 불쾌지수 조회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69645"/>
            <a:ext cx="8946047" cy="92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2"/>
              </a:lnSpc>
              <a:spcBef>
                <a:spcPct val="0"/>
              </a:spcBef>
            </a:pPr>
            <a:r>
              <a:rPr lang="en-US" sz="5398">
                <a:solidFill>
                  <a:srgbClr val="000000"/>
                </a:solidFill>
                <a:latin typeface="210 밀레니얼 Bold"/>
                <a:ea typeface="210 밀레니얼 Bold"/>
              </a:rPr>
              <a:t>04.프로젝트 수행결과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663979" y="9769703"/>
            <a:ext cx="295058" cy="0"/>
          </a:xfrm>
          <a:prstGeom prst="line">
            <a:avLst/>
          </a:prstGeom>
          <a:ln w="28575" cap="flat">
            <a:solidFill>
              <a:srgbClr val="545454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118100"/>
            <a:ext cx="9489918" cy="87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0"/>
              </a:lnSpc>
            </a:pPr>
            <a:r>
              <a:rPr lang="en-US" sz="5099">
                <a:solidFill>
                  <a:srgbClr val="545454"/>
                </a:solidFill>
                <a:latin typeface="210 밀레니얼 Bold"/>
                <a:ea typeface="210 밀레니얼 Bold"/>
              </a:rPr>
              <a:t>05. 자체 평가 의견 및 느낀점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3251734"/>
          <a:ext cx="16230600" cy="4353911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8221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5690">
                <a:tc>
                  <a:txBody>
                    <a:bodyPr/>
                    <a:lstStyle/>
                    <a:p>
                      <a:pPr algn="l">
                        <a:lnSpc>
                          <a:spcPts val="6199"/>
                        </a:lnSpc>
                        <a:defRPr/>
                      </a:pPr>
                      <a:r>
                        <a:rPr lang="en-US" sz="3999" spc="223">
                          <a:solidFill>
                            <a:srgbClr val="545454"/>
                          </a:solidFill>
                          <a:latin typeface="210 밀레니얼 Light"/>
                          <a:ea typeface="210 밀레니얼 Light"/>
                        </a:rPr>
                        <a:t>  1.  데이터 조회 기간의 한계</a:t>
                      </a:r>
                      <a:endParaRPr lang="en-US" sz="1100"/>
                    </a:p>
                    <a:p>
                      <a:pPr>
                        <a:lnSpc>
                          <a:spcPts val="6199"/>
                        </a:lnSpc>
                      </a:pPr>
                      <a:r>
                        <a:rPr lang="en-US" sz="3999" spc="223">
                          <a:solidFill>
                            <a:srgbClr val="545454"/>
                          </a:solidFill>
                          <a:latin typeface="210 밀레니얼 Light"/>
                          <a:ea typeface="210 밀레니얼 Light"/>
                        </a:rPr>
                        <a:t>  2. 실내 데이터의 한계(가상의 데이터 필요)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4545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4545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36640" y="6641142"/>
            <a:ext cx="11467367" cy="146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83"/>
              </a:lnSpc>
            </a:pPr>
            <a:r>
              <a:rPr lang="en-US" sz="9656" spc="724">
                <a:solidFill>
                  <a:srgbClr val="F1EEEB"/>
                </a:solidFill>
                <a:latin typeface="210 밀레니얼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사용자 지정</PresentationFormat>
  <Paragraphs>79</Paragraphs>
  <Slides>16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210 밀레니얼 Light</vt:lpstr>
      <vt:lpstr>Arial</vt:lpstr>
      <vt:lpstr>210 밀레니얼</vt:lpstr>
      <vt:lpstr>210 밀레니얼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발표 프레젠테이션 PPT</dc:title>
  <cp:lastModifiedBy>GRS</cp:lastModifiedBy>
  <cp:revision>2</cp:revision>
  <dcterms:created xsi:type="dcterms:W3CDTF">2006-08-16T00:00:00Z</dcterms:created>
  <dcterms:modified xsi:type="dcterms:W3CDTF">2024-03-27T05:56:47Z</dcterms:modified>
  <dc:identifier>DAGAlu0WfHs</dc:identifier>
</cp:coreProperties>
</file>