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5" r:id="rId2"/>
    <p:sldId id="294" r:id="rId3"/>
    <p:sldId id="268" r:id="rId4"/>
    <p:sldId id="295" r:id="rId5"/>
    <p:sldId id="271" r:id="rId6"/>
    <p:sldId id="276" r:id="rId7"/>
    <p:sldId id="273" r:id="rId8"/>
    <p:sldId id="288" r:id="rId9"/>
    <p:sldId id="279" r:id="rId10"/>
    <p:sldId id="267" r:id="rId11"/>
    <p:sldId id="300" r:id="rId12"/>
    <p:sldId id="305" r:id="rId13"/>
    <p:sldId id="303" r:id="rId14"/>
    <p:sldId id="302" r:id="rId15"/>
    <p:sldId id="304" r:id="rId16"/>
    <p:sldId id="307" r:id="rId17"/>
    <p:sldId id="309" r:id="rId18"/>
    <p:sldId id="310" r:id="rId19"/>
    <p:sldId id="299" r:id="rId20"/>
    <p:sldId id="270" r:id="rId21"/>
    <p:sldId id="306" r:id="rId22"/>
    <p:sldId id="266" r:id="rId23"/>
  </p:sldIdLst>
  <p:sldSz cx="12192000" cy="6858000"/>
  <p:notesSz cx="6858000" cy="9144000"/>
  <p:embeddedFontLst>
    <p:embeddedFont>
      <p:font typeface="a드림고딕2" panose="02020600000000000000" pitchFamily="18" charset="-127"/>
      <p:regular r:id="rId24"/>
    </p:embeddedFont>
    <p:embeddedFont>
      <p:font typeface="a로케트" panose="02020600000000000000" pitchFamily="18" charset="-127"/>
      <p:regular r:id="rId25"/>
    </p:embeddedFont>
    <p:embeddedFont>
      <p:font typeface="a타이틀고딕1" panose="02020600000000000000" pitchFamily="18" charset="-127"/>
      <p:regular r:id="rId26"/>
    </p:embeddedFont>
    <p:embeddedFont>
      <p:font typeface="a타이틀고딕2" panose="02020600000000000000" pitchFamily="18" charset="-127"/>
      <p:regular r:id="rId27"/>
    </p:embeddedFont>
    <p:embeddedFont>
      <p:font typeface="a타이틀고딕3" panose="02020600000000000000" pitchFamily="18" charset="-127"/>
      <p:regular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S" initials="G" lastIdx="1" clrIdx="0">
    <p:extLst>
      <p:ext uri="{19B8F6BF-5375-455C-9EA6-DF929625EA0E}">
        <p15:presenceInfo xmlns:p15="http://schemas.microsoft.com/office/powerpoint/2012/main" userId="GR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9E5"/>
    <a:srgbClr val="FEE8D2"/>
    <a:srgbClr val="FFEFFC"/>
    <a:srgbClr val="FFCCFF"/>
    <a:srgbClr val="252526"/>
    <a:srgbClr val="181818"/>
    <a:srgbClr val="3F668F"/>
    <a:srgbClr val="D0CECE"/>
    <a:srgbClr val="757575"/>
    <a:srgbClr val="44546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90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0B6B7-9287-7501-CDA6-8356E75D1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1D7789-CFE6-22C9-EB44-6E3D7665C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CA949-B4EE-25C2-426F-595ACA29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07A88-52D3-3EFF-6853-3025E40E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6BC29-0782-692B-304F-89DC72F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81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51A7B-D5FE-E441-1503-91AF076D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00A57-4BB1-90D7-9A6F-399D5430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EAFB6-44BA-E6B2-C394-EB915A57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94A2A9-EF85-F2CE-0E94-15AC95BC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D47C0A-61DE-4EB3-4C1C-FDA46671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439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154BB-20A3-CAF0-686B-B87A7432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FB4176-3627-D703-6C6F-BF6938C7F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8E5FC-7C90-5052-94EC-78ABBF81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C6064-42CE-B7E9-D268-47E8C8E8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A491B-103B-2BEB-4AFA-C1149FE1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8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1A283-EE82-2C1A-3DA4-5131DF8D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9504A-82A1-8D8D-DB0C-A3F6CE009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C1AA47-FE1A-F9B3-105E-E3DE94411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B48DB-2625-D595-9982-4E277A909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60D0E9-6408-E72F-5A9E-02D55909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63F2CC-AC0B-8AD8-60B2-0C974AAA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799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39A44-D23A-E98F-5492-82E39FEA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ED3B6F-DAB5-38C5-EAB5-332D1F797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D0471C-09F6-6FBC-00AE-7D7683D53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C3F245-0C6E-5337-99FE-2DB8E13CA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6413AE-1364-179C-0373-36D252B32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704AEA-C494-2E03-3B01-73CE7B7F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56CD5B-6725-83FA-35FC-6319E870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B4BA56-7D94-13F6-4971-F4E916F8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625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6BDB7-52D3-4377-FC5B-806634CA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58B586-6E44-28D3-3558-CEB38859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A1FB35-9E80-F6A9-5490-14E8FAF5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A01088-6933-5538-11A5-6BB49279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162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B62EF-0AD7-B44F-3952-279BE7A9EAE0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DCF90F-B5DB-F5D8-C34B-7ADF03B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532198-7F79-2181-708B-60F49CF0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7BC27-D98D-F3D8-A991-F365CD5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6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B62EF-0AD7-B44F-3952-279BE7A9EAE0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DCF90F-B5DB-F5D8-C34B-7ADF03B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532198-7F79-2181-708B-60F49CF0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7BC27-D98D-F3D8-A991-F365CD5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853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C51DE-5A41-F314-C453-F725B45A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DD596-2CCB-3461-E3EE-D89B9E91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492C6-90F1-1929-CD62-B6132DDA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041367-1003-D118-3265-9249393B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68455-54A1-1FAB-47F3-AEEB1757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2310E8-74A8-D020-ECCC-362B0743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06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9D579-00AE-5EB2-F99B-B5118D1A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55C236-4919-F27E-161B-2618B810E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50B109-2960-D7CB-5E6F-57AECDDDF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1F961B-86A3-5132-CCE4-45ED29E1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260B2-A146-9DBC-FB7C-6F60E73F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4D54C-F997-D8B8-74D2-AB628B04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63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DFA3-D2CC-FBAB-2AE8-7A314CAD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D4F396-6EAC-6880-AA87-59D44962F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042A8-CF81-6626-654A-EE5786EA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A36F7-0E5B-DBD2-EF15-F210CCA6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C8737-238B-D8A9-1420-12802A9D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200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84FF23-7ABB-49BB-D119-51FE28A2E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BDEF98-4A52-6662-C087-4190721C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59EE8-A640-0457-20DC-92E4B93F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4BB77-F193-DE60-5953-7CA99061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D83F9-8415-B2E6-F442-879A4C9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87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1D6A35-C29A-91D9-7077-51A94C9D5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898BF4-8F32-286F-7AF2-A0029B68C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2434C5-2B47-D752-A204-67601BFAC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7CD8D-5FF8-45F7-B5D9-86A8A4C3B6A4}" type="datetimeFigureOut">
              <a:rPr lang="ko-KR" altLang="en-US" smtClean="0"/>
              <a:t>2024-03-26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722951-7931-3231-4230-D2618278F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4E29E1-F9E7-D4A1-6075-B039DA756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68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일렉트릭 블루, 스크린샷, 마조렐 블루, 사각형이(가) 표시된 사진&#10;&#10;자동 생성된 설명">
            <a:extLst>
              <a:ext uri="{FF2B5EF4-FFF2-40B4-BE49-F238E27FC236}">
                <a16:creationId xmlns:a16="http://schemas.microsoft.com/office/drawing/2014/main" id="{7BE6E4B8-7A1C-0C8B-910B-3ADD70DA3E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3B854AB-52FC-5D22-6537-2E3C7DBEACCA}"/>
              </a:ext>
            </a:extLst>
          </p:cNvPr>
          <p:cNvCxnSpPr/>
          <p:nvPr/>
        </p:nvCxnSpPr>
        <p:spPr>
          <a:xfrm>
            <a:off x="524107" y="546410"/>
            <a:ext cx="1014761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EAA2631-352C-65FE-0219-3B4174D002DE}"/>
              </a:ext>
            </a:extLst>
          </p:cNvPr>
          <p:cNvSpPr txBox="1"/>
          <p:nvPr/>
        </p:nvSpPr>
        <p:spPr>
          <a:xfrm>
            <a:off x="1427339" y="2392310"/>
            <a:ext cx="94778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Python Project</a:t>
            </a:r>
            <a:endParaRPr lang="ko-KR" altLang="en-US" sz="66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D3EC3-3C78-52B6-A885-B7CACDBE48C7}"/>
              </a:ext>
            </a:extLst>
          </p:cNvPr>
          <p:cNvSpPr txBox="1"/>
          <p:nvPr/>
        </p:nvSpPr>
        <p:spPr>
          <a:xfrm>
            <a:off x="2078714" y="3729482"/>
            <a:ext cx="8034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화재발생 모니터링 시스템 구축을 위한 </a:t>
            </a:r>
            <a:r>
              <a:rPr lang="ko-KR" altLang="en-US" sz="20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소방청</a:t>
            </a:r>
            <a:r>
              <a:rPr lang="ko-KR" altLang="en-US" sz="20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화재경보 데이터 수집 및 가공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49137-D791-4841-B7F8-439C58128B0F}"/>
              </a:ext>
            </a:extLst>
          </p:cNvPr>
          <p:cNvSpPr txBox="1"/>
          <p:nvPr/>
        </p:nvSpPr>
        <p:spPr>
          <a:xfrm>
            <a:off x="9112623" y="5752246"/>
            <a:ext cx="2707170" cy="70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조 </a:t>
            </a:r>
            <a:r>
              <a:rPr lang="ko-KR" altLang="en-US" sz="14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삼항연산자</a:t>
            </a:r>
            <a:endParaRPr lang="en-US" altLang="ko-KR" sz="1400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 </a:t>
            </a: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4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 </a:t>
            </a:r>
            <a:r>
              <a:rPr lang="en-US" altLang="ko-KR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</p:spTree>
    <p:extLst>
      <p:ext uri="{BB962C8B-B14F-4D97-AF65-F5344CB8AC3E}">
        <p14:creationId xmlns:p14="http://schemas.microsoft.com/office/powerpoint/2010/main" val="100301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E38782B-50EF-4AB4-BF02-37B5ED641C1F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220617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A4C0C-593F-49EA-A036-AAE8EB62D98B}"/>
              </a:ext>
            </a:extLst>
          </p:cNvPr>
          <p:cNvSpPr txBox="1"/>
          <p:nvPr/>
        </p:nvSpPr>
        <p:spPr>
          <a:xfrm>
            <a:off x="8128000" y="1351435"/>
            <a:ext cx="5921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spc="-15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Contents</a:t>
            </a:r>
            <a:r>
              <a:rPr lang="en-US" altLang="ko-KR" sz="4800" spc="-15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.</a:t>
            </a:r>
            <a:endParaRPr lang="ko-KR" altLang="en-US" sz="4800" spc="-15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65EFFB-77B3-4093-9EBE-5BC7CD9D594B}"/>
              </a:ext>
            </a:extLst>
          </p:cNvPr>
          <p:cNvGrpSpPr/>
          <p:nvPr/>
        </p:nvGrpSpPr>
        <p:grpSpPr>
          <a:xfrm>
            <a:off x="619016" y="2479047"/>
            <a:ext cx="2446041" cy="646331"/>
            <a:chOff x="294640" y="3596640"/>
            <a:chExt cx="2446041" cy="6463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775390-ADD7-4C94-8805-D912724ABC3E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1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461C2D-7B54-4B3D-9449-360FD650556A}"/>
                </a:ext>
              </a:extLst>
            </p:cNvPr>
            <p:cNvSpPr txBox="1"/>
            <p:nvPr/>
          </p:nvSpPr>
          <p:spPr>
            <a:xfrm>
              <a:off x="943394" y="3688973"/>
              <a:ext cx="17972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프로젝트 개요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CF3CB36-97CB-4B01-AB5E-847ED38F7969}"/>
              </a:ext>
            </a:extLst>
          </p:cNvPr>
          <p:cNvGrpSpPr/>
          <p:nvPr/>
        </p:nvGrpSpPr>
        <p:grpSpPr>
          <a:xfrm>
            <a:off x="619016" y="3264363"/>
            <a:ext cx="2577487" cy="646331"/>
            <a:chOff x="294640" y="3596640"/>
            <a:chExt cx="2577487" cy="64633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33E10E-6802-4565-A9E8-5457EEEB6662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2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C73533-A9D9-4EEB-A800-80F0AD62009F}"/>
                </a:ext>
              </a:extLst>
            </p:cNvPr>
            <p:cNvSpPr txBox="1"/>
            <p:nvPr/>
          </p:nvSpPr>
          <p:spPr>
            <a:xfrm>
              <a:off x="943394" y="3688973"/>
              <a:ext cx="1928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팀 구성 및 역할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0D1E44C-6008-4F6E-880B-4E8105F0CF77}"/>
              </a:ext>
            </a:extLst>
          </p:cNvPr>
          <p:cNvGrpSpPr/>
          <p:nvPr/>
        </p:nvGrpSpPr>
        <p:grpSpPr>
          <a:xfrm>
            <a:off x="619016" y="4064193"/>
            <a:ext cx="2959002" cy="646331"/>
            <a:chOff x="294640" y="3596640"/>
            <a:chExt cx="2959002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C6CD2E-3CC1-4835-B282-AE92CEFFFE97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3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245155-BF92-4471-AC62-A87A47A31390}"/>
                </a:ext>
              </a:extLst>
            </p:cNvPr>
            <p:cNvSpPr txBox="1"/>
            <p:nvPr/>
          </p:nvSpPr>
          <p:spPr>
            <a:xfrm>
              <a:off x="943394" y="3688973"/>
              <a:ext cx="2310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프로젝트 수행절차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0BE6E09-18DE-48C0-B3B9-D0997DF57C9D}"/>
              </a:ext>
            </a:extLst>
          </p:cNvPr>
          <p:cNvGrpSpPr/>
          <p:nvPr/>
        </p:nvGrpSpPr>
        <p:grpSpPr>
          <a:xfrm>
            <a:off x="619016" y="4835964"/>
            <a:ext cx="2952590" cy="646331"/>
            <a:chOff x="294640" y="3596640"/>
            <a:chExt cx="2952590" cy="64633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01913AE-317E-48C4-97BA-CCDDDDCE7AF2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4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8885F6-B1E2-4B28-AFE0-E0A3CB8E6835}"/>
                </a:ext>
              </a:extLst>
            </p:cNvPr>
            <p:cNvSpPr txBox="1"/>
            <p:nvPr/>
          </p:nvSpPr>
          <p:spPr>
            <a:xfrm>
              <a:off x="943394" y="3688973"/>
              <a:ext cx="2303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프로젝트 수행결과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AF0827B-EB7C-4A0D-9B38-8A4A18519287}"/>
              </a:ext>
            </a:extLst>
          </p:cNvPr>
          <p:cNvGrpSpPr/>
          <p:nvPr/>
        </p:nvGrpSpPr>
        <p:grpSpPr>
          <a:xfrm>
            <a:off x="619016" y="5635794"/>
            <a:ext cx="3747679" cy="646331"/>
            <a:chOff x="294640" y="3596640"/>
            <a:chExt cx="3747679" cy="6463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0860A9C-7E0F-4653-8CFE-AEC906931C69}"/>
                </a:ext>
              </a:extLst>
            </p:cNvPr>
            <p:cNvSpPr txBox="1"/>
            <p:nvPr/>
          </p:nvSpPr>
          <p:spPr>
            <a:xfrm>
              <a:off x="294640" y="3596640"/>
              <a:ext cx="4491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5</a:t>
              </a:r>
              <a:endParaRPr lang="ko-KR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AF0B511-29F7-40EB-9319-E984767EAB70}"/>
                </a:ext>
              </a:extLst>
            </p:cNvPr>
            <p:cNvSpPr txBox="1"/>
            <p:nvPr/>
          </p:nvSpPr>
          <p:spPr>
            <a:xfrm>
              <a:off x="943394" y="3688973"/>
              <a:ext cx="30989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spc="-150" dirty="0">
                  <a:solidFill>
                    <a:srgbClr val="393939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자체 평가 의견 및 느낀 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3296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마조렐 블루, 일렉트릭 블루, 코발트 블루이(가) 표시된 사진&#10;&#10;자동 생성된 설명">
            <a:extLst>
              <a:ext uri="{FF2B5EF4-FFF2-40B4-BE49-F238E27FC236}">
                <a16:creationId xmlns:a16="http://schemas.microsoft.com/office/drawing/2014/main" id="{7ADFA4BD-E57A-2B06-8A5F-55D8B28235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B9F250-F66D-AB0D-E27D-6338806D5D2B}"/>
              </a:ext>
            </a:extLst>
          </p:cNvPr>
          <p:cNvSpPr txBox="1"/>
          <p:nvPr/>
        </p:nvSpPr>
        <p:spPr>
          <a:xfrm>
            <a:off x="5532192" y="1098393"/>
            <a:ext cx="1127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1</a:t>
            </a:r>
            <a:endParaRPr lang="ko-KR" altLang="en-US" sz="24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F1AF2-BD8F-FF7A-350F-9429F4EB3DCC}"/>
              </a:ext>
            </a:extLst>
          </p:cNvPr>
          <p:cNvSpPr txBox="1"/>
          <p:nvPr/>
        </p:nvSpPr>
        <p:spPr>
          <a:xfrm>
            <a:off x="4256394" y="1732883"/>
            <a:ext cx="36792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274334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19922" y="482342"/>
            <a:ext cx="737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1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178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개요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7F89866-63E8-B019-ACCA-17A42A4E1DAB}"/>
              </a:ext>
            </a:extLst>
          </p:cNvPr>
          <p:cNvSpPr/>
          <p:nvPr/>
        </p:nvSpPr>
        <p:spPr>
          <a:xfrm>
            <a:off x="633997" y="2979886"/>
            <a:ext cx="2882900" cy="3087082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C9AC572-EEB6-BC24-47AD-47F8A0A5EBDE}"/>
              </a:ext>
            </a:extLst>
          </p:cNvPr>
          <p:cNvSpPr/>
          <p:nvPr/>
        </p:nvSpPr>
        <p:spPr>
          <a:xfrm>
            <a:off x="8650569" y="2984742"/>
            <a:ext cx="2969931" cy="3082225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3BB42A-CA3E-C693-B077-F578583A2A68}"/>
              </a:ext>
            </a:extLst>
          </p:cNvPr>
          <p:cNvSpPr/>
          <p:nvPr/>
        </p:nvSpPr>
        <p:spPr>
          <a:xfrm>
            <a:off x="3965406" y="2979886"/>
            <a:ext cx="4261187" cy="3087082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9ABE4D7-EB7C-C7E7-AD93-8D056229F97F}"/>
              </a:ext>
            </a:extLst>
          </p:cNvPr>
          <p:cNvCxnSpPr>
            <a:cxnSpLocks/>
          </p:cNvCxnSpPr>
          <p:nvPr/>
        </p:nvCxnSpPr>
        <p:spPr>
          <a:xfrm>
            <a:off x="3143730" y="4181256"/>
            <a:ext cx="1181316" cy="0"/>
          </a:xfrm>
          <a:prstGeom prst="straightConnector1">
            <a:avLst/>
          </a:prstGeom>
          <a:ln w="44450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원통형 13">
            <a:extLst>
              <a:ext uri="{FF2B5EF4-FFF2-40B4-BE49-F238E27FC236}">
                <a16:creationId xmlns:a16="http://schemas.microsoft.com/office/drawing/2014/main" id="{DEB537C2-9DCA-A08B-0435-DFA17255587F}"/>
              </a:ext>
            </a:extLst>
          </p:cNvPr>
          <p:cNvSpPr/>
          <p:nvPr/>
        </p:nvSpPr>
        <p:spPr>
          <a:xfrm>
            <a:off x="5068761" y="3550038"/>
            <a:ext cx="2054475" cy="973389"/>
          </a:xfrm>
          <a:prstGeom prst="can">
            <a:avLst>
              <a:gd name="adj" fmla="val 3465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A507F-AA1D-1E90-3C26-68EB0AA7F76F}"/>
              </a:ext>
            </a:extLst>
          </p:cNvPr>
          <p:cNvSpPr txBox="1"/>
          <p:nvPr/>
        </p:nvSpPr>
        <p:spPr>
          <a:xfrm>
            <a:off x="5123709" y="4006509"/>
            <a:ext cx="1925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공공데이터 포털 </a:t>
            </a:r>
            <a:r>
              <a:rPr lang="en-US" altLang="ko-KR" sz="16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API</a:t>
            </a:r>
            <a:endParaRPr lang="ko-KR" altLang="en-US" sz="1600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824944" y="4844207"/>
            <a:ext cx="25010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공공데이터 포털</a:t>
            </a:r>
            <a:endParaRPr lang="en-US" altLang="ko-KR" sz="16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dirty="0" err="1">
                <a:latin typeface="a타이틀고딕2" panose="02020600000000000000" pitchFamily="18" charset="-127"/>
                <a:ea typeface="a타이틀고딕2" panose="02020600000000000000" pitchFamily="18" charset="-127"/>
              </a:rPr>
              <a:t>소방청</a:t>
            </a:r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 국가화재정보 데이터</a:t>
            </a:r>
            <a:endParaRPr lang="en-US" altLang="ko-KR" sz="16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9283377" y="4844207"/>
            <a:ext cx="1704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화재발생 모니터링</a:t>
            </a:r>
            <a:endParaRPr lang="en-US" altLang="ko-KR" sz="16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시스템 구축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897773-FB44-4D16-90CC-DFE700E47F11}"/>
              </a:ext>
            </a:extLst>
          </p:cNvPr>
          <p:cNvSpPr txBox="1"/>
          <p:nvPr/>
        </p:nvSpPr>
        <p:spPr>
          <a:xfrm>
            <a:off x="2981038" y="1352079"/>
            <a:ext cx="6199134" cy="1133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fontAlgn="base" latinLnBrk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kern="0" spc="-130" dirty="0">
                <a:solidFill>
                  <a:srgbClr val="44546A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화재발생 모니터링 시스템 구축</a:t>
            </a:r>
            <a:r>
              <a:rPr lang="ko-KR" altLang="en-US" sz="3200" kern="0" spc="-130" dirty="0">
                <a:solidFill>
                  <a:srgbClr val="000000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을 위한</a:t>
            </a:r>
            <a:endParaRPr lang="en-US" altLang="ko-KR" sz="3200" kern="0" spc="-130" dirty="0">
              <a:solidFill>
                <a:srgbClr val="000000"/>
              </a:solidFill>
              <a:effectLst/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  <a:p>
            <a:pPr marL="0" marR="0" indent="0" algn="ctr" fontAlgn="base" latinLnBrk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3200" kern="0" spc="-130" dirty="0" err="1">
                <a:solidFill>
                  <a:srgbClr val="757575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소방청</a:t>
            </a:r>
            <a:r>
              <a:rPr lang="ko-KR" altLang="en-US" sz="3200" kern="0" spc="-130" dirty="0">
                <a:solidFill>
                  <a:srgbClr val="757575"/>
                </a:solidFill>
                <a:effectLst/>
                <a:latin typeface="a타이틀고딕3" panose="02020600000000000000" pitchFamily="18" charset="-127"/>
                <a:ea typeface="a타이틀고딕3" panose="02020600000000000000" pitchFamily="18" charset="-127"/>
              </a:rPr>
              <a:t> 화재정보 데이터수집 및 가공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55410B-98D3-4306-870C-C7429F626BB0}"/>
              </a:ext>
            </a:extLst>
          </p:cNvPr>
          <p:cNvSpPr txBox="1"/>
          <p:nvPr/>
        </p:nvSpPr>
        <p:spPr>
          <a:xfrm>
            <a:off x="2553302" y="707180"/>
            <a:ext cx="9863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6000" kern="0" spc="-150" dirty="0">
                <a:solidFill>
                  <a:schemeClr val="bg1">
                    <a:lumMod val="50000"/>
                  </a:schemeClr>
                </a:solidFill>
                <a:effectLst/>
                <a:latin typeface="a드림고딕2" panose="02020600000000000000" pitchFamily="18" charset="-127"/>
                <a:ea typeface="a드림고딕2" panose="02020600000000000000" pitchFamily="18" charset="-127"/>
              </a:rPr>
              <a:t>“</a:t>
            </a:r>
            <a:endParaRPr lang="ko-KR" altLang="en-US" sz="6000" kern="0" spc="-150" dirty="0">
              <a:solidFill>
                <a:schemeClr val="bg1">
                  <a:lumMod val="50000"/>
                </a:schemeClr>
              </a:solidFill>
              <a:effectLst/>
              <a:latin typeface="a드림고딕2" panose="02020600000000000000" pitchFamily="18" charset="-127"/>
              <a:ea typeface="a드림고딕2" panose="02020600000000000000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B73852-E32F-4BD6-8D61-5D579E12722C}"/>
              </a:ext>
            </a:extLst>
          </p:cNvPr>
          <p:cNvSpPr txBox="1"/>
          <p:nvPr/>
        </p:nvSpPr>
        <p:spPr>
          <a:xfrm>
            <a:off x="8923696" y="1918772"/>
            <a:ext cx="9863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6000" kern="0" spc="-150" dirty="0">
                <a:solidFill>
                  <a:schemeClr val="bg1">
                    <a:lumMod val="50000"/>
                  </a:schemeClr>
                </a:solidFill>
                <a:latin typeface="a드림고딕2" panose="02020600000000000000" pitchFamily="18" charset="-127"/>
                <a:ea typeface="a드림고딕2" panose="02020600000000000000" pitchFamily="18" charset="-127"/>
              </a:rPr>
              <a:t>”</a:t>
            </a:r>
            <a:endParaRPr lang="ko-KR" altLang="en-US" sz="6000" kern="0" spc="-150" dirty="0">
              <a:solidFill>
                <a:schemeClr val="bg1">
                  <a:lumMod val="50000"/>
                </a:schemeClr>
              </a:solidFill>
              <a:effectLst/>
              <a:latin typeface="a드림고딕2" panose="02020600000000000000" pitchFamily="18" charset="-127"/>
              <a:ea typeface="a드림고딕2" panose="02020600000000000000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4E61F8-3A43-433A-A5E4-1BA4F5584233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B42B18-7A9D-4BAF-A0C7-F5D0072665EF}"/>
              </a:ext>
            </a:extLst>
          </p:cNvPr>
          <p:cNvSpPr txBox="1"/>
          <p:nvPr/>
        </p:nvSpPr>
        <p:spPr>
          <a:xfrm>
            <a:off x="4298051" y="4706268"/>
            <a:ext cx="35990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국가화재정보 데이터 현황 및</a:t>
            </a:r>
            <a:r>
              <a:rPr lang="en-US" altLang="ko-KR" sz="16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rPr>
              <a:t>발생요인 등</a:t>
            </a:r>
            <a:endParaRPr lang="en-US" altLang="ko-KR" sz="1600" kern="0" dirty="0">
              <a:solidFill>
                <a:srgbClr val="000000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kern="0" spc="0" dirty="0">
                <a:solidFill>
                  <a:srgbClr val="000000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요소 간 연관성 파악을 통해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kern="0" spc="0" dirty="0">
                <a:solidFill>
                  <a:srgbClr val="000000"/>
                </a:solidFill>
                <a:effectLst/>
                <a:latin typeface="a타이틀고딕2" panose="02020600000000000000" pitchFamily="18" charset="-127"/>
                <a:ea typeface="a타이틀고딕2" panose="02020600000000000000" pitchFamily="18" charset="-127"/>
              </a:rPr>
              <a:t>실효성 있는 화재정보 데이터 제시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E605ED-EFA8-4B8E-9E88-41812FE34A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92" y="3563094"/>
            <a:ext cx="1169981" cy="1169981"/>
          </a:xfrm>
          <a:prstGeom prst="rect">
            <a:avLst/>
          </a:prstGeom>
        </p:spPr>
      </p:pic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2AE7831-30A1-4C14-A4A1-9809769E0811}"/>
              </a:ext>
            </a:extLst>
          </p:cNvPr>
          <p:cNvCxnSpPr>
            <a:cxnSpLocks/>
          </p:cNvCxnSpPr>
          <p:nvPr/>
        </p:nvCxnSpPr>
        <p:spPr>
          <a:xfrm>
            <a:off x="7897113" y="4181256"/>
            <a:ext cx="1181316" cy="0"/>
          </a:xfrm>
          <a:prstGeom prst="straightConnector1">
            <a:avLst/>
          </a:prstGeom>
          <a:ln w="44450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481B2C0-561C-410E-9A92-001C4E6DF3BF}"/>
              </a:ext>
            </a:extLst>
          </p:cNvPr>
          <p:cNvSpPr txBox="1"/>
          <p:nvPr/>
        </p:nvSpPr>
        <p:spPr>
          <a:xfrm>
            <a:off x="1359209" y="5499165"/>
            <a:ext cx="1337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i="1" dirty="0">
                <a:solidFill>
                  <a:srgbClr val="3F668F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 </a:t>
            </a:r>
            <a:r>
              <a:rPr lang="ko-KR" altLang="en-US" sz="1200" i="1" dirty="0">
                <a:solidFill>
                  <a:srgbClr val="3F668F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현재 진행 단계 </a:t>
            </a:r>
            <a:r>
              <a:rPr lang="en-US" altLang="ko-KR" sz="1200" i="1" dirty="0">
                <a:solidFill>
                  <a:srgbClr val="3F668F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*</a:t>
            </a:r>
            <a:endParaRPr lang="ko-KR" altLang="en-US" sz="1200" i="1" dirty="0">
              <a:solidFill>
                <a:srgbClr val="3F668F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C64D80-E715-4506-B0F9-F45DE34C5F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920" y="3677851"/>
            <a:ext cx="1071226" cy="107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6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그래픽, 포스터이(가) 표시된 사진&#10;&#10;자동 생성된 설명">
            <a:extLst>
              <a:ext uri="{FF2B5EF4-FFF2-40B4-BE49-F238E27FC236}">
                <a16:creationId xmlns:a16="http://schemas.microsoft.com/office/drawing/2014/main" id="{1F30EFCE-6676-5936-2E15-75F7EBAB78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D661985-C354-FEF0-4511-F51619C20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27B1E0-A31D-D9E3-7FF6-A1FCBAAF597D}"/>
              </a:ext>
            </a:extLst>
          </p:cNvPr>
          <p:cNvGrpSpPr/>
          <p:nvPr/>
        </p:nvGrpSpPr>
        <p:grpSpPr>
          <a:xfrm>
            <a:off x="4086475" y="4510666"/>
            <a:ext cx="4019049" cy="1321690"/>
            <a:chOff x="4086475" y="1098393"/>
            <a:chExt cx="4019049" cy="13216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F03CB4-ED7C-9AAA-FC89-594C06D0F323}"/>
                </a:ext>
              </a:extLst>
            </p:cNvPr>
            <p:cNvSpPr txBox="1"/>
            <p:nvPr/>
          </p:nvSpPr>
          <p:spPr>
            <a:xfrm>
              <a:off x="5504941" y="1098393"/>
              <a:ext cx="11821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Part 2</a:t>
              </a:r>
              <a:endParaRPr lang="ko-KR" altLang="en-US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C6D611-0D22-015E-0AD1-E2398FD98E6E}"/>
                </a:ext>
              </a:extLst>
            </p:cNvPr>
            <p:cNvSpPr txBox="1"/>
            <p:nvPr/>
          </p:nvSpPr>
          <p:spPr>
            <a:xfrm>
              <a:off x="4086475" y="1589086"/>
              <a:ext cx="40190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팀 구성 및 역할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4308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4693" y="482342"/>
            <a:ext cx="767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2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473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팀 구성 및 역할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A5307A-7061-2C99-EFD9-9DB49BFE7DF7}"/>
              </a:ext>
            </a:extLst>
          </p:cNvPr>
          <p:cNvSpPr txBox="1"/>
          <p:nvPr/>
        </p:nvSpPr>
        <p:spPr>
          <a:xfrm>
            <a:off x="4271616" y="2073673"/>
            <a:ext cx="3632726" cy="1176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 err="1">
                <a:solidFill>
                  <a:srgbClr val="44546A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삼</a:t>
            </a:r>
            <a:r>
              <a:rPr lang="ko-KR" altLang="en-US" sz="6000" b="1" dirty="0" err="1">
                <a:latin typeface="a타이틀고딕2" panose="02020600000000000000" pitchFamily="18" charset="-127"/>
                <a:ea typeface="a타이틀고딕2" panose="02020600000000000000" pitchFamily="18" charset="-127"/>
              </a:rPr>
              <a:t>항연산자</a:t>
            </a:r>
            <a:endParaRPr lang="ko-KR" altLang="en-US" sz="6000" b="1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D119E-B44E-299A-74AF-55970C1B59DE}"/>
              </a:ext>
            </a:extLst>
          </p:cNvPr>
          <p:cNvSpPr txBox="1"/>
          <p:nvPr/>
        </p:nvSpPr>
        <p:spPr>
          <a:xfrm>
            <a:off x="3074173" y="3183898"/>
            <a:ext cx="6027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하나의 조건과 두개의 결과값을 가지는 프로그래밍 언어 연산자</a:t>
            </a:r>
          </a:p>
        </p:txBody>
      </p:sp>
      <p:sp>
        <p:nvSpPr>
          <p:cNvPr id="4" name="양쪽 대괄호 3">
            <a:extLst>
              <a:ext uri="{FF2B5EF4-FFF2-40B4-BE49-F238E27FC236}">
                <a16:creationId xmlns:a16="http://schemas.microsoft.com/office/drawing/2014/main" id="{ACC0AEC0-C850-010C-7B50-C9CD911F7C5D}"/>
              </a:ext>
            </a:extLst>
          </p:cNvPr>
          <p:cNvSpPr/>
          <p:nvPr/>
        </p:nvSpPr>
        <p:spPr>
          <a:xfrm>
            <a:off x="1155031" y="1884178"/>
            <a:ext cx="9881937" cy="3761880"/>
          </a:xfrm>
          <a:prstGeom prst="bracketPair">
            <a:avLst>
              <a:gd name="adj" fmla="val 125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5BC2F90-7E2F-456F-9EF4-396F66AFE9BB}"/>
              </a:ext>
            </a:extLst>
          </p:cNvPr>
          <p:cNvSpPr/>
          <p:nvPr/>
        </p:nvSpPr>
        <p:spPr>
          <a:xfrm>
            <a:off x="6659659" y="3861114"/>
            <a:ext cx="1840750" cy="1840750"/>
          </a:xfrm>
          <a:prstGeom prst="ellipse">
            <a:avLst/>
          </a:prstGeom>
          <a:solidFill>
            <a:schemeClr val="tx2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B8C3054-923A-4B7C-BF4F-F3465B53094F}"/>
              </a:ext>
            </a:extLst>
          </p:cNvPr>
          <p:cNvSpPr/>
          <p:nvPr/>
        </p:nvSpPr>
        <p:spPr>
          <a:xfrm>
            <a:off x="3741882" y="3858848"/>
            <a:ext cx="1840750" cy="1840750"/>
          </a:xfrm>
          <a:prstGeom prst="ellipse">
            <a:avLst/>
          </a:prstGeom>
          <a:solidFill>
            <a:schemeClr val="accent4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2658810-18D1-4D8E-B1C9-C066852776BA}"/>
              </a:ext>
            </a:extLst>
          </p:cNvPr>
          <p:cNvSpPr/>
          <p:nvPr/>
        </p:nvSpPr>
        <p:spPr>
          <a:xfrm>
            <a:off x="5191777" y="3858848"/>
            <a:ext cx="1840750" cy="1840750"/>
          </a:xfrm>
          <a:prstGeom prst="ellipse">
            <a:avLst/>
          </a:prstGeom>
          <a:solidFill>
            <a:srgbClr val="44546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D8A2A2-627B-47C5-A528-D8B56E840A4F}"/>
              </a:ext>
            </a:extLst>
          </p:cNvPr>
          <p:cNvSpPr txBox="1"/>
          <p:nvPr/>
        </p:nvSpPr>
        <p:spPr>
          <a:xfrm flipH="1">
            <a:off x="3842221" y="4544629"/>
            <a:ext cx="1548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간결성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DF1BC-3A52-4A7E-BCB8-0A1E04316BD5}"/>
              </a:ext>
            </a:extLst>
          </p:cNvPr>
          <p:cNvSpPr txBox="1"/>
          <p:nvPr/>
        </p:nvSpPr>
        <p:spPr>
          <a:xfrm flipH="1">
            <a:off x="6833669" y="4554927"/>
            <a:ext cx="1548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효율성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F1DA18-6465-4356-B3E2-00E83A53BF56}"/>
              </a:ext>
            </a:extLst>
          </p:cNvPr>
          <p:cNvSpPr txBox="1"/>
          <p:nvPr/>
        </p:nvSpPr>
        <p:spPr>
          <a:xfrm flipH="1">
            <a:off x="5335387" y="4270696"/>
            <a:ext cx="1548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목표</a:t>
            </a:r>
            <a:endParaRPr lang="en-US" altLang="ko-KR" sz="2800" dirty="0">
              <a:solidFill>
                <a:schemeClr val="bg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달성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FAA50A-B79C-4841-94B8-E7CDEBE27716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777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0B0D2A-2772-ABB8-6732-1A58C7B460B7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054E7-8651-B52F-0B12-C64EA7A65B60}"/>
              </a:ext>
            </a:extLst>
          </p:cNvPr>
          <p:cNvSpPr txBox="1"/>
          <p:nvPr/>
        </p:nvSpPr>
        <p:spPr>
          <a:xfrm>
            <a:off x="604693" y="482342"/>
            <a:ext cx="767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2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EC20A-3B6F-FB63-1AE5-5BC996B8446E}"/>
              </a:ext>
            </a:extLst>
          </p:cNvPr>
          <p:cNvSpPr txBox="1"/>
          <p:nvPr/>
        </p:nvSpPr>
        <p:spPr>
          <a:xfrm>
            <a:off x="1763806" y="436175"/>
            <a:ext cx="2473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팀 구성 및 역할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BC62D4-4D52-D6E8-596B-C2BC260A4880}"/>
              </a:ext>
            </a:extLst>
          </p:cNvPr>
          <p:cNvSpPr/>
          <p:nvPr/>
        </p:nvSpPr>
        <p:spPr>
          <a:xfrm>
            <a:off x="773024" y="1972527"/>
            <a:ext cx="2342322" cy="2700632"/>
          </a:xfrm>
          <a:prstGeom prst="rect">
            <a:avLst/>
          </a:prstGeom>
          <a:solidFill>
            <a:srgbClr val="FFE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C9F01A-EE3B-2440-0E36-9F19FC41046B}"/>
              </a:ext>
            </a:extLst>
          </p:cNvPr>
          <p:cNvSpPr/>
          <p:nvPr/>
        </p:nvSpPr>
        <p:spPr>
          <a:xfrm>
            <a:off x="3541370" y="1972527"/>
            <a:ext cx="2342322" cy="27006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B0F4B3-E34A-200E-618F-95B07640DA81}"/>
              </a:ext>
            </a:extLst>
          </p:cNvPr>
          <p:cNvSpPr/>
          <p:nvPr/>
        </p:nvSpPr>
        <p:spPr>
          <a:xfrm>
            <a:off x="6333726" y="1972527"/>
            <a:ext cx="2342322" cy="2700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259D3-116E-09D9-AA5F-59E0ACDC8BB9}"/>
              </a:ext>
            </a:extLst>
          </p:cNvPr>
          <p:cNvSpPr txBox="1"/>
          <p:nvPr/>
        </p:nvSpPr>
        <p:spPr>
          <a:xfrm>
            <a:off x="684953" y="5107261"/>
            <a:ext cx="254468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시도별 </a:t>
            </a:r>
            <a:r>
              <a:rPr lang="ko-KR" altLang="en-US" sz="1300" kern="0" dirty="0" err="1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화재인명</a:t>
            </a:r>
            <a:r>
              <a:rPr lang="ko-KR" altLang="en-US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 피해현황</a:t>
            </a:r>
            <a:r>
              <a:rPr lang="en-US" altLang="ko-KR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시도별 화재재산 피해현황</a:t>
            </a:r>
            <a:endParaRPr lang="en-US" altLang="ko-KR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 수집 및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산출물 작성</a:t>
            </a:r>
            <a:endParaRPr lang="ko-KR" altLang="en-US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610048-58CE-70E8-AD2C-E037614A447A}"/>
              </a:ext>
            </a:extLst>
          </p:cNvPr>
          <p:cNvCxnSpPr>
            <a:cxnSpLocks/>
          </p:cNvCxnSpPr>
          <p:nvPr/>
        </p:nvCxnSpPr>
        <p:spPr>
          <a:xfrm>
            <a:off x="1300268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EEE02AA-C3A8-AAF5-6A08-9B1C64CD17B2}"/>
              </a:ext>
            </a:extLst>
          </p:cNvPr>
          <p:cNvCxnSpPr>
            <a:cxnSpLocks/>
          </p:cNvCxnSpPr>
          <p:nvPr/>
        </p:nvCxnSpPr>
        <p:spPr>
          <a:xfrm>
            <a:off x="4100380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3652614-E065-8E96-7CCB-3FAE91F70A7B}"/>
              </a:ext>
            </a:extLst>
          </p:cNvPr>
          <p:cNvCxnSpPr>
            <a:cxnSpLocks/>
          </p:cNvCxnSpPr>
          <p:nvPr/>
        </p:nvCxnSpPr>
        <p:spPr>
          <a:xfrm>
            <a:off x="6892735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03020D-8090-4B8D-A210-858ED5DE46B2}"/>
              </a:ext>
            </a:extLst>
          </p:cNvPr>
          <p:cNvSpPr/>
          <p:nvPr/>
        </p:nvSpPr>
        <p:spPr>
          <a:xfrm>
            <a:off x="9103233" y="1972527"/>
            <a:ext cx="2342322" cy="27006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4546A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A3C6DBD-958C-4C07-A1B4-4FBAB2D5D881}"/>
              </a:ext>
            </a:extLst>
          </p:cNvPr>
          <p:cNvCxnSpPr>
            <a:cxnSpLocks/>
          </p:cNvCxnSpPr>
          <p:nvPr/>
        </p:nvCxnSpPr>
        <p:spPr>
          <a:xfrm>
            <a:off x="9662243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D10433C-4CFC-4ABE-A330-D36F2D19634E}"/>
              </a:ext>
            </a:extLst>
          </p:cNvPr>
          <p:cNvSpPr txBox="1"/>
          <p:nvPr/>
        </p:nvSpPr>
        <p:spPr>
          <a:xfrm>
            <a:off x="708657" y="1512774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01.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F81FA-296D-4007-87CC-3B264FD4019C}"/>
              </a:ext>
            </a:extLst>
          </p:cNvPr>
          <p:cNvSpPr txBox="1"/>
          <p:nvPr/>
        </p:nvSpPr>
        <p:spPr>
          <a:xfrm>
            <a:off x="3541370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02.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A958F6-EB0B-4FA2-97EB-95442E353F6E}"/>
              </a:ext>
            </a:extLst>
          </p:cNvPr>
          <p:cNvSpPr txBox="1"/>
          <p:nvPr/>
        </p:nvSpPr>
        <p:spPr>
          <a:xfrm>
            <a:off x="6374083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199CCF-E8AD-4151-B734-E82BF5579CBE}"/>
              </a:ext>
            </a:extLst>
          </p:cNvPr>
          <p:cNvSpPr txBox="1"/>
          <p:nvPr/>
        </p:nvSpPr>
        <p:spPr>
          <a:xfrm>
            <a:off x="9059708" y="153554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04.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BDE07-8693-442A-B7DD-202E602687ED}"/>
              </a:ext>
            </a:extLst>
          </p:cNvPr>
          <p:cNvSpPr txBox="1"/>
          <p:nvPr/>
        </p:nvSpPr>
        <p:spPr>
          <a:xfrm>
            <a:off x="3475653" y="5107261"/>
            <a:ext cx="247375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화재장소별 화재현황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발화요인별 화재현황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 수집 및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PPT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제작</a:t>
            </a:r>
            <a:endParaRPr lang="ko-KR" altLang="en-US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9BB4A-4D0C-4F15-B462-C95672E75796}"/>
              </a:ext>
            </a:extLst>
          </p:cNvPr>
          <p:cNvSpPr txBox="1"/>
          <p:nvPr/>
        </p:nvSpPr>
        <p:spPr>
          <a:xfrm>
            <a:off x="6386416" y="5107953"/>
            <a:ext cx="234232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발화장소별 화재현황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최초 </a:t>
            </a:r>
            <a:r>
              <a:rPr lang="ko-KR" altLang="en-US" sz="1300" kern="0" dirty="0" err="1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착화물별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화재현황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 수집 및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기술팀장</a:t>
            </a:r>
            <a:endParaRPr lang="ko-KR" altLang="en-US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D43889-2D62-4D9B-93EB-8F1CC3483F1D}"/>
              </a:ext>
            </a:extLst>
          </p:cNvPr>
          <p:cNvSpPr txBox="1"/>
          <p:nvPr/>
        </p:nvSpPr>
        <p:spPr>
          <a:xfrm>
            <a:off x="8984163" y="5107953"/>
            <a:ext cx="25804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시도단위 화재발생현황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지역별 화재장소별 화재발생현황</a:t>
            </a:r>
            <a:endParaRPr lang="en-US" altLang="ko-KR" sz="1300" kern="0" dirty="0">
              <a:solidFill>
                <a:srgbClr val="000000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 수집 및 가공</a:t>
            </a:r>
            <a:r>
              <a:rPr lang="en-US" altLang="ko-KR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300" kern="0" dirty="0">
                <a:solidFill>
                  <a:srgbClr val="000000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발표</a:t>
            </a:r>
            <a:endParaRPr lang="ko-KR" altLang="en-US" sz="1300" kern="0" dirty="0">
              <a:solidFill>
                <a:srgbClr val="000000"/>
              </a:solidFill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endParaRPr lang="ko-KR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367ABD-0D97-48F3-A53E-D6FF82A75083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D0CAE5-7958-4F2B-8150-C85CD1EBEC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2165" y="2070178"/>
            <a:ext cx="2242254" cy="248011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52B8DA-E073-40E7-94E2-5348773743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99714" y="2401327"/>
            <a:ext cx="1923606" cy="179919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C898DDE-1CCD-426A-AC61-92033F7BFE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0405" y="2316208"/>
            <a:ext cx="1754777" cy="213228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2D2A57C-946E-49FC-8B6B-E6BD05F79F1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8969005">
            <a:off x="7102790" y="2418843"/>
            <a:ext cx="495579" cy="36589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D559529-1CCB-439B-AEC4-7A3467E2608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6036">
            <a:off x="6841117" y="2500034"/>
            <a:ext cx="1327537" cy="16988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72E47F-478A-4E43-9EF3-70843DAB8BA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8260">
            <a:off x="7664989" y="2180108"/>
            <a:ext cx="371543" cy="37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45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빛, 흑백이(가) 표시된 사진&#10;&#10;중간 신뢰도로 자동 생성된 설명">
            <a:extLst>
              <a:ext uri="{FF2B5EF4-FFF2-40B4-BE49-F238E27FC236}">
                <a16:creationId xmlns:a16="http://schemas.microsoft.com/office/drawing/2014/main" id="{56B385BE-4217-8E4C-6253-2F9845265C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76A196-331D-49EC-B02F-F04109364154}"/>
              </a:ext>
            </a:extLst>
          </p:cNvPr>
          <p:cNvSpPr txBox="1"/>
          <p:nvPr/>
        </p:nvSpPr>
        <p:spPr>
          <a:xfrm>
            <a:off x="5506544" y="1098393"/>
            <a:ext cx="1178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24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00E44-1B6F-4C89-891C-D4A7301FF3B0}"/>
              </a:ext>
            </a:extLst>
          </p:cNvPr>
          <p:cNvSpPr txBox="1"/>
          <p:nvPr/>
        </p:nvSpPr>
        <p:spPr>
          <a:xfrm>
            <a:off x="3807553" y="1655953"/>
            <a:ext cx="47820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수행절차</a:t>
            </a:r>
          </a:p>
        </p:txBody>
      </p:sp>
    </p:spTree>
    <p:extLst>
      <p:ext uri="{BB962C8B-B14F-4D97-AF65-F5344CB8AC3E}">
        <p14:creationId xmlns:p14="http://schemas.microsoft.com/office/powerpoint/2010/main" val="2464008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갈매기형 수장 5">
            <a:extLst>
              <a:ext uri="{FF2B5EF4-FFF2-40B4-BE49-F238E27FC236}">
                <a16:creationId xmlns:a16="http://schemas.microsoft.com/office/drawing/2014/main" id="{2E914986-1C9B-4FFE-BF31-0DB5FDE6489E}"/>
              </a:ext>
            </a:extLst>
          </p:cNvPr>
          <p:cNvSpPr/>
          <p:nvPr/>
        </p:nvSpPr>
        <p:spPr>
          <a:xfrm>
            <a:off x="-493485" y="3743893"/>
            <a:ext cx="4310868" cy="1000221"/>
          </a:xfrm>
          <a:prstGeom prst="chevron">
            <a:avLst/>
          </a:prstGeom>
          <a:solidFill>
            <a:srgbClr val="ABC2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4693" y="482342"/>
            <a:ext cx="767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2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92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수행절차</a:t>
            </a:r>
          </a:p>
        </p:txBody>
      </p:sp>
      <p:sp>
        <p:nvSpPr>
          <p:cNvPr id="2" name="갈매기형 수장 5">
            <a:extLst>
              <a:ext uri="{FF2B5EF4-FFF2-40B4-BE49-F238E27FC236}">
                <a16:creationId xmlns:a16="http://schemas.microsoft.com/office/drawing/2014/main" id="{11225834-322B-DEBA-1F9F-3497686DF346}"/>
              </a:ext>
            </a:extLst>
          </p:cNvPr>
          <p:cNvSpPr/>
          <p:nvPr/>
        </p:nvSpPr>
        <p:spPr>
          <a:xfrm>
            <a:off x="8026399" y="2477985"/>
            <a:ext cx="4673601" cy="1000221"/>
          </a:xfrm>
          <a:prstGeom prst="chevron">
            <a:avLst/>
          </a:prstGeom>
          <a:solidFill>
            <a:srgbClr val="727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5" name="갈매기형 수장 4">
            <a:extLst>
              <a:ext uri="{FF2B5EF4-FFF2-40B4-BE49-F238E27FC236}">
                <a16:creationId xmlns:a16="http://schemas.microsoft.com/office/drawing/2014/main" id="{B1F0468B-E2B6-F409-EC77-B8B70FB80379}"/>
              </a:ext>
            </a:extLst>
          </p:cNvPr>
          <p:cNvSpPr/>
          <p:nvPr/>
        </p:nvSpPr>
        <p:spPr>
          <a:xfrm>
            <a:off x="4119789" y="2477985"/>
            <a:ext cx="4269133" cy="1000221"/>
          </a:xfrm>
          <a:prstGeom prst="chevron">
            <a:avLst/>
          </a:prstGeom>
          <a:solidFill>
            <a:srgbClr val="ADA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6" name="오각형 3">
            <a:extLst>
              <a:ext uri="{FF2B5EF4-FFF2-40B4-BE49-F238E27FC236}">
                <a16:creationId xmlns:a16="http://schemas.microsoft.com/office/drawing/2014/main" id="{11E2263C-BF49-0316-00EC-3EB1A3DA496E}"/>
              </a:ext>
            </a:extLst>
          </p:cNvPr>
          <p:cNvSpPr/>
          <p:nvPr/>
        </p:nvSpPr>
        <p:spPr>
          <a:xfrm>
            <a:off x="-203199" y="2477985"/>
            <a:ext cx="4673600" cy="1000221"/>
          </a:xfrm>
          <a:prstGeom prst="homePlat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29FF88FE-513D-DC41-361A-4735EAA3942B}"/>
              </a:ext>
            </a:extLst>
          </p:cNvPr>
          <p:cNvSpPr/>
          <p:nvPr/>
        </p:nvSpPr>
        <p:spPr>
          <a:xfrm rot="16200000">
            <a:off x="5096649" y="3543517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437EA40D-FD35-B868-3018-8A8CB4814165}"/>
              </a:ext>
            </a:extLst>
          </p:cNvPr>
          <p:cNvSpPr/>
          <p:nvPr/>
        </p:nvSpPr>
        <p:spPr>
          <a:xfrm rot="5400000" flipV="1">
            <a:off x="5886057" y="560621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C5830E-8027-9A3D-4B78-4C5E872CD375}"/>
              </a:ext>
            </a:extLst>
          </p:cNvPr>
          <p:cNvSpPr/>
          <p:nvPr/>
        </p:nvSpPr>
        <p:spPr>
          <a:xfrm rot="5400000" flipV="1">
            <a:off x="10030905" y="560621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B804F-38F9-31BF-2834-B47F0D7343AE}"/>
              </a:ext>
            </a:extLst>
          </p:cNvPr>
          <p:cNvSpPr txBox="1"/>
          <p:nvPr/>
        </p:nvSpPr>
        <p:spPr>
          <a:xfrm>
            <a:off x="1304589" y="1538915"/>
            <a:ext cx="1614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03.13 – 03.14</a:t>
            </a:r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DE4324-77EA-6CA4-04B3-8115F68CE276}"/>
              </a:ext>
            </a:extLst>
          </p:cNvPr>
          <p:cNvSpPr txBox="1"/>
          <p:nvPr/>
        </p:nvSpPr>
        <p:spPr>
          <a:xfrm>
            <a:off x="9369855" y="1536063"/>
            <a:ext cx="1614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03.17 – 03.18</a:t>
            </a:r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DB5C24-F6CA-547C-2387-AFF918E2F41B}"/>
              </a:ext>
            </a:extLst>
          </p:cNvPr>
          <p:cNvSpPr txBox="1"/>
          <p:nvPr/>
        </p:nvSpPr>
        <p:spPr>
          <a:xfrm>
            <a:off x="4480118" y="5341014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03.22 – 03.26</a:t>
            </a:r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32495-24AB-C48C-6B08-DCF1B4881C09}"/>
              </a:ext>
            </a:extLst>
          </p:cNvPr>
          <p:cNvSpPr txBox="1"/>
          <p:nvPr/>
        </p:nvSpPr>
        <p:spPr>
          <a:xfrm>
            <a:off x="627894" y="2705172"/>
            <a:ext cx="3342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주제 선정</a:t>
            </a:r>
            <a:r>
              <a:rPr lang="en-US" altLang="ko-KR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·</a:t>
            </a:r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설계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21B65-3063-9C8A-0088-221CD816B8C1}"/>
              </a:ext>
            </a:extLst>
          </p:cNvPr>
          <p:cNvSpPr txBox="1"/>
          <p:nvPr/>
        </p:nvSpPr>
        <p:spPr>
          <a:xfrm>
            <a:off x="5181424" y="2705172"/>
            <a:ext cx="229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팀원별</a:t>
            </a:r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업무 분담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6F2B1B-5419-ECF4-958F-C3EB9D771D77}"/>
              </a:ext>
            </a:extLst>
          </p:cNvPr>
          <p:cNvSpPr txBox="1"/>
          <p:nvPr/>
        </p:nvSpPr>
        <p:spPr>
          <a:xfrm>
            <a:off x="9277024" y="2711862"/>
            <a:ext cx="163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검색</a:t>
            </a:r>
          </a:p>
        </p:txBody>
      </p: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A16FA92B-A0AC-4E0F-B396-350CAC0BE922}"/>
              </a:ext>
            </a:extLst>
          </p:cNvPr>
          <p:cNvSpPr/>
          <p:nvPr/>
        </p:nvSpPr>
        <p:spPr>
          <a:xfrm rot="5400000" flipV="1">
            <a:off x="1943871" y="560621"/>
            <a:ext cx="321466" cy="3152778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2877FE-2461-4536-BF86-A58CDE831EF4}"/>
              </a:ext>
            </a:extLst>
          </p:cNvPr>
          <p:cNvSpPr txBox="1"/>
          <p:nvPr/>
        </p:nvSpPr>
        <p:spPr>
          <a:xfrm>
            <a:off x="5242868" y="1538915"/>
            <a:ext cx="1614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03.15 – 03.16</a:t>
            </a:r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3" name="갈매기형 수장 5">
            <a:extLst>
              <a:ext uri="{FF2B5EF4-FFF2-40B4-BE49-F238E27FC236}">
                <a16:creationId xmlns:a16="http://schemas.microsoft.com/office/drawing/2014/main" id="{212FB48A-B622-4171-8757-62B7372D69AF}"/>
              </a:ext>
            </a:extLst>
          </p:cNvPr>
          <p:cNvSpPr/>
          <p:nvPr/>
        </p:nvSpPr>
        <p:spPr>
          <a:xfrm>
            <a:off x="7172445" y="3743894"/>
            <a:ext cx="4998687" cy="1000221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4" name="갈매기형 수장 4">
            <a:extLst>
              <a:ext uri="{FF2B5EF4-FFF2-40B4-BE49-F238E27FC236}">
                <a16:creationId xmlns:a16="http://schemas.microsoft.com/office/drawing/2014/main" id="{54574E02-B844-4530-A1D6-B464F54C4A29}"/>
              </a:ext>
            </a:extLst>
          </p:cNvPr>
          <p:cNvSpPr/>
          <p:nvPr/>
        </p:nvSpPr>
        <p:spPr>
          <a:xfrm>
            <a:off x="3481417" y="3743894"/>
            <a:ext cx="4021550" cy="1000221"/>
          </a:xfrm>
          <a:prstGeom prst="chevron">
            <a:avLst/>
          </a:prstGeom>
          <a:solidFill>
            <a:srgbClr val="637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045322-37AD-43DF-87C5-99A10AF48A54}"/>
              </a:ext>
            </a:extLst>
          </p:cNvPr>
          <p:cNvSpPr txBox="1"/>
          <p:nvPr/>
        </p:nvSpPr>
        <p:spPr>
          <a:xfrm>
            <a:off x="4811955" y="3971081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가공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0AF19B-EA1C-4FEB-94F4-771E2944EF05}"/>
              </a:ext>
            </a:extLst>
          </p:cNvPr>
          <p:cNvSpPr txBox="1"/>
          <p:nvPr/>
        </p:nvSpPr>
        <p:spPr>
          <a:xfrm>
            <a:off x="7833502" y="3977771"/>
            <a:ext cx="3861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결과 및 산출물 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CDF02E-4570-4319-9771-36089381771A}"/>
              </a:ext>
            </a:extLst>
          </p:cNvPr>
          <p:cNvSpPr txBox="1"/>
          <p:nvPr/>
        </p:nvSpPr>
        <p:spPr>
          <a:xfrm>
            <a:off x="902545" y="3977770"/>
            <a:ext cx="1641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데이터 수집</a:t>
            </a:r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BEF09A91-73EF-4DA5-A7BE-B76DE9DCAEB2}"/>
              </a:ext>
            </a:extLst>
          </p:cNvPr>
          <p:cNvSpPr/>
          <p:nvPr/>
        </p:nvSpPr>
        <p:spPr>
          <a:xfrm rot="16200000">
            <a:off x="1551510" y="3755120"/>
            <a:ext cx="302648" cy="2748390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5C001B-4EEA-4754-A5E6-EEC917A52657}"/>
              </a:ext>
            </a:extLst>
          </p:cNvPr>
          <p:cNvSpPr txBox="1"/>
          <p:nvPr/>
        </p:nvSpPr>
        <p:spPr>
          <a:xfrm>
            <a:off x="938106" y="5359832"/>
            <a:ext cx="1614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03.19 – 03.21</a:t>
            </a:r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2B11800E-61E7-43C2-96A0-2FED10C9DB91}"/>
              </a:ext>
            </a:extLst>
          </p:cNvPr>
          <p:cNvSpPr/>
          <p:nvPr/>
        </p:nvSpPr>
        <p:spPr>
          <a:xfrm rot="16200000">
            <a:off x="9361923" y="3239247"/>
            <a:ext cx="302648" cy="3780136"/>
          </a:xfrm>
          <a:prstGeom prst="leftBrace">
            <a:avLst>
              <a:gd name="adj1" fmla="val 5448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663B6C-DB58-4F42-BCDD-D0CD5EB75828}"/>
              </a:ext>
            </a:extLst>
          </p:cNvPr>
          <p:cNvSpPr txBox="1"/>
          <p:nvPr/>
        </p:nvSpPr>
        <p:spPr>
          <a:xfrm>
            <a:off x="8729367" y="5359832"/>
            <a:ext cx="1614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03.27 – 03.28</a:t>
            </a:r>
            <a:endParaRPr lang="ko-KR" altLang="en-US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5544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원, 스크린샷, 빛이(가) 표시된 사진&#10;&#10;자동 생성된 설명">
            <a:extLst>
              <a:ext uri="{FF2B5EF4-FFF2-40B4-BE49-F238E27FC236}">
                <a16:creationId xmlns:a16="http://schemas.microsoft.com/office/drawing/2014/main" id="{147AAC61-C6B4-0047-6EBB-0AD152A000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2AB5053-F0D3-150A-849F-236F9C4DB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051394-3D52-53A4-6FA3-B61CC3B64734}"/>
              </a:ext>
            </a:extLst>
          </p:cNvPr>
          <p:cNvGrpSpPr/>
          <p:nvPr/>
        </p:nvGrpSpPr>
        <p:grpSpPr>
          <a:xfrm>
            <a:off x="3807553" y="4510666"/>
            <a:ext cx="4770858" cy="1388557"/>
            <a:chOff x="3807553" y="1098393"/>
            <a:chExt cx="4770858" cy="13885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130852-040B-BB78-BE0D-3DC68632B8F8}"/>
                </a:ext>
              </a:extLst>
            </p:cNvPr>
            <p:cNvSpPr txBox="1"/>
            <p:nvPr/>
          </p:nvSpPr>
          <p:spPr>
            <a:xfrm>
              <a:off x="5498528" y="1098393"/>
              <a:ext cx="11949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a로케트" panose="02020600000000000000" pitchFamily="18" charset="-127"/>
                  <a:ea typeface="a로케트" panose="02020600000000000000" pitchFamily="18" charset="-127"/>
                </a:rPr>
                <a:t>Part 4</a:t>
              </a:r>
              <a:endParaRPr lang="ko-KR" altLang="en-US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8687F3-4141-96B7-6737-9FE7AE5EA509}"/>
                </a:ext>
              </a:extLst>
            </p:cNvPr>
            <p:cNvSpPr txBox="1"/>
            <p:nvPr/>
          </p:nvSpPr>
          <p:spPr>
            <a:xfrm>
              <a:off x="3807553" y="1655953"/>
              <a:ext cx="47708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dirty="0">
                  <a:solidFill>
                    <a:schemeClr val="bg1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프로젝트 수행결과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7129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54A076-5959-435A-984F-7922B5DBC2F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39687120-5641-44D0-8501-1D8B8AD15F45}"/>
              </a:ext>
            </a:extLst>
          </p:cNvPr>
          <p:cNvSpPr/>
          <p:nvPr/>
        </p:nvSpPr>
        <p:spPr>
          <a:xfrm>
            <a:off x="6619875" y="1469518"/>
            <a:ext cx="4469039" cy="2054732"/>
          </a:xfrm>
          <a:prstGeom prst="snip1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7B14F7-EC30-4716-A170-950B92C9DC62}"/>
              </a:ext>
            </a:extLst>
          </p:cNvPr>
          <p:cNvSpPr txBox="1"/>
          <p:nvPr/>
        </p:nvSpPr>
        <p:spPr>
          <a:xfrm>
            <a:off x="817843" y="1559983"/>
            <a:ext cx="1981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수집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95030E-F088-44B0-A401-1E88F7F5C4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272" y="2328985"/>
            <a:ext cx="1590675" cy="683493"/>
          </a:xfrm>
          <a:prstGeom prst="rect">
            <a:avLst/>
          </a:prstGeom>
        </p:spPr>
      </p:pic>
      <p:pic>
        <p:nvPicPr>
          <p:cNvPr id="17" name="Picture 2" descr="C:\Users\qkrwn\OneDrive\바탕 화면\티스토리 logo\spring\pngwing.com.png">
            <a:extLst>
              <a:ext uri="{FF2B5EF4-FFF2-40B4-BE49-F238E27FC236}">
                <a16:creationId xmlns:a16="http://schemas.microsoft.com/office/drawing/2014/main" id="{69C0B1B1-4048-44F0-A171-564621D80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48400" y="2317235"/>
            <a:ext cx="683972" cy="683972"/>
          </a:xfrm>
          <a:prstGeom prst="rect">
            <a:avLst/>
          </a:prstGeom>
          <a:noFill/>
        </p:spPr>
      </p:pic>
      <p:pic>
        <p:nvPicPr>
          <p:cNvPr id="18" name="Picture 4" descr="C:\Users\qkrwn\OneDrive\바탕 화면\판다스.png">
            <a:extLst>
              <a:ext uri="{FF2B5EF4-FFF2-40B4-BE49-F238E27FC236}">
                <a16:creationId xmlns:a16="http://schemas.microsoft.com/office/drawing/2014/main" id="{5DD925DB-F301-49B1-8812-FC430C5AF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65647" y="2198158"/>
            <a:ext cx="972859" cy="972859"/>
          </a:xfrm>
          <a:prstGeom prst="rect">
            <a:avLst/>
          </a:prstGeom>
          <a:noFill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E2D2119-C845-4B6F-828B-D2685E23DBCB}"/>
              </a:ext>
            </a:extLst>
          </p:cNvPr>
          <p:cNvSpPr txBox="1"/>
          <p:nvPr/>
        </p:nvSpPr>
        <p:spPr>
          <a:xfrm>
            <a:off x="6874948" y="1711372"/>
            <a:ext cx="198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[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개발 환경 도구 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880B57-4568-404E-823F-4B284D52C43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90" y="2959977"/>
            <a:ext cx="6076385" cy="305029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006B70E-8819-4F2E-8758-318008603C3C}"/>
              </a:ext>
            </a:extLst>
          </p:cNvPr>
          <p:cNvSpPr txBox="1"/>
          <p:nvPr/>
        </p:nvSpPr>
        <p:spPr>
          <a:xfrm>
            <a:off x="827368" y="2356257"/>
            <a:ext cx="5887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[</a:t>
            </a:r>
            <a:r>
              <a:rPr lang="ko-KR" altLang="en-US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출처</a:t>
            </a:r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] </a:t>
            </a:r>
            <a:r>
              <a:rPr lang="ko-KR" altLang="en-US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공공데이터 포털 </a:t>
            </a:r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Open API &gt; </a:t>
            </a:r>
            <a:r>
              <a:rPr lang="ko-KR" altLang="en-US" sz="1400" dirty="0" err="1">
                <a:latin typeface="a타이틀고딕2" panose="02020600000000000000" pitchFamily="18" charset="-127"/>
                <a:ea typeface="a타이틀고딕2" panose="02020600000000000000" pitchFamily="18" charset="-127"/>
              </a:rPr>
              <a:t>소방청</a:t>
            </a:r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_</a:t>
            </a:r>
            <a:r>
              <a:rPr lang="ko-KR" altLang="en-US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화재정보시스템</a:t>
            </a:r>
            <a:endParaRPr lang="en-US" altLang="ko-KR" sz="1400" dirty="0"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r>
              <a:rPr lang="en-US" altLang="ko-KR" sz="1400" dirty="0">
                <a:latin typeface="a타이틀고딕2" panose="02020600000000000000" pitchFamily="18" charset="-127"/>
                <a:ea typeface="a타이틀고딕2" panose="02020600000000000000" pitchFamily="18" charset="-127"/>
              </a:rPr>
              <a:t> 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https://www.data.go.kr/iim/api/selectAPIAcountView.do</a:t>
            </a:r>
          </a:p>
        </p:txBody>
      </p:sp>
    </p:spTree>
    <p:extLst>
      <p:ext uri="{BB962C8B-B14F-4D97-AF65-F5344CB8AC3E}">
        <p14:creationId xmlns:p14="http://schemas.microsoft.com/office/powerpoint/2010/main" val="2406984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54A076-5959-435A-984F-7922B5DBC2F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DCAE78-207D-44B5-B628-1B0DE7475C88}"/>
              </a:ext>
            </a:extLst>
          </p:cNvPr>
          <p:cNvSpPr/>
          <p:nvPr/>
        </p:nvSpPr>
        <p:spPr>
          <a:xfrm>
            <a:off x="988483" y="1893418"/>
            <a:ext cx="10203392" cy="4221632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7B14F7-EC30-4716-A170-950B92C9DC62}"/>
              </a:ext>
            </a:extLst>
          </p:cNvPr>
          <p:cNvSpPr txBox="1"/>
          <p:nvPr/>
        </p:nvSpPr>
        <p:spPr>
          <a:xfrm>
            <a:off x="817843" y="1417108"/>
            <a:ext cx="10374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수집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: [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소방청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국가화재정보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지역별 화재장소별 화재발생현황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(2023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년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월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29DB29-45A5-4BB7-84BB-495464B983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9264" y="2066762"/>
            <a:ext cx="1680800" cy="7132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B44BFCB-8C14-4169-839D-486F2D300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358" y="2822739"/>
            <a:ext cx="2351030" cy="141588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64C3134-E5EF-4950-8B50-B875697E30B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928" y="1923477"/>
            <a:ext cx="6168921" cy="417077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FECDDCA-BC58-4793-A52D-18347F863D7F}"/>
              </a:ext>
            </a:extLst>
          </p:cNvPr>
          <p:cNvSpPr/>
          <p:nvPr/>
        </p:nvSpPr>
        <p:spPr>
          <a:xfrm>
            <a:off x="8931318" y="5625009"/>
            <a:ext cx="1016412" cy="1441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결측치</a:t>
            </a:r>
            <a:r>
              <a:rPr lang="ko-KR" altLang="en-US" sz="1100" dirty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제거</a:t>
            </a:r>
          </a:p>
        </p:txBody>
      </p:sp>
    </p:spTree>
    <p:extLst>
      <p:ext uri="{BB962C8B-B14F-4D97-AF65-F5344CB8AC3E}">
        <p14:creationId xmlns:p14="http://schemas.microsoft.com/office/powerpoint/2010/main" val="3728328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54A076-5959-435A-984F-7922B5DBC2F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991976-2043-487E-9998-A38D033D039F}"/>
              </a:ext>
            </a:extLst>
          </p:cNvPr>
          <p:cNvSpPr/>
          <p:nvPr/>
        </p:nvSpPr>
        <p:spPr>
          <a:xfrm>
            <a:off x="988483" y="1893418"/>
            <a:ext cx="10203392" cy="4221632"/>
          </a:xfrm>
          <a:prstGeom prst="rect">
            <a:avLst/>
          </a:prstGeom>
          <a:solidFill>
            <a:srgbClr val="2525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7DE22-00BE-4B73-93F8-7F4B83093C26}"/>
              </a:ext>
            </a:extLst>
          </p:cNvPr>
          <p:cNvSpPr txBox="1"/>
          <p:nvPr/>
        </p:nvSpPr>
        <p:spPr>
          <a:xfrm>
            <a:off x="817842" y="1426633"/>
            <a:ext cx="10385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수집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: [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소방청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국가화재정보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발화요인별 화재현황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(2023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년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월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6CC49E-C4E6-4757-9D74-A4523BAD5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64" y="2129179"/>
            <a:ext cx="1775642" cy="7129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F5709E-3329-46F7-9E36-1F8C6CC757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64" y="2980648"/>
            <a:ext cx="3235872" cy="125681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47EBA3E-B611-4F25-A88D-583F390AEAA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98" y="1912468"/>
            <a:ext cx="6644859" cy="41756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0554127-CCF5-4F5A-B0EB-13E73BEC24FC}"/>
              </a:ext>
            </a:extLst>
          </p:cNvPr>
          <p:cNvSpPr/>
          <p:nvPr/>
        </p:nvSpPr>
        <p:spPr>
          <a:xfrm>
            <a:off x="9177038" y="4984929"/>
            <a:ext cx="1016412" cy="1441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결측치</a:t>
            </a:r>
            <a:r>
              <a:rPr lang="ko-KR" altLang="en-US" sz="1100" dirty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제거</a:t>
            </a:r>
          </a:p>
        </p:txBody>
      </p:sp>
    </p:spTree>
    <p:extLst>
      <p:ext uri="{BB962C8B-B14F-4D97-AF65-F5344CB8AC3E}">
        <p14:creationId xmlns:p14="http://schemas.microsoft.com/office/powerpoint/2010/main" val="1406331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54A076-5959-435A-984F-7922B5DBC2F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0D37F-DE1F-4B66-B700-B5363A771AD5}"/>
              </a:ext>
            </a:extLst>
          </p:cNvPr>
          <p:cNvSpPr txBox="1"/>
          <p:nvPr/>
        </p:nvSpPr>
        <p:spPr>
          <a:xfrm>
            <a:off x="817842" y="1426633"/>
            <a:ext cx="10385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수집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: [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소방청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국가화재정보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시도별 화재인명피해현황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(2023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년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월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FC1E57-5B88-4461-B00C-9FA0C5A91B43}"/>
              </a:ext>
            </a:extLst>
          </p:cNvPr>
          <p:cNvSpPr/>
          <p:nvPr/>
        </p:nvSpPr>
        <p:spPr>
          <a:xfrm>
            <a:off x="988483" y="1893418"/>
            <a:ext cx="10203392" cy="422163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922C3D-37D5-40A5-AAE3-F45338760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489" y="1934291"/>
            <a:ext cx="6628896" cy="413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99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54A076-5959-435A-984F-7922B5DBC2F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0E8F09-2854-4542-9C0A-0A0E23C5C37F}"/>
              </a:ext>
            </a:extLst>
          </p:cNvPr>
          <p:cNvSpPr/>
          <p:nvPr/>
        </p:nvSpPr>
        <p:spPr>
          <a:xfrm>
            <a:off x="988483" y="1893418"/>
            <a:ext cx="10203392" cy="4221632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7B14F7-EC30-4716-A170-950B92C9DC62}"/>
              </a:ext>
            </a:extLst>
          </p:cNvPr>
          <p:cNvSpPr txBox="1"/>
          <p:nvPr/>
        </p:nvSpPr>
        <p:spPr>
          <a:xfrm>
            <a:off x="817842" y="1426633"/>
            <a:ext cx="10385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수집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: [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소방청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국가화재정보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]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최초착화물별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 화재현황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(2023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년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1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월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CAE2B0-3A0B-4B47-962C-27790DAE19F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666" y="1971676"/>
            <a:ext cx="8129219" cy="406717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65B893-5515-43C1-A1D2-78B7DAD60AF2}"/>
              </a:ext>
            </a:extLst>
          </p:cNvPr>
          <p:cNvSpPr/>
          <p:nvPr/>
        </p:nvSpPr>
        <p:spPr>
          <a:xfrm>
            <a:off x="8138351" y="5131614"/>
            <a:ext cx="1016412" cy="1441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결측치</a:t>
            </a:r>
            <a:r>
              <a:rPr lang="ko-KR" altLang="en-US" sz="1100" dirty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제거</a:t>
            </a:r>
          </a:p>
        </p:txBody>
      </p:sp>
    </p:spTree>
    <p:extLst>
      <p:ext uri="{BB962C8B-B14F-4D97-AF65-F5344CB8AC3E}">
        <p14:creationId xmlns:p14="http://schemas.microsoft.com/office/powerpoint/2010/main" val="2032412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9E841-7EAA-4518-B345-CB61843727EA}"/>
              </a:ext>
            </a:extLst>
          </p:cNvPr>
          <p:cNvSpPr txBox="1"/>
          <p:nvPr/>
        </p:nvSpPr>
        <p:spPr>
          <a:xfrm>
            <a:off x="778879" y="2513106"/>
            <a:ext cx="5600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시도별 화재인명피해현황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D5142D-960F-41D2-B7C2-2BA08C60B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09" y="3093860"/>
            <a:ext cx="4995441" cy="263670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348BF7-55E9-4636-B02D-B766E6BF1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511" y="2999655"/>
            <a:ext cx="3898983" cy="28950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677A78-2BA7-4F8A-AEE6-B42D1AB39E6E}"/>
              </a:ext>
            </a:extLst>
          </p:cNvPr>
          <p:cNvSpPr txBox="1"/>
          <p:nvPr/>
        </p:nvSpPr>
        <p:spPr>
          <a:xfrm>
            <a:off x="7038974" y="2513106"/>
            <a:ext cx="3220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시도별 화재재산피해현황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26AE3A58-9BED-4C64-A8FC-185414B4B829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52330-2CF5-4FB6-85CE-6003729AD50F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</a:t>
            </a:r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759185AF-52B1-4416-8CBF-E9594FDC1ED6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E1E02F3-8841-49E2-B255-FE58DFCAB6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2135" y="1327457"/>
            <a:ext cx="1133738" cy="13776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77A1AE-E069-46AA-B8DF-42A7FDC51468}"/>
              </a:ext>
            </a:extLst>
          </p:cNvPr>
          <p:cNvSpPr txBox="1"/>
          <p:nvPr/>
        </p:nvSpPr>
        <p:spPr>
          <a:xfrm>
            <a:off x="817843" y="1426633"/>
            <a:ext cx="4373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프레임화</a:t>
            </a:r>
          </a:p>
        </p:txBody>
      </p:sp>
    </p:spTree>
    <p:extLst>
      <p:ext uri="{BB962C8B-B14F-4D97-AF65-F5344CB8AC3E}">
        <p14:creationId xmlns:p14="http://schemas.microsoft.com/office/powerpoint/2010/main" val="356535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28281-2BF9-4E8E-892E-6EB7EB2D438A}"/>
              </a:ext>
            </a:extLst>
          </p:cNvPr>
          <p:cNvSpPr txBox="1"/>
          <p:nvPr/>
        </p:nvSpPr>
        <p:spPr>
          <a:xfrm>
            <a:off x="817843" y="1426633"/>
            <a:ext cx="4373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프레임화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507B5C-DAA0-45EA-9430-57527870BC8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63" y="3096639"/>
            <a:ext cx="5172075" cy="21421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F79A04-8524-497D-A955-4569DD9F1D49}"/>
              </a:ext>
            </a:extLst>
          </p:cNvPr>
          <p:cNvSpPr txBox="1"/>
          <p:nvPr/>
        </p:nvSpPr>
        <p:spPr>
          <a:xfrm>
            <a:off x="2210384" y="2632165"/>
            <a:ext cx="2239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발화요인별 화재현황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2018F4F4-1DBC-457D-86E2-BC4DC1F54108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0C4650-694A-47E0-A1D4-D6146AFA2D46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1F850C9-5FFE-43BB-BF9C-870775AC660E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A213D9B-9B61-4DA6-A339-A12FF47B70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34323" y="1217711"/>
            <a:ext cx="1467200" cy="16228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9FF016C-D092-4D5B-B02B-D48020E2CEB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047" y="3096639"/>
            <a:ext cx="5099187" cy="24112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E89570-E473-4226-BFCA-EE39A20BF203}"/>
              </a:ext>
            </a:extLst>
          </p:cNvPr>
          <p:cNvSpPr txBox="1"/>
          <p:nvPr/>
        </p:nvSpPr>
        <p:spPr>
          <a:xfrm>
            <a:off x="7496870" y="2632165"/>
            <a:ext cx="2239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화재장소별 화재현황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7189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8F96AB-3A42-4519-B066-CC94BC0C4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88" y="2793407"/>
            <a:ext cx="4271311" cy="32204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700ADE-9B8F-4CBE-B9C1-AC1D05BE7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780" y="2791622"/>
            <a:ext cx="4271311" cy="32222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34408D-23AB-46B0-880C-BEB459F7EA73}"/>
              </a:ext>
            </a:extLst>
          </p:cNvPr>
          <p:cNvSpPr txBox="1"/>
          <p:nvPr/>
        </p:nvSpPr>
        <p:spPr>
          <a:xfrm>
            <a:off x="2096084" y="2279740"/>
            <a:ext cx="2239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발화장소별 화재현황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5D894-AAC0-43D8-B518-33C9A50B0966}"/>
              </a:ext>
            </a:extLst>
          </p:cNvPr>
          <p:cNvSpPr txBox="1"/>
          <p:nvPr/>
        </p:nvSpPr>
        <p:spPr>
          <a:xfrm>
            <a:off x="7494786" y="2279740"/>
            <a:ext cx="2376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최초 </a:t>
            </a:r>
            <a:r>
              <a:rPr lang="ko-KR" altLang="en-US" sz="1600" kern="0" dirty="0" err="1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착화물별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화재현황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33866F3F-2528-4BF7-A33D-21F2612E7CD0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8262C-564F-4CC8-A136-DA7DCB443AC4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</a:t>
            </a: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6AF84C9B-F358-4962-9CAB-FEE52F90453C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CF7BF68-C710-40B8-BC04-91DE364CB42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6036">
            <a:off x="10341071" y="1408583"/>
            <a:ext cx="905552" cy="11588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A9F7F2-2BB6-4FD0-B965-3B7C17E66AFA}"/>
              </a:ext>
            </a:extLst>
          </p:cNvPr>
          <p:cNvSpPr txBox="1"/>
          <p:nvPr/>
        </p:nvSpPr>
        <p:spPr>
          <a:xfrm>
            <a:off x="817843" y="1426633"/>
            <a:ext cx="4373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프레임화</a:t>
            </a:r>
          </a:p>
        </p:txBody>
      </p:sp>
    </p:spTree>
    <p:extLst>
      <p:ext uri="{BB962C8B-B14F-4D97-AF65-F5344CB8AC3E}">
        <p14:creationId xmlns:p14="http://schemas.microsoft.com/office/powerpoint/2010/main" val="2464738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AF5E5-62C8-46E5-95F9-3A27AC17BD81}"/>
              </a:ext>
            </a:extLst>
          </p:cNvPr>
          <p:cNvSpPr/>
          <p:nvPr/>
        </p:nvSpPr>
        <p:spPr>
          <a:xfrm>
            <a:off x="503353" y="1146629"/>
            <a:ext cx="11050018" cy="52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529B8D15-A534-4690-9747-3DBD1ABE58DA}"/>
              </a:ext>
            </a:extLst>
          </p:cNvPr>
          <p:cNvSpPr/>
          <p:nvPr/>
        </p:nvSpPr>
        <p:spPr>
          <a:xfrm>
            <a:off x="8229600" y="1485900"/>
            <a:ext cx="1876425" cy="47625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3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787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프로젝트 수행결과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91E3AA-F5AD-497F-8837-AAE52A4F777E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092F5-7FD3-42E6-B734-52C35EB1B912}"/>
              </a:ext>
            </a:extLst>
          </p:cNvPr>
          <p:cNvSpPr txBox="1"/>
          <p:nvPr/>
        </p:nvSpPr>
        <p:spPr>
          <a:xfrm>
            <a:off x="503353" y="2731007"/>
            <a:ext cx="5600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지역별 화재장소별 화재발생현황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1B7315-E091-4B7F-A63D-3547486F2C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08" y="3236606"/>
            <a:ext cx="5101839" cy="20792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A5BB0E-0E7D-403A-AC3C-A87ADB0055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312" y="3236606"/>
            <a:ext cx="5287338" cy="20792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B056A9-FBD1-4628-9E0A-24FB6E85D5E0}"/>
              </a:ext>
            </a:extLst>
          </p:cNvPr>
          <p:cNvSpPr txBox="1"/>
          <p:nvPr/>
        </p:nvSpPr>
        <p:spPr>
          <a:xfrm>
            <a:off x="6460451" y="2724997"/>
            <a:ext cx="4477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[ </a:t>
            </a:r>
            <a:r>
              <a:rPr lang="ko-KR" altLang="en-US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시도단위 화재발생현황 목록조회 </a:t>
            </a:r>
            <a:r>
              <a:rPr lang="en-US" altLang="ko-KR" sz="1600" kern="0" dirty="0">
                <a:solidFill>
                  <a:srgbClr val="000000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BAC41-B613-4ACC-9E7D-14EC1EE07E09}"/>
              </a:ext>
            </a:extLst>
          </p:cNvPr>
          <p:cNvSpPr txBox="1"/>
          <p:nvPr/>
        </p:nvSpPr>
        <p:spPr>
          <a:xfrm>
            <a:off x="817843" y="1426633"/>
            <a:ext cx="4373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2.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데이터 프레임화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089F12-4A8B-476C-BF7D-5349C057A1C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1902" y="1404535"/>
            <a:ext cx="1220635" cy="11416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EF14FF-FD0C-45CC-B2A7-7717617915B8}"/>
              </a:ext>
            </a:extLst>
          </p:cNvPr>
          <p:cNvSpPr txBox="1"/>
          <p:nvPr/>
        </p:nvSpPr>
        <p:spPr>
          <a:xfrm>
            <a:off x="8415167" y="1584608"/>
            <a:ext cx="153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담당 조원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|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6BE3904C-86C7-4132-97C8-737FA0CD0DFF}"/>
              </a:ext>
            </a:extLst>
          </p:cNvPr>
          <p:cNvSpPr/>
          <p:nvPr/>
        </p:nvSpPr>
        <p:spPr>
          <a:xfrm rot="8710374">
            <a:off x="9788131" y="1860298"/>
            <a:ext cx="194778" cy="24114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00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88451F-90C1-1D78-6DAA-A8A7A59ADE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A417F5-7DB5-5C7A-07CA-386BA632EE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D9150-B446-E90B-CD69-1034691F48AE}"/>
              </a:ext>
            </a:extLst>
          </p:cNvPr>
          <p:cNvSpPr txBox="1"/>
          <p:nvPr/>
        </p:nvSpPr>
        <p:spPr>
          <a:xfrm>
            <a:off x="5507345" y="1098393"/>
            <a:ext cx="1177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5</a:t>
            </a:r>
            <a:endParaRPr lang="ko-KR" altLang="en-US" sz="2400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A8AFD-AD83-37E2-4AD3-2F2E202BC710}"/>
              </a:ext>
            </a:extLst>
          </p:cNvPr>
          <p:cNvSpPr txBox="1"/>
          <p:nvPr/>
        </p:nvSpPr>
        <p:spPr>
          <a:xfrm>
            <a:off x="2942314" y="1675618"/>
            <a:ext cx="66046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bg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자체 평가 의견 및 느낀 점</a:t>
            </a:r>
          </a:p>
        </p:txBody>
      </p:sp>
    </p:spTree>
    <p:extLst>
      <p:ext uri="{BB962C8B-B14F-4D97-AF65-F5344CB8AC3E}">
        <p14:creationId xmlns:p14="http://schemas.microsoft.com/office/powerpoint/2010/main" val="183569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0B0D2A-2772-ABB8-6732-1A58C7B460B7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054E7-8651-B52F-0B12-C64EA7A65B60}"/>
              </a:ext>
            </a:extLst>
          </p:cNvPr>
          <p:cNvSpPr txBox="1"/>
          <p:nvPr/>
        </p:nvSpPr>
        <p:spPr>
          <a:xfrm>
            <a:off x="605494" y="482342"/>
            <a:ext cx="765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a로케트" panose="02020600000000000000" pitchFamily="18" charset="-127"/>
                <a:ea typeface="a로케트" panose="02020600000000000000" pitchFamily="18" charset="-127"/>
              </a:rPr>
              <a:t>Part 5</a:t>
            </a:r>
            <a:endParaRPr lang="ko-KR" altLang="en-US" sz="1400" b="1" dirty="0">
              <a:solidFill>
                <a:schemeClr val="bg1"/>
              </a:solidFill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EC20A-3B6F-FB63-1AE5-5BC996B8446E}"/>
              </a:ext>
            </a:extLst>
          </p:cNvPr>
          <p:cNvSpPr txBox="1"/>
          <p:nvPr/>
        </p:nvSpPr>
        <p:spPr>
          <a:xfrm>
            <a:off x="1763806" y="436175"/>
            <a:ext cx="4012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자체 평가 의견 및 느낀 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BC62D4-4D52-D6E8-596B-C2BC260A4880}"/>
              </a:ext>
            </a:extLst>
          </p:cNvPr>
          <p:cNvSpPr/>
          <p:nvPr/>
        </p:nvSpPr>
        <p:spPr>
          <a:xfrm>
            <a:off x="773024" y="1972527"/>
            <a:ext cx="2342322" cy="2700632"/>
          </a:xfrm>
          <a:prstGeom prst="rect">
            <a:avLst/>
          </a:prstGeom>
          <a:solidFill>
            <a:srgbClr val="FFE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C9F01A-EE3B-2440-0E36-9F19FC41046B}"/>
              </a:ext>
            </a:extLst>
          </p:cNvPr>
          <p:cNvSpPr/>
          <p:nvPr/>
        </p:nvSpPr>
        <p:spPr>
          <a:xfrm>
            <a:off x="3541370" y="1972527"/>
            <a:ext cx="2342322" cy="27006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259D3-116E-09D9-AA5F-59E0ACDC8BB9}"/>
              </a:ext>
            </a:extLst>
          </p:cNvPr>
          <p:cNvSpPr txBox="1"/>
          <p:nvPr/>
        </p:nvSpPr>
        <p:spPr>
          <a:xfrm>
            <a:off x="588676" y="5107261"/>
            <a:ext cx="2735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kern="0" dirty="0" err="1">
                <a:latin typeface="a타이틀고딕1" panose="02020600000000000000" pitchFamily="18" charset="-127"/>
                <a:ea typeface="a타이틀고딕1" panose="02020600000000000000" pitchFamily="18" charset="-127"/>
              </a:rPr>
              <a:t>일자별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데이터를 수집했으며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</a:t>
            </a:r>
          </a:p>
          <a:p>
            <a:pPr algn="ctr"/>
            <a:r>
              <a:rPr lang="ko-KR" altLang="en-US" sz="1200" kern="0" dirty="0"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연관검색으로 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연</a:t>
            </a:r>
            <a:r>
              <a:rPr lang="ko-KR" altLang="en-US" sz="1200" kern="0" dirty="0"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도별 시도별 화재 피해</a:t>
            </a:r>
            <a:endParaRPr lang="en-US" altLang="ko-KR" sz="1200" kern="0" dirty="0"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kern="0" dirty="0"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현황을 함께 찾아봄으로써 화재의</a:t>
            </a:r>
            <a:endParaRPr lang="en-US" altLang="ko-KR" sz="1200" kern="0" dirty="0">
              <a:effectLst/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kern="0" dirty="0"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심각성을 다시 한 번 느끼게 되었음</a:t>
            </a:r>
            <a:r>
              <a:rPr lang="en-US" altLang="ko-KR" sz="1200" kern="0" dirty="0">
                <a:effectLst/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200" b="1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610048-58CE-70E8-AD2C-E037614A447A}"/>
              </a:ext>
            </a:extLst>
          </p:cNvPr>
          <p:cNvCxnSpPr>
            <a:cxnSpLocks/>
          </p:cNvCxnSpPr>
          <p:nvPr/>
        </p:nvCxnSpPr>
        <p:spPr>
          <a:xfrm>
            <a:off x="1300268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EEE02AA-C3A8-AAF5-6A08-9B1C64CD17B2}"/>
              </a:ext>
            </a:extLst>
          </p:cNvPr>
          <p:cNvCxnSpPr>
            <a:cxnSpLocks/>
          </p:cNvCxnSpPr>
          <p:nvPr/>
        </p:nvCxnSpPr>
        <p:spPr>
          <a:xfrm>
            <a:off x="4100380" y="4926418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3652614-E065-8E96-7CCB-3FAE91F70A7B}"/>
              </a:ext>
            </a:extLst>
          </p:cNvPr>
          <p:cNvCxnSpPr>
            <a:cxnSpLocks/>
          </p:cNvCxnSpPr>
          <p:nvPr/>
        </p:nvCxnSpPr>
        <p:spPr>
          <a:xfrm>
            <a:off x="6892735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03020D-8090-4B8D-A210-858ED5DE46B2}"/>
              </a:ext>
            </a:extLst>
          </p:cNvPr>
          <p:cNvSpPr/>
          <p:nvPr/>
        </p:nvSpPr>
        <p:spPr>
          <a:xfrm>
            <a:off x="9103233" y="1972527"/>
            <a:ext cx="2342322" cy="270063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4546A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A3C6DBD-958C-4C07-A1B4-4FBAB2D5D881}"/>
              </a:ext>
            </a:extLst>
          </p:cNvPr>
          <p:cNvCxnSpPr>
            <a:cxnSpLocks/>
          </p:cNvCxnSpPr>
          <p:nvPr/>
        </p:nvCxnSpPr>
        <p:spPr>
          <a:xfrm>
            <a:off x="9662243" y="4934817"/>
            <a:ext cx="122430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D10433C-4CFC-4ABE-A330-D36F2D19634E}"/>
              </a:ext>
            </a:extLst>
          </p:cNvPr>
          <p:cNvSpPr txBox="1"/>
          <p:nvPr/>
        </p:nvSpPr>
        <p:spPr>
          <a:xfrm>
            <a:off x="708657" y="1512774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01.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서지우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F81FA-296D-4007-87CC-3B264FD4019C}"/>
              </a:ext>
            </a:extLst>
          </p:cNvPr>
          <p:cNvSpPr txBox="1"/>
          <p:nvPr/>
        </p:nvSpPr>
        <p:spPr>
          <a:xfrm>
            <a:off x="3541370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02.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이송민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199CCF-E8AD-4151-B734-E82BF5579CBE}"/>
              </a:ext>
            </a:extLst>
          </p:cNvPr>
          <p:cNvSpPr txBox="1"/>
          <p:nvPr/>
        </p:nvSpPr>
        <p:spPr>
          <a:xfrm>
            <a:off x="9059708" y="153554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04.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홍은지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49BB4A-4D0C-4F15-B462-C95672E75796}"/>
              </a:ext>
            </a:extLst>
          </p:cNvPr>
          <p:cNvSpPr txBox="1"/>
          <p:nvPr/>
        </p:nvSpPr>
        <p:spPr>
          <a:xfrm>
            <a:off x="6243540" y="5107953"/>
            <a:ext cx="2580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데이터를 수집하며 데이터의 중요성과 활용 가능성에 대해 더욱 높은 인식을 얻었음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200" b="1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D43889-2D62-4D9B-93EB-8F1CC3483F1D}"/>
              </a:ext>
            </a:extLst>
          </p:cNvPr>
          <p:cNvSpPr txBox="1"/>
          <p:nvPr/>
        </p:nvSpPr>
        <p:spPr>
          <a:xfrm>
            <a:off x="9060364" y="5107953"/>
            <a:ext cx="2461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특이사항 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: 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화재장소구분명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화재</a:t>
            </a:r>
            <a:endParaRPr lang="en-US" altLang="ko-KR" sz="1200" kern="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진행건수 </a:t>
            </a:r>
            <a:r>
              <a:rPr lang="ko-KR" altLang="en-US" sz="1200" kern="0" dirty="0" err="1">
                <a:latin typeface="a타이틀고딕1" panose="02020600000000000000" pitchFamily="18" charset="-127"/>
                <a:ea typeface="a타이틀고딕1" panose="02020600000000000000" pitchFamily="18" charset="-127"/>
              </a:rPr>
              <a:t>결측치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발생으로 </a:t>
            </a:r>
            <a:r>
              <a:rPr lang="ko-KR" altLang="en-US" sz="1200" kern="0" dirty="0" err="1">
                <a:latin typeface="a타이틀고딕1" panose="02020600000000000000" pitchFamily="18" charset="-127"/>
                <a:ea typeface="a타이틀고딕1" panose="02020600000000000000" pitchFamily="18" charset="-127"/>
              </a:rPr>
              <a:t>결측치</a:t>
            </a:r>
            <a:endParaRPr lang="en-US" altLang="ko-KR" sz="1200" kern="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제거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작업을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수행함</a:t>
            </a:r>
            <a:r>
              <a:rPr lang="en-US" altLang="ko-KR" sz="1200" kern="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  <a:endParaRPr lang="ko-KR" altLang="en-US" sz="1200" b="1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367ABD-0D97-48F3-A53E-D6FF82A75083}"/>
              </a:ext>
            </a:extLst>
          </p:cNvPr>
          <p:cNvSpPr/>
          <p:nvPr/>
        </p:nvSpPr>
        <p:spPr>
          <a:xfrm>
            <a:off x="9985829" y="6523653"/>
            <a:ext cx="2206171" cy="334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3D0CAE5-7958-4F2B-8150-C85CD1EBEC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2165" y="2070178"/>
            <a:ext cx="2242254" cy="248011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52B8DA-E073-40E7-94E2-5348773743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99714" y="2401327"/>
            <a:ext cx="1923606" cy="179919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C898DDE-1CCD-426A-AC61-92033F7BFE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0405" y="2316208"/>
            <a:ext cx="1754777" cy="213228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7AAE9A8-9B8E-42C9-9C05-1991B6B6175A}"/>
              </a:ext>
            </a:extLst>
          </p:cNvPr>
          <p:cNvSpPr txBox="1"/>
          <p:nvPr/>
        </p:nvSpPr>
        <p:spPr>
          <a:xfrm>
            <a:off x="3457027" y="5107261"/>
            <a:ext cx="25804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연간 데이터 수집을 완료하였으며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담당 파트의 데이터 간 연관성과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유의미한 결과를 효과적으로 가시화</a:t>
            </a:r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algn="ctr"/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할 수 있는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방법이 고민됨</a:t>
            </a:r>
            <a:r>
              <a:rPr lang="en-US" altLang="ko-KR" sz="12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.</a:t>
            </a:r>
          </a:p>
          <a:p>
            <a:pPr algn="ctr"/>
            <a:endParaRPr lang="en-US" altLang="ko-KR" sz="12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A7F4DD-8CB3-4277-BD3B-1398E62823B4}"/>
              </a:ext>
            </a:extLst>
          </p:cNvPr>
          <p:cNvSpPr/>
          <p:nvPr/>
        </p:nvSpPr>
        <p:spPr>
          <a:xfrm>
            <a:off x="6333726" y="1972527"/>
            <a:ext cx="2342322" cy="2700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D13308-9C99-4291-9D4F-596D8882284D}"/>
              </a:ext>
            </a:extLst>
          </p:cNvPr>
          <p:cNvSpPr txBox="1"/>
          <p:nvPr/>
        </p:nvSpPr>
        <p:spPr>
          <a:xfrm>
            <a:off x="6374083" y="1534602"/>
            <a:ext cx="122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03.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정민재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7BE2331B-F564-4087-B986-AA38B4FF90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8969005">
            <a:off x="7102790" y="2418843"/>
            <a:ext cx="495579" cy="36589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676057A-43E3-4EA7-AC32-2A2F40AE5E5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56036">
            <a:off x="6841117" y="2500034"/>
            <a:ext cx="1327537" cy="169887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4156A16D-EDC9-4AA5-8DE3-4F83B8FC253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8260">
            <a:off x="7664989" y="2180108"/>
            <a:ext cx="371543" cy="37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0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컴퓨터, 텍스트, 노트북이(가) 표시된 사진&#10;&#10;자동 생성된 설명">
            <a:extLst>
              <a:ext uri="{FF2B5EF4-FFF2-40B4-BE49-F238E27FC236}">
                <a16:creationId xmlns:a16="http://schemas.microsoft.com/office/drawing/2014/main" id="{497AF256-AFB9-657A-1508-0DB1A79CF8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D9D6E2-DD50-58BE-91E8-108BAC31359B}"/>
              </a:ext>
            </a:extLst>
          </p:cNvPr>
          <p:cNvSpPr txBox="1"/>
          <p:nvPr/>
        </p:nvSpPr>
        <p:spPr>
          <a:xfrm>
            <a:off x="669070" y="773288"/>
            <a:ext cx="1626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pc="300" dirty="0">
                <a:latin typeface="a로케트" panose="02020600000000000000" pitchFamily="18" charset="-127"/>
                <a:ea typeface="a로케트" panose="02020600000000000000" pitchFamily="18" charset="-127"/>
              </a:rPr>
              <a:t>Q&amp;A</a:t>
            </a:r>
            <a:endParaRPr lang="ko-KR" altLang="en-US" sz="2400" b="1" spc="300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2ECBA-9841-FDD0-F19A-39929D433254}"/>
              </a:ext>
            </a:extLst>
          </p:cNvPr>
          <p:cNvSpPr txBox="1"/>
          <p:nvPr/>
        </p:nvSpPr>
        <p:spPr>
          <a:xfrm>
            <a:off x="602164" y="1356731"/>
            <a:ext cx="3940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b="1" dirty="0">
                <a:latin typeface="a로케트" panose="02020600000000000000" pitchFamily="18" charset="-127"/>
                <a:ea typeface="a로케트" panose="02020600000000000000" pitchFamily="18" charset="-127"/>
              </a:rPr>
              <a:t>Thank you</a:t>
            </a:r>
            <a:endParaRPr lang="ko-KR" altLang="en-US" sz="5400" b="1" dirty="0">
              <a:latin typeface="a로케트" panose="02020600000000000000" pitchFamily="18" charset="-127"/>
              <a:ea typeface="a로케트" panose="02020600000000000000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57FA4F-1996-1746-BB89-A3FB7F84960D}"/>
              </a:ext>
            </a:extLst>
          </p:cNvPr>
          <p:cNvCxnSpPr>
            <a:cxnSpLocks/>
          </p:cNvCxnSpPr>
          <p:nvPr/>
        </p:nvCxnSpPr>
        <p:spPr>
          <a:xfrm>
            <a:off x="669070" y="1244478"/>
            <a:ext cx="997805" cy="0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890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8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5264E"/>
      </a:accent1>
      <a:accent2>
        <a:srgbClr val="3F668F"/>
      </a:accent2>
      <a:accent3>
        <a:srgbClr val="4A7ECA"/>
      </a:accent3>
      <a:accent4>
        <a:srgbClr val="B28659"/>
      </a:accent4>
      <a:accent5>
        <a:srgbClr val="FDC467"/>
      </a:accent5>
      <a:accent6>
        <a:srgbClr val="E5D8C9"/>
      </a:accent6>
      <a:hlink>
        <a:srgbClr val="262626"/>
      </a:hlink>
      <a:folHlink>
        <a:srgbClr val="262626"/>
      </a:folHlink>
    </a:clrScheme>
    <a:fontScheme name="Pretendard_BLACK_M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555</Words>
  <Application>Microsoft Office PowerPoint</Application>
  <PresentationFormat>와이드스크린</PresentationFormat>
  <Paragraphs>145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Arial</vt:lpstr>
      <vt:lpstr>a로케트</vt:lpstr>
      <vt:lpstr>Pretendard Black</vt:lpstr>
      <vt:lpstr>Pretendard</vt:lpstr>
      <vt:lpstr>a타이틀고딕2</vt:lpstr>
      <vt:lpstr>a타이틀고딕1</vt:lpstr>
      <vt:lpstr>a타이틀고딕3</vt:lpstr>
      <vt:lpstr>a드림고딕2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GRS</cp:lastModifiedBy>
  <cp:revision>170</cp:revision>
  <dcterms:created xsi:type="dcterms:W3CDTF">2023-04-24T02:25:46Z</dcterms:created>
  <dcterms:modified xsi:type="dcterms:W3CDTF">2024-03-26T06:08:21Z</dcterms:modified>
</cp:coreProperties>
</file>